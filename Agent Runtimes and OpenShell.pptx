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follows up on our AgentOps discussion. You asked for a deeper look at the runtime and sandbox layer: the four enterprise platforms (Uniphore, Kore.ai, Automation Anywhere and UiPath) seen through how their agents actually execute, and the five sandbox vendors on our map row (E2B, Daytona, Runloop, Vercel and Cua). The question running through the deck is how OpenShell fits from an NVIDIA business standpoint. The next slide is the answer. The company pages share one format so they can be compared side by side, and the last third covers where to invest and what we need to decide. Everything is as of October 1, 2026, and the key figures were re-checked against primary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is only time for one slide, this is it. OpenShell is free software that governs what an agent can touch: files, network, credentials and model providers. It does not host fleets, take snapshots or win on cold starts, which is what E2B, Daytona and Vercel sell, so the right position is policy over any sandbox compute. NVIDIA earns when OpenShell lets more agents run safely on infrastructure NVIDIA sells: Vera racks for sandbox-dense fleets and RL rollouts, BlueField-4 for Sentry, on-prem NIM and RTX PRO in regulated accounts, and GPU hours for RL training. The catch is that version 0.1.0, released September 25, removed the managed inference router, which was the only mechanism inside OpenShell that pulled tokens toward Nemotron. The three engineering ties are Automation Anywhere shipping OpenShell inside EnterpriseClaw, E2B writing its own OpenShell driver, and NeMo Gym listing Daytona and E2B as sandbox providers.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groups, one question. Group A sells agents to enterprises and governs them; for these four the interesting part is how and where their agents actually execute, which none of them documents in much depth. Group B runs the tool calls, code and desktops that agents need; these are the five names on our map row. OpenShell sits between them as a policy layer. The research ran as twelve parallel tracks: one per company, plus OpenShell itself, the wider competitive landscape and market economics. Every claim carries a source in the full report, and 74 of the figures the deck relies on were re-checked against the primary page before any slide was written. Partner priority comes from a five-criterion weighted score that is in the appendix, so it can be challenged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months changed this layer. On April 15 OpenAI's Agents SDK made the sandbox a pluggable provider, with Blaxel, Cloudflare, Daytona, E2B, Modal, Runloop and Vercel built in. In May CoreWeave launched sandboxes for RL, Google took GKE Agent Sandbox to GA, Modal raised 355 million dollars and said sandboxes drive more than a third of its revenue, and Automation Anywhere shipped EnterpriseClaw on OpenShell. Daytona closed its source in June. In July Cognition's Devin Outposts started running on E2B and Daytona, and NVIDIA launched the Open Secure AI Alliance. In August NeMo Gym added Daytona and OpenShell as built-in providers, with E2B following in September. Then Baseten bought Blaxel, Docker launched cloud sandboxes, OpenShell 0.1.0 removed its inference router, and on September 28 NVIDIA relaunched OpenShell inside the Open Agent Safety Platform with BlueField-4 Sentry.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analyst sizes the sandbox category itself, so these are the best proxies. Coding agents are the largest and best documented pool: Claude Code passed a 2.5 billion dollar run-rate in February, Cursor passed one billion annualized last November, and every Codex or Copilot task runs in its own isolated environment. RL environments are the most concentrated pool: Daytona's CEO said RL went from zero to about half of usage in a year, and NVIDIA's own CoreWeave result shows one Vera rack holding more than eleven thousand concurrent environments. Enterprise automation runs at huge volume inside SaaS platforms, but each action is light on compute; what buyers need there is governance. Computer use is the least measured but the heaviest per session, and all four enterprise platforms in this study already run some form of UI or desktop agent. That is where OpenShell has no answer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own illustration, so treat the exact numbers loosely; the ratio is what matters. A 30-minute coding task in a 2 vCPU, 4 GiB sandbox costs about 8 cents at E2B or Daytona list prices. Fifty model calls with long cached contexts cost about 1 dollar 79 at list token prices. So each sandbox dollar pulls 20 to 70 dollars of inference, and even with ten times fewer tokens the sandbox stays the smaller bill. Three numbers explain where NVIDIA's leverage sits. An analyst quoted in Intel's Computex release says agentic inference moves deployments from about one CPU per four GPUs toward one to one, which is the Vera opportunity. Perplexity measured its sandboxed coding workflow about 1.5 times faster on Vera than x86; NVIDIA's own headline is up to 1.8 times, without a named baseline, so we should quote the measured number. And the Continuum paper shows job completion more than eight times faster when the KV cache is kept warm through tool calls, which is the case for sandboxes telling Dynamo how long a call will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unit for everyone: one hour of one vCPU and two gigabytes of memory at list price. E2B and Daytona charge exactly the same CPU rate, 5.04 cents per vCPU-hour, and Cua is a little higher once its memory rate is included. Runloop costs about twice as much, and Vercel is the most expensive if the CPU is busy the whole hour, but Vercel and Cloudflare bill only active CPU, and agents spend most of their time waiting on the model, so at ten percent busy Vercel drops to about five and a half cents. A plain AWS container costs about half of E2B, so dedicated sandboxes carry a premium of roughly 1.7 to 3.5 times for microVM isolation, fast starts and snapshots. That premium is under pressure from active-CPU billing, committed-use tiers at AWS and bundling by model vendors. Value is moving toward governance, scale, GPUs and enterprise deployment options, which is the ground OpenShell occupies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left column top to bottom. An agent harness such as Claude Code, Codex or OpenClaw runs inside an OpenShell sandbox. OpenShell itself has three parts: a gateway that hands out policy and attaches model providers, a supervisor on the trusted side that checks every request and swaps in real credentials, and the sandbox where the agent runs as one non-root identity with Landlock and seccomp. Underneath, a compute driver creates the actual sandbox on Docker, Podman, Kubernetes, a libkrun microVM, a new native Windows driver, or an outside provider: E2B wrote its own driver and Blaxel ships a template. On the right is what OpenShell adds: declarative policy with a formal prover, and credential substitution so agents never hold real keys. What it does not do matters just as much for partners: no hosted fleet, no snapshots, no cold-start engineering, no desktop isolation and no agent identity. That is exactly what the sandbox vendors and identity vendors sell, which is why this is a complement, not a rival.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OpenShell publishes its own telemetry in the repository, which is useful. Sandbox creation doubled between the late June and mid July windows, to about 556 thousand every two weeks, then held flat. Failures spiked to about 18 percent in mid July and came back to about 12 percent; the reports do not explain the spike. Kubernetes overtook Docker as the most-used driver, which suggests fleet and CI use rather than single developers. Two numbers matter for the business case. NVIDIA-hosted inference was only about 1.7 percent of provider profiles, so users are not defaulting to NVIDIA models. And version 0.1.0 on September 25 removed the managed inference router, so that will not change on its own. The labels also conflict: the September 28 release says broadly available, while PyPI and the raw README still say alpha and single-player mode. No report has been published since August 10, so we should not quote adoption numbers after that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the sandbox market as three layers. Hosting is where the vendors make their money: fleets, snapshots, cold starts, GPUs and regions. OpenShell has none of that, so there it is purely a complement. The policy and credential layer is where it overlaps: E2B injects secrets at its egress proxy, Vercel has a credential-injecting firewall, Runloop keeps keys server-side in Agent Gateways, Docker has given CNCF a permissions spec, and AWS has AgentCore Policy. With each partner we need to agree which layer enforces which rule. The third overlap is on-prem: E2B launched a self-hosted package the day after our relaunch, and Daytona sells runners on customer hardware. The evidence leans toward fit. E2B built its own OpenShell driver where OpenShell is the control plane and E2B is the compute, and Blaxel ships a template. But the conflict signals are public: an unofficial site sells OpenShell as a free E2B replacement, and OpenAI declined to add it to the Agents SDK. Our line should be policy over any sandbox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OpenShell sells nothing by itself, so the business case is about what it pulls through. Path one is Vera: sandboxes are CPU work, and CoreWeave measured more than three times faster sandbox startup on Vera, while Perplexity measured its coding workflow about one and a half times faster. Path two is BlueField-4 running Sentry, the watchdog that sits outside the agent; today it is a reference design with no published price. Path three is the regulated on-prem estate: Automation Anywhere already runs NIM and Nemotron for on-prem EnterpriseClaw customers, and that is where AI Enterprise and RTX PRO attach. Path four is RL: NeMo Gym already ships Daytona, E2B and OpenShell providers, and every rollout that runs in a partner sandbox has a GPU training job on the other side. Path five, tokens, is the one that weakened: the managed router is gone and NVIDIA was under two percent of provider profiles. That one needs Nemotron defaults in templates and gateways, which is developer relations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govern at the model, identity and workflow layer: allow-lists of models, regions, guardrails, audit trails. None documents policy enforced at the operating-system level outside the agent's reach, which is exactly what OpenShell claims. Automation Anywhere is the exception because it already wraps OpenShell inside EnterpriseClaw. UiPath runs coded agents and MCP servers in containers it describes only as isolated and ephemeral. Kore.ai documents a code-tool container with a 256 megabyte, five second default and nothing about network or packages. Uniphore publishes nothing at all on how it isolates tool calls or UI actions. All four also run some form of UI or computer-use agent, which is their least contained surface. NVIDIA ties range from a shipping integration at Automation Anywhere to equity only at Kore.ai. The bottom row is our proposed way in for each, following the pattern SAP set by embedding OpenShell under its own governance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Automation Anywhere is the only one of the nine that ships OpenShell. At Imagine 2026 on May 19 it launched EnterpriseClaw in preview: it wraps OpenShell with Control Room governance, Okta agent identities and Cisco DefenseClaw, runs OpenClaw, LangChain and CrewAI agents in managed containers, and uses NIM and Nemotron for on-prem customers. Its own release quotes Kari Briski. Yet AA is missing from NVIDIA's March and September partner lists, which is an easy fix. Two cautions. EnterpriseClaw was built on OpenShell 0.0.x, so the September reset means migration work, and the on-prem Nemotron routing likely used the router that is now gone. And the classic bot fleet is Windows-only while OpenShell's Windows support is new, so the first proof should stay on Linux. Revenue is not disclosed; the company says AI is nearly 70 percent of new and upsell bookings over six quarters. GA is promised for later this year, so Q4 is the window to make OpenShell the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UiPath is the largest installed base of the four: 1.94 billion dollars of ARR, growing 12 percent, about 10,350 customers and 387 above a million dollars. FUSION last week shipped Delegate, a governed desktop agent for Windows and macOS, split Maestro into Orchestrate and Automate, added a Runtime Checker, and brought the full agentic stack to Automation Suite on Linux. UiPath treats its runtime as core IP: coded agents run on its serverless robots, MCP servers in isolated ephemeral containers, and cloud robot VMs in its own Azure subscription. Governance sits in the AI Trust Layer at the model-call level. Our tie is thin: a September 2025 NIM and Nemotron connector, with on-prem work left as exploration and no 2026 follow-through, and its recommended self-hosted models exclude Nemotron. So OpenShell should enter as an optional enforcement profile where customers own the cluster, in Automation Suite, paired with Nemotron for air-gapped buyers. UiPath is a founding member of our Open Secure AI Alliance, which is a warm way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Kore.ai is a Gartner Leader in conversational AI, and NVIDIA joined its 150 million dollar round in January 2024, but I found no product tie: no NIM, Nemotron or OpenShell use. This year it launched an Agent Management Platform that governs agents built elsewhere, then Artemis, a re-platformed agent stack launched on Azure first, and a series of releases adding an organization-wide egress proxy and Key Vault secrets. The runtime gap is precise. Custom Python and JavaScript tools run in an isolated container with a 256 megabyte and five second default, and the docs say nothing about the isolation technology, packages or network rules. Egress control is organization-wide, not per tool. Customer-built agents are called remotely over A2A, so Kore has no safe home for them in self-hosted deployments. Microsoft co-designs Artemis, so we should enter through the self-hosted and sovereign editions and position NIM as complementary to Azure. Customer counts conflict: the company says 500-plus Global 2000, the CEO said over 300 enterprises in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Uniphore is our strongest model-level relationship among the four. NVIDIA invested in its 260 million dollar Series F last October, at the same 2.5 billion valuation as 2022. In August Uniphore published a benchmark of Nemotron 3.5 Lightning: about 4.9 times the raw throughput of Gemma 4 31B and up to 6.8 times on agentic workloads, with accuracy gains after tuning. The model is entering evaluation for its high-volume paths, and the authors asked NVIDIA in public for guidance on serving many LoRA adapters, which is an easy and valuable answer for us to give. Its Business AI Cloud distills large models into 7 to 8 billion parameter domain models, and in 2026 it is selling through KPMG, Cognizant and Tech Mahindra and a Rackspace sovereign cloud. What it does not publish is how it isolates tool calls, code or the UI actions it got from Orby, which regulated buyers will ask about. AMD co-invested and Rackspace runs both vendors, so we win here on measured cost and accuracy, not exclusivity. Note the Autonom8 deal was announced as intended and I found no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names on our map row are quite different businesses. E2B is the volume leader, with more than a billion sandboxes started, an Apache-licensed Firecracker runtime and a new self-hosted package, but no GPUs. Daytona is the one that sells NVIDIA GPUs, runs Windows and Linux desktops, and says about half its usage is RL; it closed its source in June. Vercel Sandbox is a Firecracker sandbox inside a much larger developer platform with a 340 million dollar run-rate, no GPUs and no self-hosting. Runloop is a small, enterprise-leaning devbox and benchmark vendor that runs microVMs on its own hypervisor and supports arm64. Cua is tiny but owns cross-OS desktops for computer-use agents. Prices cluster around eight to nine cents for one vCPU and two gigabytes for an hour, with Runloop and busy Vercel sandboxes about twice that. Only E2B and Daytona have engineering ties to NVIDIA today, both through NeMo Gym, and E2B also through the OpenShell driver it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E2B is the most natural sandbox partner for our row. It has started more than a billion sandboxes, claims 94 of the Fortune 100 signed up, which counts sign-ups rather than paying customers, and has 10 million-plus monthly SDK downloads. This year it became one of the seven built-in providers in OpenAI's Agents SDK, added forking for RL-style group rollouts, became an execution backend for Devin Outposts, and on September 30 launched E2B Embed, a self-hosted Apache package. Every sandbox is a Firecracker microVM with its own kernel on Google Cloud, CPU only and x86 only. The most important fact for us: E2B wrote openshell-e2b on its own initiative, where OpenShell is the policy and control plane and E2B microVMs are the compute. It is labeled a working demo, not production, and lacks pause, resume and a fix for a Landlock gap. That is the cleanest public proof of policy over any sandbox compute, and we should help productize it before an OpenShell-replaces-E2B story sticks. NeMo Gym added an E2B provider in its September release. Watch the overlap: Embed competes with self-hosted OpenShell on-prem.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Daytona is the strongest revenue fit of the five. Its CEO said in May that RL went from zero to about half of usage and that its largest customer runs about 850 thousand sandboxes a day. It is the execution backend for the OpenAI Agents SDK, Claude Managed Agents, Devin Outposts and Cursor's self-hosted pools, so it sits where frontier harnesses send their tool calls. In July it launched GPU sandboxes with NVIDIA parts from B300 down to RTX cards, plus AMD MI355X, and Windows sandboxes. NeMo Gym made it a built-in provider in August, and our docs suggest an NVIDIA team already uses it. The exposure is trust. Daytona closed its production code on June 11, citing AI-driven vulnerability discovery, after an April credential exposure and the Copy Fail kernel bug, and its default sandboxes are hardened containers on a shared kernel. So we partner through APIs, snapshots and capacity, not code, and pitch OpenShell as the open, verifiable policy layer it no longer ships. It is chip-neutral, so lead with software, RL and go-to-market.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Vercel's value to us is distribution and tokens more than hardware. It reached a 340 million dollar run-rate in February and its CEO says it is IPO-ready. Vercel Sandbox went GA in January on Firecracker microVMs, now runs sessions up to 24 hours in about 20 regions, and in August added a firewall that injects credentials at the host so they never enter the microVM. Note that egress is open by default; deny-by-default is an opt-in policy. AI SDK 7 added a pluggable sandbox interface, which is a natural place for an OpenShell backend. The striking number is on AI Gateway: open-weight models carried 56 percent of tokens in August but only 14 percent of spend, yet all six Nemotron models there are served by third parties, two have a single provider, and none made the February top ten. Vercel runs on AWS with CPU-only sandboxes, so hardware pull-through is indirect. The fastest win is model placement: second providers, Dynamo-backed endpoints, a first-party AI SDK provider and a promotion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Runloop is small and enterprise-leaning. It raised a 7 million dollar seed in July 2025, led by a Google Wallet co-founder, and had twelve people then. Since then it added deployment into customer AWS VPCs, network policies, an MCP Hub, an Agent API and benchmark orchestration with Weights and Biases, and it is one of the seven OpenAI Agents SDK providers. Gartner named it a representative vendor in its May Market Guide for agentic development sandbox platforms. One post-training customer, Trajectory, ran more than ten thousand devboxes at once, though Runloop names no model labs. Technically it runs a microVM with a container inside on its own bare-metal hypervisor, supports arm64, and keeps real API keys server-side in Agent Gateways, so its security layer overlaps OpenShell's. There is no NVIDIA tie today and it is absent from NeMo Gym and Harbor. The cheapest wins are a NeMo Gym provider and public Nemotron benchmark runs; OpenShell can sit inside its VM boundary as a second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 is the smallest company here, about ten people on Y Combinator's standard deal, but its open-source repository has more than 23 thousand stars and it owns something none of the others do: cross-OS desktops and background drivers for computer-use agents. Linux desktops run in gVisor, Windows and Android in KubeVirt virtual machines, and macOS on bare-metal Apple Silicon. Its drivers are already embedded in agents such as Hermes, H Company and Factory Droid, and it built a 130-task benchmark for computer use. It has no GPU desktops, no documented egress or credential controls, SOC 2 Type I only, and no NVIDIA tie. Why it matters anyway: computer use is the least contained surface at all four enterprise platforms, and OpenShell has no answer for it because Landlock and seccomp do not govern a Windows or macOS desktop. Cua is an inexpensive way to learn what a VM-class OpenShell backend needs, and an Inception and NVentures candidate.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roadmap view across all nine plus OpenShell, using only what each company has published or said on the record. Read the middle column as our timing window. Automation Anywhere has promised EnterpriseClaw and AAI Code GA later this year, which is the most important date on the page for OpenShell. UiPath launches its Test Cloud exploration this month, is building a Decision Ledger and is moving toward transaction and outcome pricing. Kore.ai plans to take Artemis beyond Azure and expects process automation to grow over the next 12 to 18 months. Uniphore says Nemotron is entering evaluation for its high-volume paths. E2B's private cloud is in development, and the GPUs and Windows sandboxes it promised in 2025 have not shipped, which is room for us. Vercel has BYOC on AWS in private beta. Daytona, Runloop and Cua publish little forward roadmap, so we should ask in the first meetings. For OpenShell, the conformance work opened September 30 and multi-tenancy is the stated direction, but there is still no 1.0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support menu by partner. A filled dot is what we open the first meeting with; an open dot is a supporting offer once the first one lands. OpenShell leads where there is a documented runtime gap or existing code: Automation Anywhere, UiPath, Kore.ai, E2B, Daytona and Cua. Nemotron and NIM lead at seven, because model placement is the fastest pull-through and it no longer comes for free from OpenShell. NeMo Gym and RL lead at the sandbox vendors that run rollouts, plus Uniphore, which wants to train on its process traces. Dynamo leads at Uniphore for multi-LoRA serving and at Vercel for gateway endpoints. Hardware is mostly a supporting offer: GPU capacity through our cloud partners leads at Daytona and in regulated on-prem deals at Automation Anywhere, UiPath and Uniphore, while Vera and BlueField follow once a partner has a Linux fleet we can measure. Inception and NVentures matter for the four venture-backed sandbox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company is scored from one to five on five criteria with fixed anchors, so anyone can reproduce or challenge it; the appendix shows the anchors and every score. Pull-through counts most, because the question is which partners will scale on NVIDIA infrastructure. Automation Anywhere leads because OpenShell already ships in its product and its GA packaging is a near-term decision. E2B and Daytona tie: E2B wrote driver code and has the largest footprint, Daytona sells NVIDIA GPUs and runs half its usage on RL. UiPath has the largest regulated installed base. The same four stay on top under equal weights, an OpenShell-first weighting and a revenue-first weighting; only their order moves. Vercel, Kore.ai and Uniphore form a stable second wave where we start with models rather than runtime work. Runloop and Cua are cheap option bets. One judgment sits outside the score: Cua ranks last, yet it is the only company here that can teach OpenShell how to govern desktops.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days from today lands just after GTC Washington, D.C., which runs November 30 to December 3, so the plan is built to put results on that stage. October is for signed scopes with named engineering owners at the four wave-one partners, plus light starts with Vercel, Uniphore and Kore.ai. On our side in October: a driver guide and the conformance tests published with named partners, biweekly telemetry resumed with the NVIDIA provider share shown, the alpha versus broadly available labels reconciled, and GTC DC session requests filed. November is for measured proofs: a thousand OpenShell-wrapped E2B sandboxes on one policy, a Nemotron RL run at ten thousand partner sandboxes through NeMo Gym, EnterpriseClaw live on OpenShell at a design partner, a UiPath coded agent inside OpenShell, and a Vera density test with a named x86 baseline. December is public results at GTC DC and regulated pilots. The six numbers at the bottom are the scorecard, each with today's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Partners will not commit production work to a runtime that is still labeled alpha and just reset its API, so part of owning this row is carrying their requirements back to the product team. These seven needs come straight from the research. Sandbox vendors need a stable driver interface and a way to be certified; the conformance tests opened September 30 are the natural vehicle. The enterprise platforms need native Windows and desktop isolation, because their bot fleets and UI agents run there; today Windows is experimental and there is no GUI support. Automation Anywhere needs gateways that manage policy across thousands of devices, identity from Okta, credentials from CyberArk-style vaults, audit export into SIEM tools and an air-gapped installer with telemetry off. Everyone needs a 1.0 date and a support branch. If we hand the OpenShell team one list with a partner name next to each item, prioritization becomes much easier for them and our partner commitments become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risks, each with what I would do about it. The plan fails if partners see OpenShell as unstable or as a rival. On maturity: PyPI and the README still say alpha, version 0.1.0 could not be upgraded in place from 0.0.x, and July saw an 18 percent creation-failure spike, so we need a 1.0 date, a long-term support branch and one label. On channel conflict: our own NeMo Gym lists OpenShell as a peer of E2B and Daytona, and an unofficial site sells it as a free E2B alternative, so the message has to be policy over any sandbox, with certified partner drivers and no hosted OpenShell service. Inference pull-through is weak after the router removal, so Nemotron defaults and gateway placement become tracked work. A standards race is under way with Docker's spec at CNCF, the Kubernetes agent-sandbox project, AWS AgentCore Policy and Anthropic's sandbox runtime; interoperating beats competing. Desktop and identity gaps need a product decision. And hardware claims need named baselines before partners will repeat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decisions, all for October. First, positioning: I recommend we say OpenShell policy over any sandbox compute, and explicitly rule out running a hosted OpenShell sandbox service, because that is what would turn E2B and Daytona into rivals. Second, wave one: a small integration pod focused on Automation Anywhere, E2B, Daytona and UiPath, with model-led work only for Vercel, Uniphore and Kore.ai; the size is yours to set. Third, model pull-through: since the router is gone, Nemotron has to become the default in NemoClaw and partner templates, NVIDIA-backed providers need to be on gateways like Vercel's, and we should report the NVIDIA share every two weeks. Fourth, computer use: a product question for the OpenShell team, since every enterprise platform here runs UI agents. Fifth, capital programs for the four venture-backed sandbox companies, given that Baseten just bought Blaxel. Sixth, GTC DC sessions and the map update. These are framed as decisions to take together; account ownership and team scope are for you to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score is an integer from one to five, anchored to observable evidence so another analyst can reproduce it; the full anchors for scores one through four are in the report. Automation Anywhere gets a five on fit because OpenShell ships in EnterpriseClaw and a five on readiness because GA packaging is a near-term decision, but a three on risk because of its valuation reset and the unresolved C3.ai talks. E2B gets fives on reach and readiness for its billion sandboxes and its own OpenShell driver. Daytona gets the only five on pull-through because it already sells NVIDIA GPU sandboxes and RL is half its usage. UiPath gets fives on reach and risk as a profitable public company but a three on fit because its runtime is closed core IP. Cua scores one on risk at about ten people and 500 thousand dollars raised. The sensitivity check matters most: the top four do not change under any of the three alternative weightings.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map row lists five sandbox vendors, but the competition is wider. All three hyperscalers now ship microVM or gVisor sandboxes inside their agent platforms: AWS AgentCore went GA last October with a new runtime in September and GPU instances in August on NVIDIA G-family parts; Google took GKE Agent Sandbox to GA in May and open-sourced Agent Substrate; Microsoft says more than a million sandboxes a day run across its agent services. GPU clouds use sandboxes to pull through compute: Modal says sandboxes drive more than a third of 300 million dollars of annualized revenue, CoreWeave launched sandboxes for RL with Vera racks, and Baseten bought Blaxel, whose new Carbon platform ships an OpenShell template. At the low end Docker, Cloudflare and Northflank compete on price, and Docker gave CNCF a competing permissions spec. I suggest we add the hyperscaler sandboxes, CoreWeave, Baseten and Blaxel, Docker, Modal and Cloudflare to our row, with computer use as its own sub-row.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the deck leans on most; the full report has all 289 with inline links. After the report was drafted, 74 load-bearing claims were re-checked by fetching each cited page. The right-hand box lists what changed as a result, so nothing on the earlier slides depends on the uncorrected version. Two things still deserve care when quoting. First, company scale figures such as E2B's Fortune 100 count or Kore.ai's 500-plus Global 2000 customers are company claims, and E2B's counts sign-ups rather than paying customers. Second, NVIDIA's own Vera headline of up to 1.8 times faster has no named x86 baseline, so the deck quotes Perplexity's and CoreWeave's measured results instead. Private-company revenue is mostly undisclosed, and I did not have access to NVIDIA's internal partner, Inception or NVentures records, so those need an internal check before we act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08930"/>
          </a:xfrm>
          <a:prstGeom prst="rect">
            <a:avLst/>
          </a:prstGeom>
          <a:noFill/>
          <a:ln/>
        </p:spPr>
        <p:txBody>
          <a:bodyPr wrap="square" lIns="0" tIns="0" rIns="0" bIns="0" rtlCol="0" anchor="t"/>
          <a:lstStyle>
            <a:lvl1pPr algn="l" indent="0" marL="0">
              <a:lnSpc>
                <a:spcPct val="115000"/>
              </a:lnSpc>
              <a:buNone/>
              <a:defRPr lang="en-US" sz="2800" dirty="0">
                <a:solidFill>
                  <a:srgbClr val="18202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526530"/>
            <a:ext cx="10566400" cy="4518670"/>
          </a:xfrm>
          <a:prstGeom prst="rect">
            <a:avLst/>
          </a:prstGeom>
          <a:noFill/>
          <a:ln/>
        </p:spPr>
        <p:txBody>
          <a:bodyPr wrap="square" lIns="0" tIns="0" rIns="0" bIns="0" rtlCol="0" anchor="t"/>
          <a:lstStyle>
            <a:lvl1pPr algn="l" indent="0" marL="0">
              <a:lnSpc>
                <a:spcPct val="140000"/>
              </a:lnSpc>
              <a:buNone/>
              <a:defRPr lang="en-US" sz="1600" dirty="0">
                <a:solidFill>
                  <a:srgbClr val="18202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08930"/>
          </a:xfrm>
          <a:prstGeom prst="rect">
            <a:avLst/>
          </a:prstGeom>
          <a:noFill/>
          <a:ln/>
        </p:spPr>
        <p:txBody>
          <a:bodyPr wrap="square" lIns="0" tIns="0" rIns="0" bIns="0" rtlCol="0" anchor="t"/>
          <a:lstStyle>
            <a:lvl1pPr algn="l" indent="0" marL="0">
              <a:lnSpc>
                <a:spcPct val="115000"/>
              </a:lnSpc>
              <a:buNone/>
              <a:defRPr lang="en-US" sz="2800" dirty="0">
                <a:solidFill>
                  <a:srgbClr val="18202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526530"/>
            <a:ext cx="10566400" cy="4518670"/>
          </a:xfrm>
          <a:prstGeom prst="rect">
            <a:avLst/>
          </a:prstGeom>
          <a:noFill/>
          <a:ln/>
        </p:spPr>
        <p:txBody>
          <a:bodyPr wrap="square" lIns="0" tIns="0" rIns="0" bIns="0" rtlCol="0" anchor="t"/>
          <a:lstStyle>
            <a:lvl1pPr algn="l" indent="0" marL="0">
              <a:lnSpc>
                <a:spcPct val="140000"/>
              </a:lnSpc>
              <a:buNone/>
              <a:defRPr lang="en-US" sz="1600" dirty="0">
                <a:solidFill>
                  <a:srgbClr val="18202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nvidianews.nvidia.com/news/open-agent-safety-platform" TargetMode="External"/><Relationship Id="rId2" Type="http://schemas.openxmlformats.org/officeDocument/2006/relationships/hyperlink" Target="https://github.com/NVIDIA/OpenShell" TargetMode="External"/><Relationship Id="rId3" Type="http://schemas.openxmlformats.org/officeDocument/2006/relationships/hyperlink" Target="https://docs.nvidia.com/openshell/latest/upgrade/0-1-0" TargetMode="External"/><Relationship Id="rId4" Type="http://schemas.openxmlformats.org/officeDocument/2006/relationships/hyperlink" Target="https://blogs.nvidia.com/blog/coreweave-agentic-ai-vera-rubin/" TargetMode="External"/><Relationship Id="rId5" Type="http://schemas.openxmlformats.org/officeDocument/2006/relationships/hyperlink" Target="https://www.prnewswire.com/news-releases/automation-anywhere-collaborates-with-cisco-nvidia-okta-and-openai-launching-enterpriseclaw-to-run-next-generation-ai-agents-inside-enterprise-systems-302775670.html" TargetMode="External"/><Relationship Id="rId6" Type="http://schemas.openxmlformats.org/officeDocument/2006/relationships/hyperlink" Target="https://ir.uipath.com/news/detail/461/uipath-reports-second-quarter-fiscal-2027-financial-results" TargetMode="External"/><Relationship Id="rId7" Type="http://schemas.openxmlformats.org/officeDocument/2006/relationships/hyperlink" Target="https://docs.kore.ai/agent-platform/tools/code" TargetMode="External"/><Relationship Id="rId8" Type="http://schemas.openxmlformats.org/officeDocument/2006/relationships/hyperlink" Target="https://www.uniphore.com/blog/testing-nvidia-nemotron-3-5-lightning-against-real-enterprise-agentic-workloads/" TargetMode="External"/><Relationship Id="rId9" Type="http://schemas.openxmlformats.org/officeDocument/2006/relationships/hyperlink" Target="https://github.com/e2b-dev/openshell-e2b" TargetMode="External"/><Relationship Id="rId10" Type="http://schemas.openxmlformats.org/officeDocument/2006/relationships/hyperlink" Target="https://www.daytona.io/dotfiles/updates/daytona-is-going-closed-source" TargetMode="External"/><Relationship Id="rId11" Type="http://schemas.openxmlformats.org/officeDocument/2006/relationships/hyperlink" Target="https://vercel.com/blog/ai-gateway-production-index-september-2026" TargetMode="External"/><Relationship Id="rId12" Type="http://schemas.openxmlformats.org/officeDocument/2006/relationships/hyperlink" Target="https://modal.com/blog/modal-series-c" TargetMode="External"/><Relationship Id="rId13" Type="http://schemas.openxmlformats.org/officeDocument/2006/relationships/hyperlink" Target="https://www.latent.space/p/daytona" TargetMode="External"/><Relationship Id="rId14" Type="http://schemas.openxmlformats.org/officeDocument/2006/relationships/slideLayout" Target="../slideLayouts/slideLayout2.xml"/><Relationship Id="rId15"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3EE"/>
        </a:solidFill>
      </p:bgPr>
    </p:bg>
    <p:spTree>
      <p:nvGrpSpPr>
        <p:cNvPr id="1" name=""/>
        <p:cNvGrpSpPr/>
        <p:nvPr/>
      </p:nvGrpSpPr>
      <p:grpSpPr>
        <a:xfrm>
          <a:off x="0" y="0"/>
          <a:ext cx="0" cy="0"/>
          <a:chOff x="0" y="0"/>
          <a:chExt cx="0" cy="0"/>
        </a:xfrm>
      </p:grpSpPr>
      <p:sp>
        <p:nvSpPr>
          <p:cNvPr id="2" name="Text 0"/>
          <p:cNvSpPr/>
          <p:nvPr/>
        </p:nvSpPr>
        <p:spPr>
          <a:xfrm>
            <a:off x="812800" y="216614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7A12"/>
                </a:solidFill>
                <a:latin typeface="IBM Plex Mono" pitchFamily="49" charset="0"/>
                <a:ea typeface="IBM Plex Mono" pitchFamily="49" charset="-122"/>
                <a:cs typeface="IBM Plex Mono" pitchFamily="49" charset="-120"/>
              </a:rPr>
              <a:t>AGENT RUNTIME AND SANDBOXING · PARTNER STUDY</a:t>
            </a:r>
            <a:endParaRPr lang="en-US" sz="1200" dirty="0"/>
          </a:p>
        </p:txBody>
      </p:sp>
      <p:sp>
        <p:nvSpPr>
          <p:cNvPr id="3" name="Text 1"/>
          <p:cNvSpPr/>
          <p:nvPr>
            <p:ph type="title"/>
          </p:nvPr>
        </p:nvSpPr>
        <p:spPr>
          <a:xfrm>
            <a:off x="812800" y="2633464"/>
            <a:ext cx="9156700" cy="1342132"/>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18202A"/>
                </a:solidFill>
                <a:latin typeface="IBM Plex Sans" pitchFamily="34" charset="0"/>
                <a:ea typeface="IBM Plex Sans" pitchFamily="34" charset="-122"/>
                <a:cs typeface="IBM Plex Sans" pitchFamily="34" charset="-120"/>
              </a:rPr>
              <a:t>OpenShell and the agent runtime market</a:t>
            </a:r>
            <a:endParaRPr lang="en-US" sz="4800" dirty="0"/>
          </a:p>
        </p:txBody>
      </p:sp>
      <p:sp>
        <p:nvSpPr>
          <p:cNvPr id="4" name="Text 2"/>
          <p:cNvSpPr/>
          <p:nvPr/>
        </p:nvSpPr>
        <p:spPr>
          <a:xfrm>
            <a:off x="812800" y="4204196"/>
            <a:ext cx="95250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B5563"/>
                </a:solidFill>
                <a:latin typeface="IBM Plex Sans" pitchFamily="34" charset="0"/>
                <a:ea typeface="IBM Plex Sans" pitchFamily="34" charset="-122"/>
                <a:cs typeface="IBM Plex Sans" pitchFamily="34" charset="-120"/>
              </a:rPr>
              <a:t>What nine partners ship, how their agents run, and where NVIDIA can grow with them.</a:t>
            </a:r>
            <a:endParaRPr lang="en-US" sz="16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Rohith Srinivas | October 2026 | Draft for discussion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The answer on one page</a:t>
            </a:r>
            <a:endParaRPr lang="en-US" sz="2800" dirty="0"/>
          </a:p>
        </p:txBody>
      </p:sp>
      <p:sp>
        <p:nvSpPr>
          <p:cNvPr id="3" name="Shape 1"/>
          <p:cNvSpPr/>
          <p:nvPr/>
        </p:nvSpPr>
        <p:spPr>
          <a:xfrm>
            <a:off x="819150" y="1431280"/>
            <a:ext cx="10553700" cy="883890"/>
          </a:xfrm>
          <a:prstGeom prst="roundRect">
            <a:avLst>
              <a:gd name="adj" fmla="val 7903"/>
            </a:avLst>
          </a:prstGeom>
          <a:solidFill>
            <a:srgbClr val="FFFFFF"/>
          </a:solidFill>
          <a:ln w="12700">
            <a:solidFill>
              <a:srgbClr val="CDD2D8"/>
            </a:solidFill>
            <a:prstDash val="solid"/>
          </a:ln>
        </p:spPr>
      </p:sp>
      <p:sp>
        <p:nvSpPr>
          <p:cNvPr id="4" name="Text 2"/>
          <p:cNvSpPr/>
          <p:nvPr/>
        </p:nvSpPr>
        <p:spPr>
          <a:xfrm>
            <a:off x="1028700" y="1757660"/>
            <a:ext cx="287782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8202A"/>
                </a:solidFill>
                <a:latin typeface="IBM Plex Sans" pitchFamily="34" charset="0"/>
                <a:ea typeface="IBM Plex Sans" pitchFamily="34" charset="-122"/>
                <a:cs typeface="IBM Plex Sans" pitchFamily="34" charset="-120"/>
              </a:rPr>
              <a:t>Where does OpenShell fit?</a:t>
            </a:r>
            <a:endParaRPr lang="en-US" sz="1400" dirty="0"/>
          </a:p>
        </p:txBody>
      </p:sp>
      <p:sp>
        <p:nvSpPr>
          <p:cNvPr id="5" name="Text 3"/>
          <p:cNvSpPr/>
          <p:nvPr/>
        </p:nvSpPr>
        <p:spPr>
          <a:xfrm>
            <a:off x="4076700" y="1564630"/>
            <a:ext cx="7299198"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8202A"/>
                </a:solidFill>
                <a:latin typeface="IBM Plex Sans" pitchFamily="34" charset="0"/>
                <a:ea typeface="IBM Plex Sans" pitchFamily="34" charset="-122"/>
                <a:cs typeface="IBM Plex Sans" pitchFamily="34" charset="-120"/>
              </a:rPr>
              <a:t>As a free, open policy and credential layer that runs inside or on top of other companies' sandboxes and inside enterprise platforms. It is not a hosted sandbox business and should not be pitched as a rival to E2B or Daytona.</a:t>
            </a:r>
            <a:endParaRPr lang="en-US" sz="1200" dirty="0"/>
          </a:p>
        </p:txBody>
      </p:sp>
      <p:sp>
        <p:nvSpPr>
          <p:cNvPr id="6" name="Shape 4"/>
          <p:cNvSpPr/>
          <p:nvPr/>
        </p:nvSpPr>
        <p:spPr>
          <a:xfrm>
            <a:off x="819150" y="2429470"/>
            <a:ext cx="10553700" cy="883890"/>
          </a:xfrm>
          <a:prstGeom prst="roundRect">
            <a:avLst>
              <a:gd name="adj" fmla="val 7903"/>
            </a:avLst>
          </a:prstGeom>
          <a:solidFill>
            <a:srgbClr val="FFFFFF"/>
          </a:solidFill>
          <a:ln w="12700">
            <a:solidFill>
              <a:srgbClr val="CDD2D8"/>
            </a:solidFill>
            <a:prstDash val="solid"/>
          </a:ln>
        </p:spPr>
      </p:sp>
      <p:sp>
        <p:nvSpPr>
          <p:cNvPr id="7" name="Text 5"/>
          <p:cNvSpPr/>
          <p:nvPr/>
        </p:nvSpPr>
        <p:spPr>
          <a:xfrm>
            <a:off x="1028700" y="2640261"/>
            <a:ext cx="287782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8202A"/>
                </a:solidFill>
                <a:latin typeface="IBM Plex Sans" pitchFamily="34" charset="0"/>
                <a:ea typeface="IBM Plex Sans" pitchFamily="34" charset="-122"/>
                <a:cs typeface="IBM Plex Sans" pitchFamily="34" charset="-120"/>
              </a:rPr>
              <a:t>How does it make money for NVIDIA?</a:t>
            </a:r>
            <a:endParaRPr lang="en-US" sz="1400" dirty="0"/>
          </a:p>
        </p:txBody>
      </p:sp>
      <p:sp>
        <p:nvSpPr>
          <p:cNvPr id="8" name="Text 6"/>
          <p:cNvSpPr/>
          <p:nvPr/>
        </p:nvSpPr>
        <p:spPr>
          <a:xfrm>
            <a:off x="4076700" y="2562820"/>
            <a:ext cx="7299198"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8202A"/>
                </a:solidFill>
                <a:latin typeface="IBM Plex Sans" pitchFamily="34" charset="0"/>
                <a:ea typeface="IBM Plex Sans" pitchFamily="34" charset="-122"/>
                <a:cs typeface="IBM Plex Sans" pitchFamily="34" charset="-120"/>
              </a:rPr>
              <a:t>Indirectly, through Vera CPUs for sandbox fleets, BlueField-4 for the Sentry watchdog, on-prem NIM and RTX PRO, and GPU hours for RL. Since 0.1.0 dropped the inference router, model pull-through is partner work.</a:t>
            </a:r>
            <a:endParaRPr lang="en-US" sz="1200" dirty="0"/>
          </a:p>
        </p:txBody>
      </p:sp>
      <p:sp>
        <p:nvSpPr>
          <p:cNvPr id="9" name="Shape 7"/>
          <p:cNvSpPr/>
          <p:nvPr/>
        </p:nvSpPr>
        <p:spPr>
          <a:xfrm>
            <a:off x="819150" y="3427661"/>
            <a:ext cx="10553700" cy="678160"/>
          </a:xfrm>
          <a:prstGeom prst="roundRect">
            <a:avLst>
              <a:gd name="adj" fmla="val 10300"/>
            </a:avLst>
          </a:prstGeom>
          <a:solidFill>
            <a:srgbClr val="FFFFFF"/>
          </a:solidFill>
          <a:ln w="12700">
            <a:solidFill>
              <a:srgbClr val="CDD2D8"/>
            </a:solidFill>
            <a:prstDash val="solid"/>
          </a:ln>
        </p:spPr>
      </p:sp>
      <p:sp>
        <p:nvSpPr>
          <p:cNvPr id="10" name="Text 8"/>
          <p:cNvSpPr/>
          <p:nvPr/>
        </p:nvSpPr>
        <p:spPr>
          <a:xfrm>
            <a:off x="1028700" y="3651151"/>
            <a:ext cx="287782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8202A"/>
                </a:solidFill>
                <a:latin typeface="IBM Plex Sans" pitchFamily="34" charset="0"/>
                <a:ea typeface="IBM Plex Sans" pitchFamily="34" charset="-122"/>
                <a:cs typeface="IBM Plex Sans" pitchFamily="34" charset="-120"/>
              </a:rPr>
              <a:t>Which partners first?</a:t>
            </a:r>
            <a:endParaRPr lang="en-US" sz="1400" dirty="0"/>
          </a:p>
        </p:txBody>
      </p:sp>
      <p:sp>
        <p:nvSpPr>
          <p:cNvPr id="11" name="Text 9"/>
          <p:cNvSpPr/>
          <p:nvPr/>
        </p:nvSpPr>
        <p:spPr>
          <a:xfrm>
            <a:off x="4076700" y="3561011"/>
            <a:ext cx="7299198"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8202A"/>
                </a:solidFill>
                <a:latin typeface="IBM Plex Sans" pitchFamily="34" charset="0"/>
                <a:ea typeface="IBM Plex Sans" pitchFamily="34" charset="-122"/>
                <a:cs typeface="IBM Plex Sans" pitchFamily="34" charset="-120"/>
              </a:rPr>
              <a:t>Wave 1: Automation Anywhere, E2B, Daytona and UiPath. Wave 2, led by models: Vercel, Kore.ai and Uniphore. Option bets: Runloop and Cua.</a:t>
            </a:r>
            <a:endParaRPr lang="en-US" sz="1200" dirty="0"/>
          </a:p>
        </p:txBody>
      </p:sp>
      <p:sp>
        <p:nvSpPr>
          <p:cNvPr id="12" name="Shape 10"/>
          <p:cNvSpPr/>
          <p:nvPr/>
        </p:nvSpPr>
        <p:spPr>
          <a:xfrm>
            <a:off x="819150" y="4220121"/>
            <a:ext cx="10553700" cy="678160"/>
          </a:xfrm>
          <a:prstGeom prst="roundRect">
            <a:avLst>
              <a:gd name="adj" fmla="val 10300"/>
            </a:avLst>
          </a:prstGeom>
          <a:solidFill>
            <a:srgbClr val="FFFFFF"/>
          </a:solidFill>
          <a:ln w="12700">
            <a:solidFill>
              <a:srgbClr val="CDD2D8"/>
            </a:solidFill>
            <a:prstDash val="solid"/>
          </a:ln>
        </p:spPr>
      </p:sp>
      <p:sp>
        <p:nvSpPr>
          <p:cNvPr id="13" name="Text 11"/>
          <p:cNvSpPr/>
          <p:nvPr/>
        </p:nvSpPr>
        <p:spPr>
          <a:xfrm>
            <a:off x="1028700" y="4443611"/>
            <a:ext cx="287782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8202A"/>
                </a:solidFill>
                <a:latin typeface="IBM Plex Sans" pitchFamily="34" charset="0"/>
                <a:ea typeface="IBM Plex Sans" pitchFamily="34" charset="-122"/>
                <a:cs typeface="IBM Plex Sans" pitchFamily="34" charset="-120"/>
              </a:rPr>
              <a:t>What happens in 90 days?</a:t>
            </a:r>
            <a:endParaRPr lang="en-US" sz="1400" dirty="0"/>
          </a:p>
        </p:txBody>
      </p:sp>
      <p:sp>
        <p:nvSpPr>
          <p:cNvPr id="14" name="Text 12"/>
          <p:cNvSpPr/>
          <p:nvPr/>
        </p:nvSpPr>
        <p:spPr>
          <a:xfrm>
            <a:off x="4076700" y="4353471"/>
            <a:ext cx="7299198"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8202A"/>
                </a:solidFill>
                <a:latin typeface="IBM Plex Sans" pitchFamily="34" charset="0"/>
                <a:ea typeface="IBM Plex Sans" pitchFamily="34" charset="-122"/>
                <a:cs typeface="IBM Plex Sans" pitchFamily="34" charset="-120"/>
              </a:rPr>
              <a:t>OpenShell as EnterpriseClaw's default runtime at GA, E2B's driver moved from demo to supported, a 10,000-sandbox Nemotron RL run, and partners on stage at GTC Washington, D.C. (Nov 30 to Dec 3).</a:t>
            </a:r>
            <a:endParaRPr lang="en-US" sz="1200" dirty="0"/>
          </a:p>
        </p:txBody>
      </p:sp>
      <p:sp>
        <p:nvSpPr>
          <p:cNvPr id="15" name="Text 13"/>
          <p:cNvSpPr/>
          <p:nvPr/>
        </p:nvSpPr>
        <p:spPr>
          <a:xfrm>
            <a:off x="812800" y="510783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8202A"/>
                </a:solidFill>
                <a:latin typeface="IBM Plex Sans" pitchFamily="34" charset="0"/>
                <a:ea typeface="IBM Plex Sans" pitchFamily="34" charset="-122"/>
                <a:cs typeface="IBM Plex Sans" pitchFamily="34" charset="-120"/>
              </a:rPr>
              <a:t>None of the nine is named in NVIDIA's March 16 or September 28 OpenShell releases, yet three already have engineering ties.</a:t>
            </a:r>
            <a:endParaRPr lang="en-US" sz="1400" dirty="0"/>
          </a:p>
        </p:txBody>
      </p:sp>
      <p:sp>
        <p:nvSpPr>
          <p:cNvPr id="16" name="Text 14"/>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1 · The answer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What we studied and how</a:t>
            </a:r>
            <a:endParaRPr lang="en-US" sz="2800" dirty="0"/>
          </a:p>
        </p:txBody>
      </p:sp>
      <p:sp>
        <p:nvSpPr>
          <p:cNvPr id="3" name="Shape 1"/>
          <p:cNvSpPr/>
          <p:nvPr/>
        </p:nvSpPr>
        <p:spPr>
          <a:xfrm>
            <a:off x="819150" y="1405880"/>
            <a:ext cx="3594100" cy="2494062"/>
          </a:xfrm>
          <a:prstGeom prst="roundRect">
            <a:avLst>
              <a:gd name="adj" fmla="val 2801"/>
            </a:avLst>
          </a:prstGeom>
          <a:solidFill>
            <a:srgbClr val="FFFFFF"/>
          </a:solidFill>
          <a:ln w="12700">
            <a:solidFill>
              <a:srgbClr val="CDD2D8"/>
            </a:solidFill>
            <a:prstDash val="solid"/>
          </a:ln>
        </p:spPr>
      </p:sp>
      <p:sp>
        <p:nvSpPr>
          <p:cNvPr id="4" name="Text 2"/>
          <p:cNvSpPr/>
          <p:nvPr/>
        </p:nvSpPr>
        <p:spPr>
          <a:xfrm>
            <a:off x="1028700" y="1590030"/>
            <a:ext cx="32702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Group A · 4 companies</a:t>
            </a:r>
            <a:endParaRPr lang="en-US" sz="1200" dirty="0"/>
          </a:p>
        </p:txBody>
      </p:sp>
      <p:sp>
        <p:nvSpPr>
          <p:cNvPr id="5" name="Text 3"/>
          <p:cNvSpPr/>
          <p:nvPr/>
        </p:nvSpPr>
        <p:spPr>
          <a:xfrm>
            <a:off x="1028700" y="1851620"/>
            <a:ext cx="327025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02A"/>
                </a:solidFill>
                <a:latin typeface="IBM Plex Sans" pitchFamily="34" charset="0"/>
                <a:ea typeface="IBM Plex Sans" pitchFamily="34" charset="-122"/>
                <a:cs typeface="IBM Plex Sans" pitchFamily="34" charset="-120"/>
              </a:rPr>
              <a:t>Enterprise agent platforms</a:t>
            </a:r>
            <a:endParaRPr lang="en-US" sz="1600" dirty="0"/>
          </a:p>
        </p:txBody>
      </p:sp>
      <p:sp>
        <p:nvSpPr>
          <p:cNvPr id="6" name="Text 4"/>
          <p:cNvSpPr/>
          <p:nvPr/>
        </p:nvSpPr>
        <p:spPr>
          <a:xfrm>
            <a:off x="1028700" y="2158950"/>
            <a:ext cx="33782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Sell agents to the enterprise and govern them</a:t>
            </a:r>
            <a:endParaRPr lang="en-US" sz="1200" dirty="0"/>
          </a:p>
        </p:txBody>
      </p:sp>
      <p:sp>
        <p:nvSpPr>
          <p:cNvPr id="7" name="Text 5"/>
          <p:cNvSpPr/>
          <p:nvPr/>
        </p:nvSpPr>
        <p:spPr>
          <a:xfrm>
            <a:off x="1028700" y="2471341"/>
            <a:ext cx="327025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Automation Anywhere</a:t>
            </a:r>
            <a:endParaRPr lang="en-US" sz="1200" dirty="0"/>
          </a:p>
        </p:txBody>
      </p:sp>
      <p:sp>
        <p:nvSpPr>
          <p:cNvPr id="8" name="Text 6"/>
          <p:cNvSpPr/>
          <p:nvPr/>
        </p:nvSpPr>
        <p:spPr>
          <a:xfrm>
            <a:off x="1028700" y="2732931"/>
            <a:ext cx="327025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UiPath</a:t>
            </a:r>
            <a:endParaRPr lang="en-US" sz="1200" dirty="0"/>
          </a:p>
        </p:txBody>
      </p:sp>
      <p:sp>
        <p:nvSpPr>
          <p:cNvPr id="9" name="Text 7"/>
          <p:cNvSpPr/>
          <p:nvPr/>
        </p:nvSpPr>
        <p:spPr>
          <a:xfrm>
            <a:off x="1028700" y="2994521"/>
            <a:ext cx="327025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Kore.ai</a:t>
            </a:r>
            <a:endParaRPr lang="en-US" sz="1200" dirty="0"/>
          </a:p>
        </p:txBody>
      </p:sp>
      <p:sp>
        <p:nvSpPr>
          <p:cNvPr id="10" name="Text 8"/>
          <p:cNvSpPr/>
          <p:nvPr/>
        </p:nvSpPr>
        <p:spPr>
          <a:xfrm>
            <a:off x="1028700" y="3256111"/>
            <a:ext cx="327025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Uniphore</a:t>
            </a:r>
            <a:endParaRPr lang="en-US" sz="1200" dirty="0"/>
          </a:p>
        </p:txBody>
      </p:sp>
      <p:sp>
        <p:nvSpPr>
          <p:cNvPr id="11" name="Shape 9"/>
          <p:cNvSpPr/>
          <p:nvPr/>
        </p:nvSpPr>
        <p:spPr>
          <a:xfrm>
            <a:off x="4578350" y="1405880"/>
            <a:ext cx="3035300" cy="2494062"/>
          </a:xfrm>
          <a:prstGeom prst="roundRect">
            <a:avLst>
              <a:gd name="adj" fmla="val 2801"/>
            </a:avLst>
          </a:prstGeom>
          <a:solidFill>
            <a:srgbClr val="FFFFFF"/>
          </a:solidFill>
          <a:ln w="12700">
            <a:solidFill>
              <a:srgbClr val="8C96A1"/>
            </a:solidFill>
            <a:prstDash val="dash"/>
          </a:ln>
        </p:spPr>
      </p:sp>
      <p:sp>
        <p:nvSpPr>
          <p:cNvPr id="12" name="Text 10"/>
          <p:cNvSpPr/>
          <p:nvPr/>
        </p:nvSpPr>
        <p:spPr>
          <a:xfrm>
            <a:off x="4787900" y="1944291"/>
            <a:ext cx="269468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The question</a:t>
            </a:r>
            <a:endParaRPr lang="en-US" sz="1200" dirty="0"/>
          </a:p>
        </p:txBody>
      </p:sp>
      <p:sp>
        <p:nvSpPr>
          <p:cNvPr id="13" name="Text 11"/>
          <p:cNvSpPr/>
          <p:nvPr/>
        </p:nvSpPr>
        <p:spPr>
          <a:xfrm>
            <a:off x="4787900" y="2218581"/>
            <a:ext cx="269468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02A"/>
                </a:solidFill>
                <a:latin typeface="IBM Plex Sans" pitchFamily="34" charset="0"/>
                <a:ea typeface="IBM Plex Sans" pitchFamily="34" charset="-122"/>
                <a:cs typeface="IBM Plex Sans" pitchFamily="34" charset="-120"/>
              </a:rPr>
              <a:t>OpenShell</a:t>
            </a:r>
            <a:endParaRPr lang="en-US" sz="1600" dirty="0"/>
          </a:p>
        </p:txBody>
      </p:sp>
      <p:sp>
        <p:nvSpPr>
          <p:cNvPr id="14" name="Text 12"/>
          <p:cNvSpPr/>
          <p:nvPr/>
        </p:nvSpPr>
        <p:spPr>
          <a:xfrm>
            <a:off x="4787900" y="2538611"/>
            <a:ext cx="2694686" cy="8483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8202A"/>
                </a:solidFill>
                <a:latin typeface="IBM Plex Sans" pitchFamily="34" charset="0"/>
                <a:ea typeface="IBM Plex Sans" pitchFamily="34" charset="-122"/>
                <a:cs typeface="IBM Plex Sans" pitchFamily="34" charset="-120"/>
              </a:rPr>
              <a:t>Where does NVIDIA's open agent runtime fit between these two groups, and what does it pull through for NVIDIA?</a:t>
            </a:r>
            <a:endParaRPr lang="en-US" sz="1200" dirty="0"/>
          </a:p>
        </p:txBody>
      </p:sp>
      <p:sp>
        <p:nvSpPr>
          <p:cNvPr id="15" name="Shape 13"/>
          <p:cNvSpPr/>
          <p:nvPr/>
        </p:nvSpPr>
        <p:spPr>
          <a:xfrm>
            <a:off x="7778750" y="1405880"/>
            <a:ext cx="3594100" cy="2494062"/>
          </a:xfrm>
          <a:prstGeom prst="roundRect">
            <a:avLst>
              <a:gd name="adj" fmla="val 2801"/>
            </a:avLst>
          </a:prstGeom>
          <a:solidFill>
            <a:srgbClr val="FFFFFF"/>
          </a:solidFill>
          <a:ln w="12700">
            <a:solidFill>
              <a:srgbClr val="CDD2D8"/>
            </a:solidFill>
            <a:prstDash val="solid"/>
          </a:ln>
        </p:spPr>
      </p:sp>
      <p:sp>
        <p:nvSpPr>
          <p:cNvPr id="16" name="Text 14"/>
          <p:cNvSpPr/>
          <p:nvPr/>
        </p:nvSpPr>
        <p:spPr>
          <a:xfrm>
            <a:off x="7988300" y="1590030"/>
            <a:ext cx="32702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Group B · 5 companies</a:t>
            </a:r>
            <a:endParaRPr lang="en-US" sz="1200" dirty="0"/>
          </a:p>
        </p:txBody>
      </p:sp>
      <p:sp>
        <p:nvSpPr>
          <p:cNvPr id="17" name="Text 15"/>
          <p:cNvSpPr/>
          <p:nvPr/>
        </p:nvSpPr>
        <p:spPr>
          <a:xfrm>
            <a:off x="7988300" y="1851620"/>
            <a:ext cx="327025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02A"/>
                </a:solidFill>
                <a:latin typeface="IBM Plex Sans" pitchFamily="34" charset="0"/>
                <a:ea typeface="IBM Plex Sans" pitchFamily="34" charset="-122"/>
                <a:cs typeface="IBM Plex Sans" pitchFamily="34" charset="-120"/>
              </a:rPr>
              <a:t>Sandbox providers</a:t>
            </a:r>
            <a:endParaRPr lang="en-US" sz="1600" dirty="0"/>
          </a:p>
        </p:txBody>
      </p:sp>
      <p:sp>
        <p:nvSpPr>
          <p:cNvPr id="18" name="Text 16"/>
          <p:cNvSpPr/>
          <p:nvPr/>
        </p:nvSpPr>
        <p:spPr>
          <a:xfrm>
            <a:off x="7988300" y="2158950"/>
            <a:ext cx="32702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Run agents' tool calls, code and desktops</a:t>
            </a:r>
            <a:endParaRPr lang="en-US" sz="1200" dirty="0"/>
          </a:p>
        </p:txBody>
      </p:sp>
      <p:sp>
        <p:nvSpPr>
          <p:cNvPr id="19" name="Text 17"/>
          <p:cNvSpPr/>
          <p:nvPr/>
        </p:nvSpPr>
        <p:spPr>
          <a:xfrm>
            <a:off x="7988300" y="2471341"/>
            <a:ext cx="327025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E2B</a:t>
            </a:r>
            <a:endParaRPr lang="en-US" sz="1200" dirty="0"/>
          </a:p>
        </p:txBody>
      </p:sp>
      <p:sp>
        <p:nvSpPr>
          <p:cNvPr id="20" name="Text 18"/>
          <p:cNvSpPr/>
          <p:nvPr/>
        </p:nvSpPr>
        <p:spPr>
          <a:xfrm>
            <a:off x="7988300" y="2732931"/>
            <a:ext cx="327025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Daytona</a:t>
            </a:r>
            <a:endParaRPr lang="en-US" sz="1200" dirty="0"/>
          </a:p>
        </p:txBody>
      </p:sp>
      <p:sp>
        <p:nvSpPr>
          <p:cNvPr id="21" name="Text 19"/>
          <p:cNvSpPr/>
          <p:nvPr/>
        </p:nvSpPr>
        <p:spPr>
          <a:xfrm>
            <a:off x="7988300" y="2994521"/>
            <a:ext cx="327025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Vercel Sandbox</a:t>
            </a:r>
            <a:endParaRPr lang="en-US" sz="1200" dirty="0"/>
          </a:p>
        </p:txBody>
      </p:sp>
      <p:sp>
        <p:nvSpPr>
          <p:cNvPr id="22" name="Text 20"/>
          <p:cNvSpPr/>
          <p:nvPr/>
        </p:nvSpPr>
        <p:spPr>
          <a:xfrm>
            <a:off x="7988300" y="3256111"/>
            <a:ext cx="327025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Runloop</a:t>
            </a:r>
            <a:endParaRPr lang="en-US" sz="1200" dirty="0"/>
          </a:p>
        </p:txBody>
      </p:sp>
      <p:sp>
        <p:nvSpPr>
          <p:cNvPr id="23" name="Text 21"/>
          <p:cNvSpPr/>
          <p:nvPr/>
        </p:nvSpPr>
        <p:spPr>
          <a:xfrm>
            <a:off x="7988300" y="3517702"/>
            <a:ext cx="327025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Cua</a:t>
            </a:r>
            <a:endParaRPr lang="en-US" sz="1200" dirty="0"/>
          </a:p>
        </p:txBody>
      </p:sp>
      <p:sp>
        <p:nvSpPr>
          <p:cNvPr id="24" name="Shape 22"/>
          <p:cNvSpPr/>
          <p:nvPr/>
        </p:nvSpPr>
        <p:spPr>
          <a:xfrm>
            <a:off x="819150" y="4090442"/>
            <a:ext cx="2514600" cy="881311"/>
          </a:xfrm>
          <a:prstGeom prst="roundRect">
            <a:avLst>
              <a:gd name="adj" fmla="val 7926"/>
            </a:avLst>
          </a:prstGeom>
          <a:solidFill>
            <a:srgbClr val="FFFFFF"/>
          </a:solidFill>
          <a:ln w="12700">
            <a:solidFill>
              <a:srgbClr val="CDD2D8"/>
            </a:solidFill>
            <a:prstDash val="solid"/>
          </a:ln>
        </p:spPr>
      </p:sp>
      <p:sp>
        <p:nvSpPr>
          <p:cNvPr id="25" name="Text 23"/>
          <p:cNvSpPr/>
          <p:nvPr/>
        </p:nvSpPr>
        <p:spPr>
          <a:xfrm>
            <a:off x="1003300" y="4223792"/>
            <a:ext cx="2210689"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8202A"/>
                </a:solidFill>
                <a:latin typeface="IBM Plex Sans" pitchFamily="34" charset="0"/>
                <a:ea typeface="IBM Plex Sans" pitchFamily="34" charset="-122"/>
                <a:cs typeface="IBM Plex Sans" pitchFamily="34" charset="-120"/>
              </a:rPr>
              <a:t>12</a:t>
            </a:r>
            <a:endParaRPr lang="en-US" sz="2800" dirty="0"/>
          </a:p>
        </p:txBody>
      </p:sp>
      <p:sp>
        <p:nvSpPr>
          <p:cNvPr id="26" name="Text 24"/>
          <p:cNvSpPr/>
          <p:nvPr/>
        </p:nvSpPr>
        <p:spPr>
          <a:xfrm>
            <a:off x="1003300" y="4640312"/>
            <a:ext cx="221068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research tracks</a:t>
            </a:r>
            <a:endParaRPr lang="en-US" sz="1200" dirty="0"/>
          </a:p>
        </p:txBody>
      </p:sp>
      <p:sp>
        <p:nvSpPr>
          <p:cNvPr id="27" name="Shape 25"/>
          <p:cNvSpPr/>
          <p:nvPr/>
        </p:nvSpPr>
        <p:spPr>
          <a:xfrm>
            <a:off x="3498850" y="4090442"/>
            <a:ext cx="2514600" cy="881311"/>
          </a:xfrm>
          <a:prstGeom prst="roundRect">
            <a:avLst>
              <a:gd name="adj" fmla="val 7926"/>
            </a:avLst>
          </a:prstGeom>
          <a:solidFill>
            <a:srgbClr val="FFFFFF"/>
          </a:solidFill>
          <a:ln w="12700">
            <a:solidFill>
              <a:srgbClr val="CDD2D8"/>
            </a:solidFill>
            <a:prstDash val="solid"/>
          </a:ln>
        </p:spPr>
      </p:sp>
      <p:sp>
        <p:nvSpPr>
          <p:cNvPr id="28" name="Text 26"/>
          <p:cNvSpPr/>
          <p:nvPr/>
        </p:nvSpPr>
        <p:spPr>
          <a:xfrm>
            <a:off x="3683000" y="4223792"/>
            <a:ext cx="2210689"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8202A"/>
                </a:solidFill>
                <a:latin typeface="IBM Plex Sans" pitchFamily="34" charset="0"/>
                <a:ea typeface="IBM Plex Sans" pitchFamily="34" charset="-122"/>
                <a:cs typeface="IBM Plex Sans" pitchFamily="34" charset="-120"/>
              </a:rPr>
              <a:t>289</a:t>
            </a:r>
            <a:endParaRPr lang="en-US" sz="2800" dirty="0"/>
          </a:p>
        </p:txBody>
      </p:sp>
      <p:sp>
        <p:nvSpPr>
          <p:cNvPr id="29" name="Text 27"/>
          <p:cNvSpPr/>
          <p:nvPr/>
        </p:nvSpPr>
        <p:spPr>
          <a:xfrm>
            <a:off x="3683000" y="4640312"/>
            <a:ext cx="221068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sources cited</a:t>
            </a:r>
            <a:endParaRPr lang="en-US" sz="1200" dirty="0"/>
          </a:p>
        </p:txBody>
      </p:sp>
      <p:sp>
        <p:nvSpPr>
          <p:cNvPr id="30" name="Shape 28"/>
          <p:cNvSpPr/>
          <p:nvPr/>
        </p:nvSpPr>
        <p:spPr>
          <a:xfrm>
            <a:off x="6178550" y="4090442"/>
            <a:ext cx="2514600" cy="881311"/>
          </a:xfrm>
          <a:prstGeom prst="roundRect">
            <a:avLst>
              <a:gd name="adj" fmla="val 7926"/>
            </a:avLst>
          </a:prstGeom>
          <a:solidFill>
            <a:srgbClr val="FFFFFF"/>
          </a:solidFill>
          <a:ln w="12700">
            <a:solidFill>
              <a:srgbClr val="CDD2D8"/>
            </a:solidFill>
            <a:prstDash val="solid"/>
          </a:ln>
        </p:spPr>
      </p:sp>
      <p:sp>
        <p:nvSpPr>
          <p:cNvPr id="31" name="Text 29"/>
          <p:cNvSpPr/>
          <p:nvPr/>
        </p:nvSpPr>
        <p:spPr>
          <a:xfrm>
            <a:off x="6362700" y="4223792"/>
            <a:ext cx="2210689"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8202A"/>
                </a:solidFill>
                <a:latin typeface="IBM Plex Sans" pitchFamily="34" charset="0"/>
                <a:ea typeface="IBM Plex Sans" pitchFamily="34" charset="-122"/>
                <a:cs typeface="IBM Plex Sans" pitchFamily="34" charset="-120"/>
              </a:rPr>
              <a:t>74</a:t>
            </a:r>
            <a:endParaRPr lang="en-US" sz="2800" dirty="0"/>
          </a:p>
        </p:txBody>
      </p:sp>
      <p:sp>
        <p:nvSpPr>
          <p:cNvPr id="32" name="Text 30"/>
          <p:cNvSpPr/>
          <p:nvPr/>
        </p:nvSpPr>
        <p:spPr>
          <a:xfrm>
            <a:off x="6362700" y="4640312"/>
            <a:ext cx="221068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key claims re-checked</a:t>
            </a:r>
            <a:endParaRPr lang="en-US" sz="1200" dirty="0"/>
          </a:p>
        </p:txBody>
      </p:sp>
      <p:sp>
        <p:nvSpPr>
          <p:cNvPr id="33" name="Shape 31"/>
          <p:cNvSpPr/>
          <p:nvPr/>
        </p:nvSpPr>
        <p:spPr>
          <a:xfrm>
            <a:off x="8858250" y="4090442"/>
            <a:ext cx="2514600" cy="881311"/>
          </a:xfrm>
          <a:prstGeom prst="roundRect">
            <a:avLst>
              <a:gd name="adj" fmla="val 7926"/>
            </a:avLst>
          </a:prstGeom>
          <a:solidFill>
            <a:srgbClr val="FFFFFF"/>
          </a:solidFill>
          <a:ln w="12700">
            <a:solidFill>
              <a:srgbClr val="CDD2D8"/>
            </a:solidFill>
            <a:prstDash val="solid"/>
          </a:ln>
        </p:spPr>
      </p:sp>
      <p:sp>
        <p:nvSpPr>
          <p:cNvPr id="34" name="Text 32"/>
          <p:cNvSpPr/>
          <p:nvPr/>
        </p:nvSpPr>
        <p:spPr>
          <a:xfrm>
            <a:off x="9042400" y="4223792"/>
            <a:ext cx="2210689"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8202A"/>
                </a:solidFill>
                <a:latin typeface="IBM Plex Sans" pitchFamily="34" charset="0"/>
                <a:ea typeface="IBM Plex Sans" pitchFamily="34" charset="-122"/>
                <a:cs typeface="IBM Plex Sans" pitchFamily="34" charset="-120"/>
              </a:rPr>
              <a:t>5</a:t>
            </a:r>
            <a:endParaRPr lang="en-US" sz="2800" dirty="0"/>
          </a:p>
        </p:txBody>
      </p:sp>
      <p:sp>
        <p:nvSpPr>
          <p:cNvPr id="35" name="Text 33"/>
          <p:cNvSpPr/>
          <p:nvPr/>
        </p:nvSpPr>
        <p:spPr>
          <a:xfrm>
            <a:off x="9042400" y="4640312"/>
            <a:ext cx="221068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weighted scoring criteria</a:t>
            </a:r>
            <a:endParaRPr lang="en-US" sz="1200" dirty="0"/>
          </a:p>
        </p:txBody>
      </p:sp>
      <p:sp>
        <p:nvSpPr>
          <p:cNvPr id="36" name="Text 34"/>
          <p:cNvSpPr/>
          <p:nvPr/>
        </p:nvSpPr>
        <p:spPr>
          <a:xfrm>
            <a:off x="812800" y="5155902"/>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8202A"/>
                </a:solidFill>
                <a:latin typeface="IBM Plex Sans" pitchFamily="34" charset="0"/>
                <a:ea typeface="IBM Plex Sans" pitchFamily="34" charset="-122"/>
                <a:cs typeface="IBM Plex Sans" pitchFamily="34" charset="-120"/>
              </a:rPr>
              <a:t>Every company page answers the same six questions: what they sell, what is new, what is next, how their agents run, NVIDIA ties today, and the play.</a:t>
            </a:r>
            <a:endParaRPr lang="en-US" sz="1400" dirty="0"/>
          </a:p>
        </p:txBody>
      </p:sp>
      <p:sp>
        <p:nvSpPr>
          <p:cNvPr id="37" name="Text 35"/>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1 · The answer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The sandbox market reset in six months</a:t>
            </a:r>
            <a:endParaRPr lang="en-US" sz="2800" dirty="0"/>
          </a:p>
        </p:txBody>
      </p:sp>
      <p:sp>
        <p:nvSpPr>
          <p:cNvPr id="3" name="Text 1"/>
          <p:cNvSpPr/>
          <p:nvPr/>
        </p:nvSpPr>
        <p:spPr>
          <a:xfrm>
            <a:off x="812800" y="1272530"/>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563"/>
                </a:solidFill>
                <a:latin typeface="IBM Plex Sans" pitchFamily="34" charset="0"/>
                <a:ea typeface="IBM Plex Sans" pitchFamily="34" charset="-122"/>
                <a:cs typeface="IBM Plex Sans" pitchFamily="34" charset="-120"/>
              </a:rPr>
              <a:t>Labs opened their agent stacks to outside sandboxes, hyperscalers shipped their own, GPU clouds bought in, and NVIDIA relaunched OpenShell.</a:t>
            </a:r>
            <a:endParaRPr lang="en-US" sz="1400" dirty="0"/>
          </a:p>
        </p:txBody>
      </p:sp>
      <p:sp>
        <p:nvSpPr>
          <p:cNvPr id="4" name="Shape 2"/>
          <p:cNvSpPr/>
          <p:nvPr/>
        </p:nvSpPr>
        <p:spPr>
          <a:xfrm>
            <a:off x="819150" y="1929061"/>
            <a:ext cx="1663700" cy="2750493"/>
          </a:xfrm>
          <a:prstGeom prst="roundRect">
            <a:avLst>
              <a:gd name="adj" fmla="val 4198"/>
            </a:avLst>
          </a:prstGeom>
          <a:solidFill>
            <a:srgbClr val="FFFFFF"/>
          </a:solidFill>
          <a:ln w="12700">
            <a:solidFill>
              <a:srgbClr val="CDD2D8"/>
            </a:solidFill>
            <a:prstDash val="solid"/>
          </a:ln>
        </p:spPr>
      </p:sp>
      <p:sp>
        <p:nvSpPr>
          <p:cNvPr id="5" name="Text 3"/>
          <p:cNvSpPr/>
          <p:nvPr/>
        </p:nvSpPr>
        <p:spPr>
          <a:xfrm>
            <a:off x="952500" y="2062411"/>
            <a:ext cx="14478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APR</a:t>
            </a:r>
            <a:endParaRPr lang="en-US" sz="1200" dirty="0"/>
          </a:p>
        </p:txBody>
      </p:sp>
      <p:sp>
        <p:nvSpPr>
          <p:cNvPr id="6" name="Text 4"/>
          <p:cNvSpPr/>
          <p:nvPr/>
        </p:nvSpPr>
        <p:spPr>
          <a:xfrm>
            <a:off x="952500" y="2336701"/>
            <a:ext cx="144780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13</a:t>
            </a:r>
            <a:r>
              <a:rPr lang="en-US" sz="1200" dirty="0">
                <a:solidFill>
                  <a:srgbClr val="18202A"/>
                </a:solidFill>
                <a:latin typeface="IBM Plex Sans" pitchFamily="34" charset="0"/>
                <a:ea typeface="IBM Plex Sans" pitchFamily="34" charset="-122"/>
                <a:cs typeface="IBM Plex Sans" pitchFamily="34" charset="-120"/>
              </a:rPr>
              <a:t> Cloudflare Sandbox SDK GA</a:t>
            </a:r>
            <a:endParaRPr lang="en-US" sz="1200" dirty="0"/>
          </a:p>
        </p:txBody>
      </p:sp>
      <p:sp>
        <p:nvSpPr>
          <p:cNvPr id="7" name="Text 5"/>
          <p:cNvSpPr/>
          <p:nvPr/>
        </p:nvSpPr>
        <p:spPr>
          <a:xfrm>
            <a:off x="952500" y="2809081"/>
            <a:ext cx="1447800" cy="61967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15</a:t>
            </a:r>
            <a:r>
              <a:rPr lang="en-US" sz="1200" dirty="0">
                <a:solidFill>
                  <a:srgbClr val="18202A"/>
                </a:solidFill>
                <a:latin typeface="IBM Plex Sans" pitchFamily="34" charset="0"/>
                <a:ea typeface="IBM Plex Sans" pitchFamily="34" charset="-122"/>
                <a:cs typeface="IBM Plex Sans" pitchFamily="34" charset="-120"/>
              </a:rPr>
              <a:t> OpenAI Agents SDK adds seven sandbox providers</a:t>
            </a:r>
            <a:endParaRPr lang="en-US" sz="1200" dirty="0"/>
          </a:p>
        </p:txBody>
      </p:sp>
      <p:sp>
        <p:nvSpPr>
          <p:cNvPr id="8" name="Shape 6"/>
          <p:cNvSpPr/>
          <p:nvPr/>
        </p:nvSpPr>
        <p:spPr>
          <a:xfrm>
            <a:off x="2597150" y="1929061"/>
            <a:ext cx="1663700" cy="2750493"/>
          </a:xfrm>
          <a:prstGeom prst="roundRect">
            <a:avLst>
              <a:gd name="adj" fmla="val 4198"/>
            </a:avLst>
          </a:prstGeom>
          <a:solidFill>
            <a:srgbClr val="FFFFFF"/>
          </a:solidFill>
          <a:ln w="12700">
            <a:solidFill>
              <a:srgbClr val="CDD2D8"/>
            </a:solidFill>
            <a:prstDash val="solid"/>
          </a:ln>
        </p:spPr>
      </p:sp>
      <p:sp>
        <p:nvSpPr>
          <p:cNvPr id="9" name="Text 7"/>
          <p:cNvSpPr/>
          <p:nvPr/>
        </p:nvSpPr>
        <p:spPr>
          <a:xfrm>
            <a:off x="2730500" y="2062411"/>
            <a:ext cx="14478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MAY</a:t>
            </a:r>
            <a:endParaRPr lang="en-US" sz="1200" dirty="0"/>
          </a:p>
        </p:txBody>
      </p:sp>
      <p:sp>
        <p:nvSpPr>
          <p:cNvPr id="10" name="Text 8"/>
          <p:cNvSpPr/>
          <p:nvPr/>
        </p:nvSpPr>
        <p:spPr>
          <a:xfrm>
            <a:off x="2730500" y="2336701"/>
            <a:ext cx="144780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14</a:t>
            </a:r>
            <a:r>
              <a:rPr lang="en-US" sz="1200" dirty="0">
                <a:solidFill>
                  <a:srgbClr val="18202A"/>
                </a:solidFill>
                <a:latin typeface="IBM Plex Sans" pitchFamily="34" charset="0"/>
                <a:ea typeface="IBM Plex Sans" pitchFamily="34" charset="-122"/>
                <a:cs typeface="IBM Plex Sans" pitchFamily="34" charset="-120"/>
              </a:rPr>
              <a:t> CoreWeave Sandboxes for RL</a:t>
            </a:r>
            <a:endParaRPr lang="en-US" sz="1200" dirty="0"/>
          </a:p>
        </p:txBody>
      </p:sp>
      <p:sp>
        <p:nvSpPr>
          <p:cNvPr id="11" name="Text 9"/>
          <p:cNvSpPr/>
          <p:nvPr/>
        </p:nvSpPr>
        <p:spPr>
          <a:xfrm>
            <a:off x="2730500" y="2809081"/>
            <a:ext cx="144780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19</a:t>
            </a:r>
            <a:r>
              <a:rPr lang="en-US" sz="1200" dirty="0">
                <a:solidFill>
                  <a:srgbClr val="18202A"/>
                </a:solidFill>
                <a:latin typeface="IBM Plex Sans" pitchFamily="34" charset="0"/>
                <a:ea typeface="IBM Plex Sans" pitchFamily="34" charset="-122"/>
                <a:cs typeface="IBM Plex Sans" pitchFamily="34" charset="-120"/>
              </a:rPr>
              <a:t> EnterpriseClaw ships on OpenShell</a:t>
            </a:r>
            <a:endParaRPr lang="en-US" sz="1200" dirty="0"/>
          </a:p>
        </p:txBody>
      </p:sp>
      <p:sp>
        <p:nvSpPr>
          <p:cNvPr id="12" name="Text 10"/>
          <p:cNvSpPr/>
          <p:nvPr/>
        </p:nvSpPr>
        <p:spPr>
          <a:xfrm>
            <a:off x="2730500" y="3281462"/>
            <a:ext cx="144780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20</a:t>
            </a:r>
            <a:r>
              <a:rPr lang="en-US" sz="1200" dirty="0">
                <a:solidFill>
                  <a:srgbClr val="18202A"/>
                </a:solidFill>
                <a:latin typeface="IBM Plex Sans" pitchFamily="34" charset="0"/>
                <a:ea typeface="IBM Plex Sans" pitchFamily="34" charset="-122"/>
                <a:cs typeface="IBM Plex Sans" pitchFamily="34" charset="-120"/>
              </a:rPr>
              <a:t> GKE Agent Sandbox GA</a:t>
            </a:r>
            <a:endParaRPr lang="en-US" sz="1200" dirty="0"/>
          </a:p>
        </p:txBody>
      </p:sp>
      <p:sp>
        <p:nvSpPr>
          <p:cNvPr id="13" name="Text 11"/>
          <p:cNvSpPr/>
          <p:nvPr/>
        </p:nvSpPr>
        <p:spPr>
          <a:xfrm>
            <a:off x="2730500" y="3753842"/>
            <a:ext cx="144780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21</a:t>
            </a:r>
            <a:r>
              <a:rPr lang="en-US" sz="1200" dirty="0">
                <a:solidFill>
                  <a:srgbClr val="18202A"/>
                </a:solidFill>
                <a:latin typeface="IBM Plex Sans" pitchFamily="34" charset="0"/>
                <a:ea typeface="IBM Plex Sans" pitchFamily="34" charset="-122"/>
                <a:cs typeface="IBM Plex Sans" pitchFamily="34" charset="-120"/>
              </a:rPr>
              <a:t> Modal raises $355M</a:t>
            </a:r>
            <a:endParaRPr lang="en-US" sz="1200" dirty="0"/>
          </a:p>
        </p:txBody>
      </p:sp>
      <p:sp>
        <p:nvSpPr>
          <p:cNvPr id="14" name="Shape 12"/>
          <p:cNvSpPr/>
          <p:nvPr/>
        </p:nvSpPr>
        <p:spPr>
          <a:xfrm>
            <a:off x="4375150" y="1929061"/>
            <a:ext cx="1663700" cy="2750493"/>
          </a:xfrm>
          <a:prstGeom prst="roundRect">
            <a:avLst>
              <a:gd name="adj" fmla="val 4198"/>
            </a:avLst>
          </a:prstGeom>
          <a:solidFill>
            <a:srgbClr val="FFFFFF"/>
          </a:solidFill>
          <a:ln w="12700">
            <a:solidFill>
              <a:srgbClr val="CDD2D8"/>
            </a:solidFill>
            <a:prstDash val="solid"/>
          </a:ln>
        </p:spPr>
      </p:sp>
      <p:sp>
        <p:nvSpPr>
          <p:cNvPr id="15" name="Text 13"/>
          <p:cNvSpPr/>
          <p:nvPr/>
        </p:nvSpPr>
        <p:spPr>
          <a:xfrm>
            <a:off x="4508500" y="2062411"/>
            <a:ext cx="14478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JUN</a:t>
            </a:r>
            <a:endParaRPr lang="en-US" sz="1200" dirty="0"/>
          </a:p>
        </p:txBody>
      </p:sp>
      <p:sp>
        <p:nvSpPr>
          <p:cNvPr id="16" name="Text 14"/>
          <p:cNvSpPr/>
          <p:nvPr/>
        </p:nvSpPr>
        <p:spPr>
          <a:xfrm>
            <a:off x="4508500" y="2336701"/>
            <a:ext cx="144780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11</a:t>
            </a:r>
            <a:r>
              <a:rPr lang="en-US" sz="1200" dirty="0">
                <a:solidFill>
                  <a:srgbClr val="18202A"/>
                </a:solidFill>
                <a:latin typeface="IBM Plex Sans" pitchFamily="34" charset="0"/>
                <a:ea typeface="IBM Plex Sans" pitchFamily="34" charset="-122"/>
                <a:cs typeface="IBM Plex Sans" pitchFamily="34" charset="-120"/>
              </a:rPr>
              <a:t> Daytona goes closed source</a:t>
            </a:r>
            <a:endParaRPr lang="en-US" sz="1200" dirty="0"/>
          </a:p>
        </p:txBody>
      </p:sp>
      <p:sp>
        <p:nvSpPr>
          <p:cNvPr id="17" name="Text 15"/>
          <p:cNvSpPr/>
          <p:nvPr/>
        </p:nvSpPr>
        <p:spPr>
          <a:xfrm>
            <a:off x="4508500" y="2809081"/>
            <a:ext cx="1447800" cy="61967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25</a:t>
            </a:r>
            <a:r>
              <a:rPr lang="en-US" sz="1200" dirty="0">
                <a:solidFill>
                  <a:srgbClr val="18202A"/>
                </a:solidFill>
                <a:latin typeface="IBM Plex Sans" pitchFamily="34" charset="0"/>
                <a:ea typeface="IBM Plex Sans" pitchFamily="34" charset="-122"/>
                <a:cs typeface="IBM Plex Sans" pitchFamily="34" charset="-120"/>
              </a:rPr>
              <a:t> Vercel AI SDK 7 adds a sandbox interface</a:t>
            </a:r>
            <a:endParaRPr lang="en-US" sz="1200" dirty="0"/>
          </a:p>
        </p:txBody>
      </p:sp>
      <p:sp>
        <p:nvSpPr>
          <p:cNvPr id="18" name="Shape 16"/>
          <p:cNvSpPr/>
          <p:nvPr/>
        </p:nvSpPr>
        <p:spPr>
          <a:xfrm>
            <a:off x="6153150" y="1929061"/>
            <a:ext cx="1663700" cy="2750493"/>
          </a:xfrm>
          <a:prstGeom prst="roundRect">
            <a:avLst>
              <a:gd name="adj" fmla="val 4198"/>
            </a:avLst>
          </a:prstGeom>
          <a:solidFill>
            <a:srgbClr val="FFFFFF"/>
          </a:solidFill>
          <a:ln w="12700">
            <a:solidFill>
              <a:srgbClr val="CDD2D8"/>
            </a:solidFill>
            <a:prstDash val="solid"/>
          </a:ln>
        </p:spPr>
      </p:sp>
      <p:sp>
        <p:nvSpPr>
          <p:cNvPr id="19" name="Text 17"/>
          <p:cNvSpPr/>
          <p:nvPr/>
        </p:nvSpPr>
        <p:spPr>
          <a:xfrm>
            <a:off x="6286500" y="2062411"/>
            <a:ext cx="14478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JUL</a:t>
            </a:r>
            <a:endParaRPr lang="en-US" sz="1200" dirty="0"/>
          </a:p>
        </p:txBody>
      </p:sp>
      <p:sp>
        <p:nvSpPr>
          <p:cNvPr id="20" name="Text 18"/>
          <p:cNvSpPr/>
          <p:nvPr/>
        </p:nvSpPr>
        <p:spPr>
          <a:xfrm>
            <a:off x="6286500" y="2336701"/>
            <a:ext cx="144780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6</a:t>
            </a:r>
            <a:r>
              <a:rPr lang="en-US" sz="1200" dirty="0">
                <a:solidFill>
                  <a:srgbClr val="18202A"/>
                </a:solidFill>
                <a:latin typeface="IBM Plex Sans" pitchFamily="34" charset="0"/>
                <a:ea typeface="IBM Plex Sans" pitchFamily="34" charset="-122"/>
                <a:cs typeface="IBM Plex Sans" pitchFamily="34" charset="-120"/>
              </a:rPr>
              <a:t> Daytona GPU sandboxes</a:t>
            </a:r>
            <a:endParaRPr lang="en-US" sz="1200" dirty="0"/>
          </a:p>
        </p:txBody>
      </p:sp>
      <p:sp>
        <p:nvSpPr>
          <p:cNvPr id="21" name="Text 19"/>
          <p:cNvSpPr/>
          <p:nvPr/>
        </p:nvSpPr>
        <p:spPr>
          <a:xfrm>
            <a:off x="6286500" y="2809081"/>
            <a:ext cx="1447800" cy="61967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21</a:t>
            </a:r>
            <a:r>
              <a:rPr lang="en-US" sz="1200" dirty="0">
                <a:solidFill>
                  <a:srgbClr val="18202A"/>
                </a:solidFill>
                <a:latin typeface="IBM Plex Sans" pitchFamily="34" charset="0"/>
                <a:ea typeface="IBM Plex Sans" pitchFamily="34" charset="-122"/>
                <a:cs typeface="IBM Plex Sans" pitchFamily="34" charset="-120"/>
              </a:rPr>
              <a:t> Devin Outposts run on E2B and Daytona</a:t>
            </a:r>
            <a:endParaRPr lang="en-US" sz="1200" dirty="0"/>
          </a:p>
        </p:txBody>
      </p:sp>
      <p:sp>
        <p:nvSpPr>
          <p:cNvPr id="22" name="Text 20"/>
          <p:cNvSpPr/>
          <p:nvPr/>
        </p:nvSpPr>
        <p:spPr>
          <a:xfrm>
            <a:off x="6286500" y="3479552"/>
            <a:ext cx="144780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27</a:t>
            </a:r>
            <a:r>
              <a:rPr lang="en-US" sz="1200" dirty="0">
                <a:solidFill>
                  <a:srgbClr val="18202A"/>
                </a:solidFill>
                <a:latin typeface="IBM Plex Sans" pitchFamily="34" charset="0"/>
                <a:ea typeface="IBM Plex Sans" pitchFamily="34" charset="-122"/>
                <a:cs typeface="IBM Plex Sans" pitchFamily="34" charset="-120"/>
              </a:rPr>
              <a:t> Open Secure AI Alliance launches</a:t>
            </a:r>
            <a:endParaRPr lang="en-US" sz="1200" dirty="0"/>
          </a:p>
        </p:txBody>
      </p:sp>
      <p:sp>
        <p:nvSpPr>
          <p:cNvPr id="23" name="Shape 21"/>
          <p:cNvSpPr/>
          <p:nvPr/>
        </p:nvSpPr>
        <p:spPr>
          <a:xfrm>
            <a:off x="7931150" y="1929061"/>
            <a:ext cx="1663700" cy="2750493"/>
          </a:xfrm>
          <a:prstGeom prst="roundRect">
            <a:avLst>
              <a:gd name="adj" fmla="val 4198"/>
            </a:avLst>
          </a:prstGeom>
          <a:solidFill>
            <a:srgbClr val="FFFFFF"/>
          </a:solidFill>
          <a:ln w="12700">
            <a:solidFill>
              <a:srgbClr val="CDD2D8"/>
            </a:solidFill>
            <a:prstDash val="solid"/>
          </a:ln>
        </p:spPr>
      </p:sp>
      <p:sp>
        <p:nvSpPr>
          <p:cNvPr id="24" name="Text 22"/>
          <p:cNvSpPr/>
          <p:nvPr/>
        </p:nvSpPr>
        <p:spPr>
          <a:xfrm>
            <a:off x="8064500" y="2062411"/>
            <a:ext cx="14478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AUG</a:t>
            </a:r>
            <a:endParaRPr lang="en-US" sz="1200" dirty="0"/>
          </a:p>
        </p:txBody>
      </p:sp>
      <p:sp>
        <p:nvSpPr>
          <p:cNvPr id="25" name="Text 23"/>
          <p:cNvSpPr/>
          <p:nvPr/>
        </p:nvSpPr>
        <p:spPr>
          <a:xfrm>
            <a:off x="8064500" y="2336701"/>
            <a:ext cx="1447800" cy="61967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6</a:t>
            </a:r>
            <a:r>
              <a:rPr lang="en-US" sz="1200" dirty="0">
                <a:solidFill>
                  <a:srgbClr val="18202A"/>
                </a:solidFill>
                <a:latin typeface="IBM Plex Sans" pitchFamily="34" charset="0"/>
                <a:ea typeface="IBM Plex Sans" pitchFamily="34" charset="-122"/>
                <a:cs typeface="IBM Plex Sans" pitchFamily="34" charset="-120"/>
              </a:rPr>
              <a:t> NeMo Gym adds Daytona and OpenShell providers</a:t>
            </a:r>
            <a:endParaRPr lang="en-US" sz="1200" dirty="0"/>
          </a:p>
        </p:txBody>
      </p:sp>
      <p:sp>
        <p:nvSpPr>
          <p:cNvPr id="26" name="Text 24"/>
          <p:cNvSpPr/>
          <p:nvPr/>
        </p:nvSpPr>
        <p:spPr>
          <a:xfrm>
            <a:off x="8064500" y="3007171"/>
            <a:ext cx="144780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6</a:t>
            </a:r>
            <a:r>
              <a:rPr lang="en-US" sz="1200" dirty="0">
                <a:solidFill>
                  <a:srgbClr val="18202A"/>
                </a:solidFill>
                <a:latin typeface="IBM Plex Sans" pitchFamily="34" charset="0"/>
                <a:ea typeface="IBM Plex Sans" pitchFamily="34" charset="-122"/>
                <a:cs typeface="IBM Plex Sans" pitchFamily="34" charset="-120"/>
              </a:rPr>
              <a:t> AWS AgentCore adds GPU instances</a:t>
            </a:r>
            <a:endParaRPr lang="en-US" sz="1200" dirty="0"/>
          </a:p>
        </p:txBody>
      </p:sp>
      <p:sp>
        <p:nvSpPr>
          <p:cNvPr id="27" name="Shape 25"/>
          <p:cNvSpPr/>
          <p:nvPr/>
        </p:nvSpPr>
        <p:spPr>
          <a:xfrm>
            <a:off x="9709150" y="1929061"/>
            <a:ext cx="1663700" cy="2750493"/>
          </a:xfrm>
          <a:prstGeom prst="roundRect">
            <a:avLst>
              <a:gd name="adj" fmla="val 4198"/>
            </a:avLst>
          </a:prstGeom>
          <a:solidFill>
            <a:srgbClr val="FFFFFF"/>
          </a:solidFill>
          <a:ln w="12700">
            <a:solidFill>
              <a:srgbClr val="CDD2D8"/>
            </a:solidFill>
            <a:prstDash val="solid"/>
          </a:ln>
        </p:spPr>
      </p:sp>
      <p:sp>
        <p:nvSpPr>
          <p:cNvPr id="28" name="Text 26"/>
          <p:cNvSpPr/>
          <p:nvPr/>
        </p:nvSpPr>
        <p:spPr>
          <a:xfrm>
            <a:off x="9842500" y="2062411"/>
            <a:ext cx="14478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SEP</a:t>
            </a:r>
            <a:endParaRPr lang="en-US" sz="1200" dirty="0"/>
          </a:p>
        </p:txBody>
      </p:sp>
      <p:sp>
        <p:nvSpPr>
          <p:cNvPr id="29" name="Text 27"/>
          <p:cNvSpPr/>
          <p:nvPr/>
        </p:nvSpPr>
        <p:spPr>
          <a:xfrm>
            <a:off x="9842500" y="2336701"/>
            <a:ext cx="144780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10</a:t>
            </a:r>
            <a:r>
              <a:rPr lang="en-US" sz="1200" dirty="0">
                <a:solidFill>
                  <a:srgbClr val="18202A"/>
                </a:solidFill>
                <a:latin typeface="IBM Plex Sans" pitchFamily="34" charset="0"/>
                <a:ea typeface="IBM Plex Sans" pitchFamily="34" charset="-122"/>
                <a:cs typeface="IBM Plex Sans" pitchFamily="34" charset="-120"/>
              </a:rPr>
              <a:t> Baseten buys Blaxel</a:t>
            </a:r>
            <a:endParaRPr lang="en-US" sz="1200" dirty="0"/>
          </a:p>
        </p:txBody>
      </p:sp>
      <p:sp>
        <p:nvSpPr>
          <p:cNvPr id="30" name="Text 28"/>
          <p:cNvSpPr/>
          <p:nvPr/>
        </p:nvSpPr>
        <p:spPr>
          <a:xfrm>
            <a:off x="9842500" y="2809081"/>
            <a:ext cx="144780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24</a:t>
            </a:r>
            <a:r>
              <a:rPr lang="en-US" sz="1200" dirty="0">
                <a:solidFill>
                  <a:srgbClr val="18202A"/>
                </a:solidFill>
                <a:latin typeface="IBM Plex Sans" pitchFamily="34" charset="0"/>
                <a:ea typeface="IBM Plex Sans" pitchFamily="34" charset="-122"/>
                <a:cs typeface="IBM Plex Sans" pitchFamily="34" charset="-120"/>
              </a:rPr>
              <a:t> Docker Cloud Sandboxes</a:t>
            </a:r>
            <a:endParaRPr lang="en-US" sz="1200" dirty="0"/>
          </a:p>
        </p:txBody>
      </p:sp>
      <p:sp>
        <p:nvSpPr>
          <p:cNvPr id="31" name="Text 29"/>
          <p:cNvSpPr/>
          <p:nvPr/>
        </p:nvSpPr>
        <p:spPr>
          <a:xfrm>
            <a:off x="9842500" y="3281462"/>
            <a:ext cx="1447800" cy="61967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25</a:t>
            </a:r>
            <a:r>
              <a:rPr lang="en-US" sz="1200" dirty="0">
                <a:solidFill>
                  <a:srgbClr val="18202A"/>
                </a:solidFill>
                <a:latin typeface="IBM Plex Sans" pitchFamily="34" charset="0"/>
                <a:ea typeface="IBM Plex Sans" pitchFamily="34" charset="-122"/>
                <a:cs typeface="IBM Plex Sans" pitchFamily="34" charset="-120"/>
              </a:rPr>
              <a:t> OpenShell 0.1.0 drops the inference router</a:t>
            </a:r>
            <a:endParaRPr lang="en-US" sz="1200" dirty="0"/>
          </a:p>
        </p:txBody>
      </p:sp>
      <p:sp>
        <p:nvSpPr>
          <p:cNvPr id="32" name="Text 30"/>
          <p:cNvSpPr/>
          <p:nvPr/>
        </p:nvSpPr>
        <p:spPr>
          <a:xfrm>
            <a:off x="9842500" y="3951932"/>
            <a:ext cx="1447800" cy="61967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28</a:t>
            </a:r>
            <a:r>
              <a:rPr lang="en-US" sz="1200" dirty="0">
                <a:solidFill>
                  <a:srgbClr val="18202A"/>
                </a:solidFill>
                <a:latin typeface="IBM Plex Sans" pitchFamily="34" charset="0"/>
                <a:ea typeface="IBM Plex Sans" pitchFamily="34" charset="-122"/>
                <a:cs typeface="IBM Plex Sans" pitchFamily="34" charset="-120"/>
              </a:rPr>
              <a:t> NVIDIA Open Agent Safety Platform</a:t>
            </a:r>
            <a:endParaRPr lang="en-US" sz="1200" dirty="0"/>
          </a:p>
        </p:txBody>
      </p:sp>
      <p:sp>
        <p:nvSpPr>
          <p:cNvPr id="33" name="Text 31"/>
          <p:cNvSpPr/>
          <p:nvPr/>
        </p:nvSpPr>
        <p:spPr>
          <a:xfrm>
            <a:off x="812800" y="4838303"/>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8202A"/>
                </a:solidFill>
                <a:latin typeface="IBM Plex Sans" pitchFamily="34" charset="0"/>
                <a:ea typeface="IBM Plex Sans" pitchFamily="34" charset="-122"/>
                <a:cs typeface="IBM Plex Sans" pitchFamily="34" charset="-120"/>
              </a:rPr>
              <a:t>Hosting became swappable inside the labs' own SDKs, which pushes sandbox vendors to compete on scale, GPUs, desktops and policy.</a:t>
            </a:r>
            <a:endParaRPr lang="en-US" sz="1400" dirty="0"/>
          </a:p>
        </p:txBody>
      </p:sp>
      <p:sp>
        <p:nvSpPr>
          <p:cNvPr id="34" name="Text 32"/>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2 · The market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Four demand pools drive sandbox volume</a:t>
            </a:r>
            <a:endParaRPr lang="en-US" sz="2800" dirty="0"/>
          </a:p>
        </p:txBody>
      </p:sp>
      <p:sp>
        <p:nvSpPr>
          <p:cNvPr id="3" name="Shape 1"/>
          <p:cNvSpPr/>
          <p:nvPr/>
        </p:nvSpPr>
        <p:spPr>
          <a:xfrm>
            <a:off x="819150" y="1431280"/>
            <a:ext cx="2514600" cy="3121323"/>
          </a:xfrm>
          <a:prstGeom prst="roundRect">
            <a:avLst>
              <a:gd name="adj" fmla="val 2778"/>
            </a:avLst>
          </a:prstGeom>
          <a:solidFill>
            <a:srgbClr val="FFFFFF"/>
          </a:solidFill>
          <a:ln w="12700">
            <a:solidFill>
              <a:srgbClr val="CDD2D8"/>
            </a:solidFill>
            <a:prstDash val="solid"/>
          </a:ln>
        </p:spPr>
      </p:sp>
      <p:sp>
        <p:nvSpPr>
          <p:cNvPr id="4" name="Text 2"/>
          <p:cNvSpPr/>
          <p:nvPr/>
        </p:nvSpPr>
        <p:spPr>
          <a:xfrm>
            <a:off x="1028700" y="1615430"/>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Coding agents</a:t>
            </a:r>
            <a:endParaRPr lang="en-US" sz="1200" dirty="0"/>
          </a:p>
        </p:txBody>
      </p:sp>
      <p:sp>
        <p:nvSpPr>
          <p:cNvPr id="5" name="Text 3"/>
          <p:cNvSpPr/>
          <p:nvPr/>
        </p:nvSpPr>
        <p:spPr>
          <a:xfrm>
            <a:off x="1028700" y="1877020"/>
            <a:ext cx="2158365"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8202A"/>
                </a:solidFill>
                <a:latin typeface="IBM Plex Sans" pitchFamily="34" charset="0"/>
                <a:ea typeface="IBM Plex Sans" pitchFamily="34" charset="-122"/>
                <a:cs typeface="IBM Plex Sans" pitchFamily="34" charset="-120"/>
              </a:rPr>
              <a:t>$2.5B+</a:t>
            </a:r>
            <a:endParaRPr lang="en-US" sz="2800" dirty="0"/>
          </a:p>
        </p:txBody>
      </p:sp>
      <p:sp>
        <p:nvSpPr>
          <p:cNvPr id="6" name="Text 4"/>
          <p:cNvSpPr/>
          <p:nvPr/>
        </p:nvSpPr>
        <p:spPr>
          <a:xfrm>
            <a:off x="1028700" y="2331641"/>
            <a:ext cx="2158365"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Claude Code run-rate, Feb 2026</a:t>
            </a:r>
            <a:endParaRPr lang="en-US" sz="1200" dirty="0"/>
          </a:p>
        </p:txBody>
      </p:sp>
      <p:sp>
        <p:nvSpPr>
          <p:cNvPr id="7" name="Text 5"/>
          <p:cNvSpPr/>
          <p:nvPr/>
        </p:nvSpPr>
        <p:spPr>
          <a:xfrm>
            <a:off x="1028700" y="2791321"/>
            <a:ext cx="2158365"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Cursor passed $1B annualized in Nov 2025. Each Codex or Copilot task runs in its own sandbox.</a:t>
            </a:r>
            <a:endParaRPr lang="en-US" sz="1200" dirty="0"/>
          </a:p>
        </p:txBody>
      </p:sp>
      <p:sp>
        <p:nvSpPr>
          <p:cNvPr id="8" name="Text 6"/>
          <p:cNvSpPr/>
          <p:nvPr/>
        </p:nvSpPr>
        <p:spPr>
          <a:xfrm>
            <a:off x="1028700" y="3710682"/>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NVIDIA angle</a:t>
            </a:r>
            <a:endParaRPr lang="en-US" sz="1200" dirty="0"/>
          </a:p>
        </p:txBody>
      </p:sp>
      <p:sp>
        <p:nvSpPr>
          <p:cNvPr id="9" name="Text 7"/>
          <p:cNvSpPr/>
          <p:nvPr/>
        </p:nvSpPr>
        <p:spPr>
          <a:xfrm>
            <a:off x="1028700" y="3972272"/>
            <a:ext cx="2158365"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Largest pool by sandbox-hours; the money is in tokens</a:t>
            </a:r>
            <a:endParaRPr lang="en-US" sz="1200" dirty="0"/>
          </a:p>
        </p:txBody>
      </p:sp>
      <p:sp>
        <p:nvSpPr>
          <p:cNvPr id="10" name="Shape 8"/>
          <p:cNvSpPr/>
          <p:nvPr/>
        </p:nvSpPr>
        <p:spPr>
          <a:xfrm>
            <a:off x="3498850" y="1431280"/>
            <a:ext cx="2514600" cy="3121323"/>
          </a:xfrm>
          <a:prstGeom prst="roundRect">
            <a:avLst>
              <a:gd name="adj" fmla="val 2778"/>
            </a:avLst>
          </a:prstGeom>
          <a:solidFill>
            <a:srgbClr val="FFFFFF"/>
          </a:solidFill>
          <a:ln w="12700">
            <a:solidFill>
              <a:srgbClr val="CDD2D8"/>
            </a:solidFill>
            <a:prstDash val="solid"/>
          </a:ln>
        </p:spPr>
      </p:sp>
      <p:sp>
        <p:nvSpPr>
          <p:cNvPr id="11" name="Text 9"/>
          <p:cNvSpPr/>
          <p:nvPr/>
        </p:nvSpPr>
        <p:spPr>
          <a:xfrm>
            <a:off x="3708400" y="1615430"/>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RL environments</a:t>
            </a:r>
            <a:endParaRPr lang="en-US" sz="1200" dirty="0"/>
          </a:p>
        </p:txBody>
      </p:sp>
      <p:sp>
        <p:nvSpPr>
          <p:cNvPr id="12" name="Text 10"/>
          <p:cNvSpPr/>
          <p:nvPr/>
        </p:nvSpPr>
        <p:spPr>
          <a:xfrm>
            <a:off x="3708400" y="1877020"/>
            <a:ext cx="2158365"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8202A"/>
                </a:solidFill>
                <a:latin typeface="IBM Plex Sans" pitchFamily="34" charset="0"/>
                <a:ea typeface="IBM Plex Sans" pitchFamily="34" charset="-122"/>
                <a:cs typeface="IBM Plex Sans" pitchFamily="34" charset="-120"/>
              </a:rPr>
              <a:t>~50%</a:t>
            </a:r>
            <a:endParaRPr lang="en-US" sz="2800" dirty="0"/>
          </a:p>
        </p:txBody>
      </p:sp>
      <p:sp>
        <p:nvSpPr>
          <p:cNvPr id="13" name="Text 11"/>
          <p:cNvSpPr/>
          <p:nvPr/>
        </p:nvSpPr>
        <p:spPr>
          <a:xfrm>
            <a:off x="3708400" y="2331641"/>
            <a:ext cx="2158365"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of Daytona usage is RL, May 2026</a:t>
            </a:r>
            <a:endParaRPr lang="en-US" sz="1200" dirty="0"/>
          </a:p>
        </p:txBody>
      </p:sp>
      <p:sp>
        <p:nvSpPr>
          <p:cNvPr id="14" name="Text 12"/>
          <p:cNvSpPr/>
          <p:nvPr/>
        </p:nvSpPr>
        <p:spPr>
          <a:xfrm>
            <a:off x="3708400" y="2791321"/>
            <a:ext cx="215836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One CoreWeave Vera rack runs 11,000+ environments at one core each.</a:t>
            </a:r>
            <a:endParaRPr lang="en-US" sz="1200" dirty="0"/>
          </a:p>
        </p:txBody>
      </p:sp>
      <p:sp>
        <p:nvSpPr>
          <p:cNvPr id="15" name="Text 13"/>
          <p:cNvSpPr/>
          <p:nvPr/>
        </p:nvSpPr>
        <p:spPr>
          <a:xfrm>
            <a:off x="3708400" y="3512592"/>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NVIDIA angle</a:t>
            </a:r>
            <a:endParaRPr lang="en-US" sz="1200" dirty="0"/>
          </a:p>
        </p:txBody>
      </p:sp>
      <p:sp>
        <p:nvSpPr>
          <p:cNvPr id="16" name="Text 14"/>
          <p:cNvSpPr/>
          <p:nvPr/>
        </p:nvSpPr>
        <p:spPr>
          <a:xfrm>
            <a:off x="3708400" y="3774182"/>
            <a:ext cx="215836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Fastest-growing CPU pool; Vera racks and GPU training hours</a:t>
            </a:r>
            <a:endParaRPr lang="en-US" sz="1200" dirty="0"/>
          </a:p>
        </p:txBody>
      </p:sp>
      <p:sp>
        <p:nvSpPr>
          <p:cNvPr id="17" name="Shape 15"/>
          <p:cNvSpPr/>
          <p:nvPr/>
        </p:nvSpPr>
        <p:spPr>
          <a:xfrm>
            <a:off x="6178550" y="1431280"/>
            <a:ext cx="2514600" cy="3121323"/>
          </a:xfrm>
          <a:prstGeom prst="roundRect">
            <a:avLst>
              <a:gd name="adj" fmla="val 2778"/>
            </a:avLst>
          </a:prstGeom>
          <a:solidFill>
            <a:srgbClr val="FFFFFF"/>
          </a:solidFill>
          <a:ln w="12700">
            <a:solidFill>
              <a:srgbClr val="CDD2D8"/>
            </a:solidFill>
            <a:prstDash val="solid"/>
          </a:ln>
        </p:spPr>
      </p:sp>
      <p:sp>
        <p:nvSpPr>
          <p:cNvPr id="18" name="Text 16"/>
          <p:cNvSpPr/>
          <p:nvPr/>
        </p:nvSpPr>
        <p:spPr>
          <a:xfrm>
            <a:off x="6388100" y="1615430"/>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Enterprise automation</a:t>
            </a:r>
            <a:endParaRPr lang="en-US" sz="1200" dirty="0"/>
          </a:p>
        </p:txBody>
      </p:sp>
      <p:sp>
        <p:nvSpPr>
          <p:cNvPr id="19" name="Text 17"/>
          <p:cNvSpPr/>
          <p:nvPr/>
        </p:nvSpPr>
        <p:spPr>
          <a:xfrm>
            <a:off x="6388100" y="1877020"/>
            <a:ext cx="2158365"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8202A"/>
                </a:solidFill>
                <a:latin typeface="IBM Plex Sans" pitchFamily="34" charset="0"/>
                <a:ea typeface="IBM Plex Sans" pitchFamily="34" charset="-122"/>
                <a:cs typeface="IBM Plex Sans" pitchFamily="34" charset="-120"/>
              </a:rPr>
              <a:t>0.5B</a:t>
            </a:r>
            <a:endParaRPr lang="en-US" sz="2800" dirty="0"/>
          </a:p>
        </p:txBody>
      </p:sp>
      <p:sp>
        <p:nvSpPr>
          <p:cNvPr id="20" name="Text 18"/>
          <p:cNvSpPr/>
          <p:nvPr/>
        </p:nvSpPr>
        <p:spPr>
          <a:xfrm>
            <a:off x="6388100" y="2331641"/>
            <a:ext cx="2158365"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Automation Anywhere executions a year</a:t>
            </a:r>
            <a:endParaRPr lang="en-US" sz="1200" dirty="0"/>
          </a:p>
        </p:txBody>
      </p:sp>
      <p:sp>
        <p:nvSpPr>
          <p:cNvPr id="21" name="Text 19"/>
          <p:cNvSpPr/>
          <p:nvPr/>
        </p:nvSpPr>
        <p:spPr>
          <a:xfrm>
            <a:off x="6388100" y="2791321"/>
            <a:ext cx="215836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Salesforce Agentforce ARR passed $1.5B; ServiceNow AI passed $1B ACV.</a:t>
            </a:r>
            <a:endParaRPr lang="en-US" sz="1200" dirty="0"/>
          </a:p>
        </p:txBody>
      </p:sp>
      <p:sp>
        <p:nvSpPr>
          <p:cNvPr id="22" name="Text 20"/>
          <p:cNvSpPr/>
          <p:nvPr/>
        </p:nvSpPr>
        <p:spPr>
          <a:xfrm>
            <a:off x="6388100" y="3512592"/>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NVIDIA angle</a:t>
            </a:r>
            <a:endParaRPr lang="en-US" sz="1200" dirty="0"/>
          </a:p>
        </p:txBody>
      </p:sp>
      <p:sp>
        <p:nvSpPr>
          <p:cNvPr id="23" name="Text 21"/>
          <p:cNvSpPr/>
          <p:nvPr/>
        </p:nvSpPr>
        <p:spPr>
          <a:xfrm>
            <a:off x="6388100" y="3774182"/>
            <a:ext cx="215836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Governance comes first; on-prem NIM, RTX PRO and OpenShell</a:t>
            </a:r>
            <a:endParaRPr lang="en-US" sz="1200" dirty="0"/>
          </a:p>
        </p:txBody>
      </p:sp>
      <p:sp>
        <p:nvSpPr>
          <p:cNvPr id="24" name="Shape 22"/>
          <p:cNvSpPr/>
          <p:nvPr/>
        </p:nvSpPr>
        <p:spPr>
          <a:xfrm>
            <a:off x="8858250" y="1431280"/>
            <a:ext cx="2514600" cy="3121323"/>
          </a:xfrm>
          <a:prstGeom prst="roundRect">
            <a:avLst>
              <a:gd name="adj" fmla="val 2778"/>
            </a:avLst>
          </a:prstGeom>
          <a:solidFill>
            <a:srgbClr val="FFFFFF"/>
          </a:solidFill>
          <a:ln w="12700">
            <a:solidFill>
              <a:srgbClr val="CDD2D8"/>
            </a:solidFill>
            <a:prstDash val="solid"/>
          </a:ln>
        </p:spPr>
      </p:sp>
      <p:sp>
        <p:nvSpPr>
          <p:cNvPr id="25" name="Text 23"/>
          <p:cNvSpPr/>
          <p:nvPr/>
        </p:nvSpPr>
        <p:spPr>
          <a:xfrm>
            <a:off x="9067800" y="1615430"/>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Computer use</a:t>
            </a:r>
            <a:endParaRPr lang="en-US" sz="1200" dirty="0"/>
          </a:p>
        </p:txBody>
      </p:sp>
      <p:sp>
        <p:nvSpPr>
          <p:cNvPr id="26" name="Text 24"/>
          <p:cNvSpPr/>
          <p:nvPr/>
        </p:nvSpPr>
        <p:spPr>
          <a:xfrm>
            <a:off x="9067800" y="1877020"/>
            <a:ext cx="2158365"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8202A"/>
                </a:solidFill>
                <a:latin typeface="IBM Plex Sans" pitchFamily="34" charset="0"/>
                <a:ea typeface="IBM Plex Sans" pitchFamily="34" charset="-122"/>
                <a:cs typeface="IBM Plex Sans" pitchFamily="34" charset="-120"/>
              </a:rPr>
              <a:t>4 of 4</a:t>
            </a:r>
            <a:endParaRPr lang="en-US" sz="2800" dirty="0"/>
          </a:p>
        </p:txBody>
      </p:sp>
      <p:sp>
        <p:nvSpPr>
          <p:cNvPr id="27" name="Text 25"/>
          <p:cNvSpPr/>
          <p:nvPr/>
        </p:nvSpPr>
        <p:spPr>
          <a:xfrm>
            <a:off x="9067800" y="2331641"/>
            <a:ext cx="2158365"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platforms here run UI or desktop agents</a:t>
            </a:r>
            <a:endParaRPr lang="en-US" sz="1200" dirty="0"/>
          </a:p>
        </p:txBody>
      </p:sp>
      <p:sp>
        <p:nvSpPr>
          <p:cNvPr id="28" name="Text 26"/>
          <p:cNvSpPr/>
          <p:nvPr/>
        </p:nvSpPr>
        <p:spPr>
          <a:xfrm>
            <a:off x="9067800" y="2791321"/>
            <a:ext cx="215836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Needs full desktop VMs, often Windows. Strongest isolation need, least usage data.</a:t>
            </a:r>
            <a:endParaRPr lang="en-US" sz="1200" dirty="0"/>
          </a:p>
        </p:txBody>
      </p:sp>
      <p:sp>
        <p:nvSpPr>
          <p:cNvPr id="29" name="Text 27"/>
          <p:cNvSpPr/>
          <p:nvPr/>
        </p:nvSpPr>
        <p:spPr>
          <a:xfrm>
            <a:off x="9067800" y="3710682"/>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NVIDIA angle</a:t>
            </a:r>
            <a:endParaRPr lang="en-US" sz="1200" dirty="0"/>
          </a:p>
        </p:txBody>
      </p:sp>
      <p:sp>
        <p:nvSpPr>
          <p:cNvPr id="30" name="Text 28"/>
          <p:cNvSpPr/>
          <p:nvPr/>
        </p:nvSpPr>
        <p:spPr>
          <a:xfrm>
            <a:off x="9067800" y="3972272"/>
            <a:ext cx="2158365"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OpenShell has no GUI or desktop support yet</a:t>
            </a:r>
            <a:endParaRPr lang="en-US" sz="1200" dirty="0"/>
          </a:p>
        </p:txBody>
      </p:sp>
      <p:sp>
        <p:nvSpPr>
          <p:cNvPr id="31" name="Text 29"/>
          <p:cNvSpPr/>
          <p:nvPr/>
        </p:nvSpPr>
        <p:spPr>
          <a:xfrm>
            <a:off x="812800" y="4762153"/>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8202A"/>
                </a:solidFill>
                <a:latin typeface="IBM Plex Sans" pitchFamily="34" charset="0"/>
                <a:ea typeface="IBM Plex Sans" pitchFamily="34" charset="-122"/>
                <a:cs typeface="IBM Plex Sans" pitchFamily="34" charset="-120"/>
              </a:rPr>
              <a:t>Through 2028, coding leads on sandbox-hours, RL grows fastest on CPU, automation leads on executions, and computer use needs the strongest isolation.</a:t>
            </a:r>
            <a:endParaRPr lang="en-US" sz="1400" dirty="0"/>
          </a:p>
        </p:txBody>
      </p:sp>
      <p:sp>
        <p:nvSpPr>
          <p:cNvPr id="32" name="Text 30"/>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2 · The market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Inference costs 20 to 70 times the sandbox</a:t>
            </a:r>
            <a:endParaRPr lang="en-US" sz="2800" dirty="0"/>
          </a:p>
        </p:txBody>
      </p:sp>
      <p:sp>
        <p:nvSpPr>
          <p:cNvPr id="3" name="Shape 1"/>
          <p:cNvSpPr/>
          <p:nvPr/>
        </p:nvSpPr>
        <p:spPr>
          <a:xfrm>
            <a:off x="819150" y="1405880"/>
            <a:ext cx="7099300" cy="3847802"/>
          </a:xfrm>
          <a:prstGeom prst="roundRect">
            <a:avLst>
              <a:gd name="adj" fmla="val 1815"/>
            </a:avLst>
          </a:prstGeom>
          <a:solidFill>
            <a:srgbClr val="FFFFFF"/>
          </a:solidFill>
          <a:ln w="12700">
            <a:solidFill>
              <a:srgbClr val="CDD2D8"/>
            </a:solidFill>
            <a:prstDash val="solid"/>
          </a:ln>
        </p:spPr>
      </p:sp>
      <p:sp>
        <p:nvSpPr>
          <p:cNvPr id="4" name="Text 2"/>
          <p:cNvSpPr/>
          <p:nvPr/>
        </p:nvSpPr>
        <p:spPr>
          <a:xfrm>
            <a:off x="1054100" y="1615430"/>
            <a:ext cx="682828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Illustrative · one 30-minute coding task</a:t>
            </a:r>
            <a:endParaRPr lang="en-US" sz="1200" dirty="0"/>
          </a:p>
        </p:txBody>
      </p:sp>
      <p:sp>
        <p:nvSpPr>
          <p:cNvPr id="5" name="Text 3"/>
          <p:cNvSpPr/>
          <p:nvPr/>
        </p:nvSpPr>
        <p:spPr>
          <a:xfrm>
            <a:off x="1054100" y="1915120"/>
            <a:ext cx="682828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Our assumptions: a 2 vCPU, 4 GiB sandbox; 50 model calls with 60,000-token contexts, 90% cache hits and 1,000 output tokens each, at list prices.</a:t>
            </a:r>
            <a:endParaRPr lang="en-US" sz="1200" dirty="0"/>
          </a:p>
        </p:txBody>
      </p:sp>
      <p:sp>
        <p:nvSpPr>
          <p:cNvPr id="6" name="Text 4"/>
          <p:cNvSpPr/>
          <p:nvPr/>
        </p:nvSpPr>
        <p:spPr>
          <a:xfrm>
            <a:off x="1054100" y="2514501"/>
            <a:ext cx="6828282"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Sandbox at E2B or Daytona list price</a:t>
            </a:r>
            <a:endParaRPr lang="en-US" sz="1200" dirty="0"/>
          </a:p>
        </p:txBody>
      </p:sp>
      <p:sp>
        <p:nvSpPr>
          <p:cNvPr id="7" name="Shape 5"/>
          <p:cNvSpPr/>
          <p:nvPr/>
        </p:nvSpPr>
        <p:spPr>
          <a:xfrm>
            <a:off x="1054100" y="2763391"/>
            <a:ext cx="266700" cy="279400"/>
          </a:xfrm>
          <a:prstGeom prst="roundRect">
            <a:avLst>
              <a:gd name="adj" fmla="val 9524"/>
            </a:avLst>
          </a:prstGeom>
          <a:solidFill>
            <a:srgbClr val="8C96A1"/>
          </a:solidFill>
          <a:ln/>
        </p:spPr>
      </p:sp>
      <p:sp>
        <p:nvSpPr>
          <p:cNvPr id="8" name="Text 6"/>
          <p:cNvSpPr/>
          <p:nvPr/>
        </p:nvSpPr>
        <p:spPr>
          <a:xfrm>
            <a:off x="1422400" y="2781151"/>
            <a:ext cx="65811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02A"/>
                </a:solidFill>
                <a:latin typeface="IBM Plex Sans" pitchFamily="34" charset="0"/>
                <a:ea typeface="IBM Plex Sans" pitchFamily="34" charset="-122"/>
                <a:cs typeface="IBM Plex Sans" pitchFamily="34" charset="-120"/>
              </a:rPr>
              <a:t>$0.08</a:t>
            </a:r>
            <a:endParaRPr lang="en-US" sz="1600" dirty="0"/>
          </a:p>
        </p:txBody>
      </p:sp>
      <p:sp>
        <p:nvSpPr>
          <p:cNvPr id="9" name="Text 7"/>
          <p:cNvSpPr/>
          <p:nvPr/>
        </p:nvSpPr>
        <p:spPr>
          <a:xfrm>
            <a:off x="1054100" y="3144391"/>
            <a:ext cx="6828282"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Inference for the same task</a:t>
            </a:r>
            <a:endParaRPr lang="en-US" sz="1200" dirty="0"/>
          </a:p>
        </p:txBody>
      </p:sp>
      <p:sp>
        <p:nvSpPr>
          <p:cNvPr id="10" name="Shape 8"/>
          <p:cNvSpPr/>
          <p:nvPr/>
        </p:nvSpPr>
        <p:spPr>
          <a:xfrm>
            <a:off x="1054100" y="3393281"/>
            <a:ext cx="5588000" cy="279400"/>
          </a:xfrm>
          <a:prstGeom prst="roundRect">
            <a:avLst>
              <a:gd name="adj" fmla="val 9091"/>
            </a:avLst>
          </a:prstGeom>
          <a:solidFill>
            <a:srgbClr val="18202A"/>
          </a:solidFill>
          <a:ln/>
        </p:spPr>
      </p:sp>
      <p:sp>
        <p:nvSpPr>
          <p:cNvPr id="11" name="Text 9"/>
          <p:cNvSpPr/>
          <p:nvPr/>
        </p:nvSpPr>
        <p:spPr>
          <a:xfrm>
            <a:off x="6743700" y="3411041"/>
            <a:ext cx="65811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02A"/>
                </a:solidFill>
                <a:latin typeface="IBM Plex Sans" pitchFamily="34" charset="0"/>
                <a:ea typeface="IBM Plex Sans" pitchFamily="34" charset="-122"/>
                <a:cs typeface="IBM Plex Sans" pitchFamily="34" charset="-120"/>
              </a:rPr>
              <a:t>$1.79</a:t>
            </a:r>
            <a:endParaRPr lang="en-US" sz="1600" dirty="0"/>
          </a:p>
        </p:txBody>
      </p:sp>
      <p:sp>
        <p:nvSpPr>
          <p:cNvPr id="12" name="Text 10"/>
          <p:cNvSpPr/>
          <p:nvPr/>
        </p:nvSpPr>
        <p:spPr>
          <a:xfrm>
            <a:off x="1054100" y="4647952"/>
            <a:ext cx="682828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With ten times fewer tokens the sandbox share rises to 12 to 32 percent, but it never becomes the main cost.</a:t>
            </a:r>
            <a:endParaRPr lang="en-US" sz="1200" dirty="0"/>
          </a:p>
        </p:txBody>
      </p:sp>
      <p:sp>
        <p:nvSpPr>
          <p:cNvPr id="13" name="Shape 11"/>
          <p:cNvSpPr/>
          <p:nvPr/>
        </p:nvSpPr>
        <p:spPr>
          <a:xfrm>
            <a:off x="8083550" y="1405880"/>
            <a:ext cx="3289300" cy="1206401"/>
          </a:xfrm>
          <a:prstGeom prst="roundRect">
            <a:avLst>
              <a:gd name="adj" fmla="val 5790"/>
            </a:avLst>
          </a:prstGeom>
          <a:solidFill>
            <a:srgbClr val="FFFFFF"/>
          </a:solidFill>
          <a:ln w="12700">
            <a:solidFill>
              <a:srgbClr val="CDD2D8"/>
            </a:solidFill>
            <a:prstDash val="solid"/>
          </a:ln>
        </p:spPr>
      </p:sp>
      <p:sp>
        <p:nvSpPr>
          <p:cNvPr id="14" name="Text 12"/>
          <p:cNvSpPr/>
          <p:nvPr/>
        </p:nvSpPr>
        <p:spPr>
          <a:xfrm>
            <a:off x="8267700" y="1539230"/>
            <a:ext cx="3008630"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1 : 4 to 1 : 1</a:t>
            </a:r>
            <a:endParaRPr lang="en-US" sz="2200" dirty="0"/>
          </a:p>
        </p:txBody>
      </p:sp>
      <p:sp>
        <p:nvSpPr>
          <p:cNvPr id="15" name="Text 13"/>
          <p:cNvSpPr/>
          <p:nvPr/>
        </p:nvSpPr>
        <p:spPr>
          <a:xfrm>
            <a:off x="8267700" y="1884660"/>
            <a:ext cx="300863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CPU to GPU ratio as agentic inference grows (Creative Strategies, quoted by Intel, Jun 2026)</a:t>
            </a:r>
            <a:endParaRPr lang="en-US" sz="1200" dirty="0"/>
          </a:p>
        </p:txBody>
      </p:sp>
      <p:sp>
        <p:nvSpPr>
          <p:cNvPr id="16" name="Shape 14"/>
          <p:cNvSpPr/>
          <p:nvPr/>
        </p:nvSpPr>
        <p:spPr>
          <a:xfrm>
            <a:off x="8083550" y="2726581"/>
            <a:ext cx="3289300" cy="1206401"/>
          </a:xfrm>
          <a:prstGeom prst="roundRect">
            <a:avLst>
              <a:gd name="adj" fmla="val 5790"/>
            </a:avLst>
          </a:prstGeom>
          <a:solidFill>
            <a:srgbClr val="FFFFFF"/>
          </a:solidFill>
          <a:ln w="12700">
            <a:solidFill>
              <a:srgbClr val="CDD2D8"/>
            </a:solidFill>
            <a:prstDash val="solid"/>
          </a:ln>
        </p:spPr>
      </p:sp>
      <p:sp>
        <p:nvSpPr>
          <p:cNvPr id="17" name="Text 15"/>
          <p:cNvSpPr/>
          <p:nvPr/>
        </p:nvSpPr>
        <p:spPr>
          <a:xfrm>
            <a:off x="8267700" y="2859931"/>
            <a:ext cx="3008630"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1.5x</a:t>
            </a:r>
            <a:endParaRPr lang="en-US" sz="2200" dirty="0"/>
          </a:p>
        </p:txBody>
      </p:sp>
      <p:sp>
        <p:nvSpPr>
          <p:cNvPr id="18" name="Text 16"/>
          <p:cNvSpPr/>
          <p:nvPr/>
        </p:nvSpPr>
        <p:spPr>
          <a:xfrm>
            <a:off x="8267700" y="3205361"/>
            <a:ext cx="300863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faster sandboxed coding on Vera than x86, measured by Perplexity; NVIDIA claims up to 1.8x</a:t>
            </a:r>
            <a:endParaRPr lang="en-US" sz="1200" dirty="0"/>
          </a:p>
        </p:txBody>
      </p:sp>
      <p:sp>
        <p:nvSpPr>
          <p:cNvPr id="19" name="Shape 17"/>
          <p:cNvSpPr/>
          <p:nvPr/>
        </p:nvSpPr>
        <p:spPr>
          <a:xfrm>
            <a:off x="8083550" y="4047282"/>
            <a:ext cx="3289300" cy="1206401"/>
          </a:xfrm>
          <a:prstGeom prst="roundRect">
            <a:avLst>
              <a:gd name="adj" fmla="val 5790"/>
            </a:avLst>
          </a:prstGeom>
          <a:solidFill>
            <a:srgbClr val="FFFFFF"/>
          </a:solidFill>
          <a:ln w="12700">
            <a:solidFill>
              <a:srgbClr val="CDD2D8"/>
            </a:solidFill>
            <a:prstDash val="solid"/>
          </a:ln>
        </p:spPr>
      </p:sp>
      <p:sp>
        <p:nvSpPr>
          <p:cNvPr id="20" name="Text 18"/>
          <p:cNvSpPr/>
          <p:nvPr/>
        </p:nvSpPr>
        <p:spPr>
          <a:xfrm>
            <a:off x="8267700" y="4180632"/>
            <a:ext cx="3008630"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8x+</a:t>
            </a:r>
            <a:endParaRPr lang="en-US" sz="2200" dirty="0"/>
          </a:p>
        </p:txBody>
      </p:sp>
      <p:sp>
        <p:nvSpPr>
          <p:cNvPr id="21" name="Text 19"/>
          <p:cNvSpPr/>
          <p:nvPr/>
        </p:nvSpPr>
        <p:spPr>
          <a:xfrm>
            <a:off x="8267700" y="4526062"/>
            <a:ext cx="300863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faster job completion when the KV cache is kept through tool calls (Continuum paper)</a:t>
            </a:r>
            <a:endParaRPr lang="en-US" sz="1200" dirty="0"/>
          </a:p>
        </p:txBody>
      </p:sp>
      <p:sp>
        <p:nvSpPr>
          <p:cNvPr id="22" name="Text 20"/>
          <p:cNvSpPr/>
          <p:nvPr/>
        </p:nvSpPr>
        <p:spPr>
          <a:xfrm>
            <a:off x="812800" y="5437832"/>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8202A"/>
                </a:solidFill>
                <a:latin typeface="IBM Plex Sans" pitchFamily="34" charset="0"/>
                <a:ea typeface="IBM Plex Sans" pitchFamily="34" charset="-122"/>
                <a:cs typeface="IBM Plex Sans" pitchFamily="34" charset="-120"/>
              </a:rPr>
              <a:t>The sandbox is 1 to 5 percent of task spend. NVIDIA's leverage is tokens, CPU attach and serving that knows when a tool call will return.</a:t>
            </a:r>
            <a:endParaRPr lang="en-US" sz="1400" dirty="0"/>
          </a:p>
        </p:txBody>
      </p:sp>
      <p:sp>
        <p:nvSpPr>
          <p:cNvPr id="23" name="Text 21"/>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2 · The market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Sandbox list prices span about 5x</a:t>
            </a:r>
            <a:endParaRPr lang="en-US" sz="2800" dirty="0"/>
          </a:p>
        </p:txBody>
      </p:sp>
      <p:sp>
        <p:nvSpPr>
          <p:cNvPr id="3" name="Text 1"/>
          <p:cNvSpPr/>
          <p:nvPr/>
        </p:nvSpPr>
        <p:spPr>
          <a:xfrm>
            <a:off x="812800" y="127253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563"/>
                </a:solidFill>
                <a:latin typeface="IBM Plex Sans" pitchFamily="34" charset="0"/>
                <a:ea typeface="IBM Plex Sans" pitchFamily="34" charset="-122"/>
                <a:cs typeface="IBM Plex Sans" pitchFamily="34" charset="-120"/>
              </a:rPr>
              <a:t>One hour of 1 vCPU and 2 GiB at list price on October 1, 2026. Dark bars are the five providers in this study.</a:t>
            </a:r>
            <a:endParaRPr lang="en-US" sz="1400" dirty="0"/>
          </a:p>
        </p:txBody>
      </p:sp>
      <p:sp>
        <p:nvSpPr>
          <p:cNvPr id="4" name="Text 2"/>
          <p:cNvSpPr/>
          <p:nvPr/>
        </p:nvSpPr>
        <p:spPr>
          <a:xfrm>
            <a:off x="812800" y="1673820"/>
            <a:ext cx="340106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Northflank</a:t>
            </a:r>
            <a:endParaRPr lang="en-US" sz="1200" dirty="0"/>
          </a:p>
        </p:txBody>
      </p:sp>
      <p:sp>
        <p:nvSpPr>
          <p:cNvPr id="5" name="Shape 3"/>
          <p:cNvSpPr/>
          <p:nvPr/>
        </p:nvSpPr>
        <p:spPr>
          <a:xfrm>
            <a:off x="4241800" y="1683941"/>
            <a:ext cx="1111250" cy="177800"/>
          </a:xfrm>
          <a:prstGeom prst="roundRect">
            <a:avLst>
              <a:gd name="adj" fmla="val 14286"/>
            </a:avLst>
          </a:prstGeom>
          <a:solidFill>
            <a:srgbClr val="B8BFC7"/>
          </a:solidFill>
          <a:ln/>
        </p:spPr>
      </p:sp>
      <p:sp>
        <p:nvSpPr>
          <p:cNvPr id="6" name="Text 4"/>
          <p:cNvSpPr/>
          <p:nvPr/>
        </p:nvSpPr>
        <p:spPr>
          <a:xfrm>
            <a:off x="5480050" y="1673820"/>
            <a:ext cx="598051"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$0.033</a:t>
            </a:r>
            <a:endParaRPr lang="en-US" sz="1200" dirty="0"/>
          </a:p>
        </p:txBody>
      </p:sp>
      <p:sp>
        <p:nvSpPr>
          <p:cNvPr id="7" name="Text 5"/>
          <p:cNvSpPr/>
          <p:nvPr/>
        </p:nvSpPr>
        <p:spPr>
          <a:xfrm>
            <a:off x="812800" y="1935411"/>
            <a:ext cx="340106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AWS Fargate, a plain container (x86)</a:t>
            </a:r>
            <a:endParaRPr lang="en-US" sz="1200" dirty="0"/>
          </a:p>
        </p:txBody>
      </p:sp>
      <p:sp>
        <p:nvSpPr>
          <p:cNvPr id="8" name="Shape 6"/>
          <p:cNvSpPr/>
          <p:nvPr/>
        </p:nvSpPr>
        <p:spPr>
          <a:xfrm>
            <a:off x="4241800" y="1945531"/>
            <a:ext cx="1644650" cy="177800"/>
          </a:xfrm>
          <a:prstGeom prst="roundRect">
            <a:avLst>
              <a:gd name="adj" fmla="val 14286"/>
            </a:avLst>
          </a:prstGeom>
          <a:solidFill>
            <a:srgbClr val="B8BFC7"/>
          </a:solidFill>
          <a:ln/>
        </p:spPr>
      </p:sp>
      <p:sp>
        <p:nvSpPr>
          <p:cNvPr id="9" name="Text 7"/>
          <p:cNvSpPr/>
          <p:nvPr/>
        </p:nvSpPr>
        <p:spPr>
          <a:xfrm>
            <a:off x="6013450" y="1935411"/>
            <a:ext cx="598051"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$0.049</a:t>
            </a:r>
            <a:endParaRPr lang="en-US" sz="1200" dirty="0"/>
          </a:p>
        </p:txBody>
      </p:sp>
      <p:sp>
        <p:nvSpPr>
          <p:cNvPr id="10" name="Text 8"/>
          <p:cNvSpPr/>
          <p:nvPr/>
        </p:nvSpPr>
        <p:spPr>
          <a:xfrm>
            <a:off x="812800" y="2197001"/>
            <a:ext cx="340106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Docker Cloud Sandboxes</a:t>
            </a:r>
            <a:endParaRPr lang="en-US" sz="1200" dirty="0"/>
          </a:p>
        </p:txBody>
      </p:sp>
      <p:sp>
        <p:nvSpPr>
          <p:cNvPr id="11" name="Shape 9"/>
          <p:cNvSpPr/>
          <p:nvPr/>
        </p:nvSpPr>
        <p:spPr>
          <a:xfrm>
            <a:off x="4241800" y="2207121"/>
            <a:ext cx="2355850" cy="177800"/>
          </a:xfrm>
          <a:prstGeom prst="roundRect">
            <a:avLst>
              <a:gd name="adj" fmla="val 14286"/>
            </a:avLst>
          </a:prstGeom>
          <a:solidFill>
            <a:srgbClr val="B8BFC7"/>
          </a:solidFill>
          <a:ln/>
        </p:spPr>
      </p:sp>
      <p:sp>
        <p:nvSpPr>
          <p:cNvPr id="12" name="Text 10"/>
          <p:cNvSpPr/>
          <p:nvPr/>
        </p:nvSpPr>
        <p:spPr>
          <a:xfrm>
            <a:off x="6724650" y="2197001"/>
            <a:ext cx="598051"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$0.070</a:t>
            </a:r>
            <a:endParaRPr lang="en-US" sz="1200" dirty="0"/>
          </a:p>
        </p:txBody>
      </p:sp>
      <p:sp>
        <p:nvSpPr>
          <p:cNvPr id="13" name="Text 11"/>
          <p:cNvSpPr/>
          <p:nvPr/>
        </p:nvSpPr>
        <p:spPr>
          <a:xfrm>
            <a:off x="812800" y="2458591"/>
            <a:ext cx="340106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E2B</a:t>
            </a:r>
            <a:endParaRPr lang="en-US" sz="1200" dirty="0"/>
          </a:p>
        </p:txBody>
      </p:sp>
      <p:sp>
        <p:nvSpPr>
          <p:cNvPr id="14" name="Shape 12"/>
          <p:cNvSpPr/>
          <p:nvPr/>
        </p:nvSpPr>
        <p:spPr>
          <a:xfrm>
            <a:off x="4241800" y="2468711"/>
            <a:ext cx="2787650" cy="177800"/>
          </a:xfrm>
          <a:prstGeom prst="roundRect">
            <a:avLst>
              <a:gd name="adj" fmla="val 14286"/>
            </a:avLst>
          </a:prstGeom>
          <a:solidFill>
            <a:srgbClr val="18202A"/>
          </a:solidFill>
          <a:ln/>
        </p:spPr>
      </p:sp>
      <p:sp>
        <p:nvSpPr>
          <p:cNvPr id="15" name="Text 13"/>
          <p:cNvSpPr/>
          <p:nvPr/>
        </p:nvSpPr>
        <p:spPr>
          <a:xfrm>
            <a:off x="7156450" y="2458591"/>
            <a:ext cx="603349"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$0.083</a:t>
            </a:r>
            <a:endParaRPr lang="en-US" sz="1200" dirty="0"/>
          </a:p>
        </p:txBody>
      </p:sp>
      <p:sp>
        <p:nvSpPr>
          <p:cNvPr id="16" name="Text 14"/>
          <p:cNvSpPr/>
          <p:nvPr/>
        </p:nvSpPr>
        <p:spPr>
          <a:xfrm>
            <a:off x="812800" y="2720181"/>
            <a:ext cx="340106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Daytona</a:t>
            </a:r>
            <a:endParaRPr lang="en-US" sz="1200" dirty="0"/>
          </a:p>
        </p:txBody>
      </p:sp>
      <p:sp>
        <p:nvSpPr>
          <p:cNvPr id="17" name="Shape 15"/>
          <p:cNvSpPr/>
          <p:nvPr/>
        </p:nvSpPr>
        <p:spPr>
          <a:xfrm>
            <a:off x="4241800" y="2730302"/>
            <a:ext cx="2787650" cy="177800"/>
          </a:xfrm>
          <a:prstGeom prst="roundRect">
            <a:avLst>
              <a:gd name="adj" fmla="val 14286"/>
            </a:avLst>
          </a:prstGeom>
          <a:solidFill>
            <a:srgbClr val="18202A"/>
          </a:solidFill>
          <a:ln/>
        </p:spPr>
      </p:sp>
      <p:sp>
        <p:nvSpPr>
          <p:cNvPr id="18" name="Text 16"/>
          <p:cNvSpPr/>
          <p:nvPr/>
        </p:nvSpPr>
        <p:spPr>
          <a:xfrm>
            <a:off x="7156450" y="2720181"/>
            <a:ext cx="603349"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$0.083</a:t>
            </a:r>
            <a:endParaRPr lang="en-US" sz="1200" dirty="0"/>
          </a:p>
        </p:txBody>
      </p:sp>
      <p:sp>
        <p:nvSpPr>
          <p:cNvPr id="19" name="Text 17"/>
          <p:cNvSpPr/>
          <p:nvPr/>
        </p:nvSpPr>
        <p:spPr>
          <a:xfrm>
            <a:off x="812800" y="2981771"/>
            <a:ext cx="340106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Cua</a:t>
            </a:r>
            <a:endParaRPr lang="en-US" sz="1200" dirty="0"/>
          </a:p>
        </p:txBody>
      </p:sp>
      <p:sp>
        <p:nvSpPr>
          <p:cNvPr id="20" name="Shape 18"/>
          <p:cNvSpPr/>
          <p:nvPr/>
        </p:nvSpPr>
        <p:spPr>
          <a:xfrm>
            <a:off x="4241800" y="2991892"/>
            <a:ext cx="2990850" cy="177800"/>
          </a:xfrm>
          <a:prstGeom prst="roundRect">
            <a:avLst>
              <a:gd name="adj" fmla="val 14286"/>
            </a:avLst>
          </a:prstGeom>
          <a:solidFill>
            <a:srgbClr val="18202A"/>
          </a:solidFill>
          <a:ln/>
        </p:spPr>
      </p:sp>
      <p:sp>
        <p:nvSpPr>
          <p:cNvPr id="21" name="Text 19"/>
          <p:cNvSpPr/>
          <p:nvPr/>
        </p:nvSpPr>
        <p:spPr>
          <a:xfrm>
            <a:off x="7359650" y="2981771"/>
            <a:ext cx="603349"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$0.089</a:t>
            </a:r>
            <a:endParaRPr lang="en-US" sz="1200" dirty="0"/>
          </a:p>
        </p:txBody>
      </p:sp>
      <p:sp>
        <p:nvSpPr>
          <p:cNvPr id="22" name="Text 20"/>
          <p:cNvSpPr/>
          <p:nvPr/>
        </p:nvSpPr>
        <p:spPr>
          <a:xfrm>
            <a:off x="812800" y="3243362"/>
            <a:ext cx="340106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Cloudflare, active CPU only</a:t>
            </a:r>
            <a:endParaRPr lang="en-US" sz="1200" dirty="0"/>
          </a:p>
        </p:txBody>
      </p:sp>
      <p:sp>
        <p:nvSpPr>
          <p:cNvPr id="23" name="Shape 21"/>
          <p:cNvSpPr/>
          <p:nvPr/>
        </p:nvSpPr>
        <p:spPr>
          <a:xfrm>
            <a:off x="4241800" y="3253482"/>
            <a:ext cx="3022600" cy="177800"/>
          </a:xfrm>
          <a:prstGeom prst="roundRect">
            <a:avLst>
              <a:gd name="adj" fmla="val 14286"/>
            </a:avLst>
          </a:prstGeom>
          <a:solidFill>
            <a:srgbClr val="B8BFC7"/>
          </a:solidFill>
          <a:ln/>
        </p:spPr>
      </p:sp>
      <p:sp>
        <p:nvSpPr>
          <p:cNvPr id="24" name="Text 22"/>
          <p:cNvSpPr/>
          <p:nvPr/>
        </p:nvSpPr>
        <p:spPr>
          <a:xfrm>
            <a:off x="7391400" y="3243362"/>
            <a:ext cx="598051"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$0.090</a:t>
            </a:r>
            <a:endParaRPr lang="en-US" sz="1200" dirty="0"/>
          </a:p>
        </p:txBody>
      </p:sp>
      <p:sp>
        <p:nvSpPr>
          <p:cNvPr id="25" name="Text 23"/>
          <p:cNvSpPr/>
          <p:nvPr/>
        </p:nvSpPr>
        <p:spPr>
          <a:xfrm>
            <a:off x="812800" y="3504952"/>
            <a:ext cx="340106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AWS AgentCore, first-generation rate</a:t>
            </a:r>
            <a:endParaRPr lang="en-US" sz="1200" dirty="0"/>
          </a:p>
        </p:txBody>
      </p:sp>
      <p:sp>
        <p:nvSpPr>
          <p:cNvPr id="26" name="Shape 24"/>
          <p:cNvSpPr/>
          <p:nvPr/>
        </p:nvSpPr>
        <p:spPr>
          <a:xfrm>
            <a:off x="4241800" y="3515072"/>
            <a:ext cx="3632200" cy="177800"/>
          </a:xfrm>
          <a:prstGeom prst="roundRect">
            <a:avLst>
              <a:gd name="adj" fmla="val 14286"/>
            </a:avLst>
          </a:prstGeom>
          <a:solidFill>
            <a:srgbClr val="B8BFC7"/>
          </a:solidFill>
          <a:ln/>
        </p:spPr>
      </p:sp>
      <p:sp>
        <p:nvSpPr>
          <p:cNvPr id="27" name="Text 25"/>
          <p:cNvSpPr/>
          <p:nvPr/>
        </p:nvSpPr>
        <p:spPr>
          <a:xfrm>
            <a:off x="8001000" y="3504952"/>
            <a:ext cx="598051"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$0.108</a:t>
            </a:r>
            <a:endParaRPr lang="en-US" sz="1200" dirty="0"/>
          </a:p>
        </p:txBody>
      </p:sp>
      <p:sp>
        <p:nvSpPr>
          <p:cNvPr id="28" name="Text 26"/>
          <p:cNvSpPr/>
          <p:nvPr/>
        </p:nvSpPr>
        <p:spPr>
          <a:xfrm>
            <a:off x="812800" y="3766542"/>
            <a:ext cx="340106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Modal Sandboxes</a:t>
            </a:r>
            <a:endParaRPr lang="en-US" sz="1200" dirty="0"/>
          </a:p>
        </p:txBody>
      </p:sp>
      <p:sp>
        <p:nvSpPr>
          <p:cNvPr id="29" name="Shape 27"/>
          <p:cNvSpPr/>
          <p:nvPr/>
        </p:nvSpPr>
        <p:spPr>
          <a:xfrm>
            <a:off x="4241800" y="3776662"/>
            <a:ext cx="4000500" cy="177800"/>
          </a:xfrm>
          <a:prstGeom prst="roundRect">
            <a:avLst>
              <a:gd name="adj" fmla="val 14286"/>
            </a:avLst>
          </a:prstGeom>
          <a:solidFill>
            <a:srgbClr val="B8BFC7"/>
          </a:solidFill>
          <a:ln/>
        </p:spPr>
      </p:sp>
      <p:sp>
        <p:nvSpPr>
          <p:cNvPr id="30" name="Text 28"/>
          <p:cNvSpPr/>
          <p:nvPr/>
        </p:nvSpPr>
        <p:spPr>
          <a:xfrm>
            <a:off x="8369300" y="3766542"/>
            <a:ext cx="598051"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$0.119</a:t>
            </a:r>
            <a:endParaRPr lang="en-US" sz="1200" dirty="0"/>
          </a:p>
        </p:txBody>
      </p:sp>
      <p:sp>
        <p:nvSpPr>
          <p:cNvPr id="31" name="Text 29"/>
          <p:cNvSpPr/>
          <p:nvPr/>
        </p:nvSpPr>
        <p:spPr>
          <a:xfrm>
            <a:off x="812800" y="4028132"/>
            <a:ext cx="340106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Runloop</a:t>
            </a:r>
            <a:endParaRPr lang="en-US" sz="1200" dirty="0"/>
          </a:p>
        </p:txBody>
      </p:sp>
      <p:sp>
        <p:nvSpPr>
          <p:cNvPr id="32" name="Shape 30"/>
          <p:cNvSpPr/>
          <p:nvPr/>
        </p:nvSpPr>
        <p:spPr>
          <a:xfrm>
            <a:off x="4241800" y="4038253"/>
            <a:ext cx="5308600" cy="177800"/>
          </a:xfrm>
          <a:prstGeom prst="roundRect">
            <a:avLst>
              <a:gd name="adj" fmla="val 14286"/>
            </a:avLst>
          </a:prstGeom>
          <a:solidFill>
            <a:srgbClr val="18202A"/>
          </a:solidFill>
          <a:ln/>
        </p:spPr>
      </p:sp>
      <p:sp>
        <p:nvSpPr>
          <p:cNvPr id="33" name="Text 31"/>
          <p:cNvSpPr/>
          <p:nvPr/>
        </p:nvSpPr>
        <p:spPr>
          <a:xfrm>
            <a:off x="9677400" y="4028132"/>
            <a:ext cx="603349"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$0.158</a:t>
            </a:r>
            <a:endParaRPr lang="en-US" sz="1200" dirty="0"/>
          </a:p>
        </p:txBody>
      </p:sp>
      <p:sp>
        <p:nvSpPr>
          <p:cNvPr id="34" name="Text 32"/>
          <p:cNvSpPr/>
          <p:nvPr/>
        </p:nvSpPr>
        <p:spPr>
          <a:xfrm>
            <a:off x="812800" y="4289723"/>
            <a:ext cx="340106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AWS AgentCore Runtime V2, on demand</a:t>
            </a:r>
            <a:endParaRPr lang="en-US" sz="1200" dirty="0"/>
          </a:p>
        </p:txBody>
      </p:sp>
      <p:sp>
        <p:nvSpPr>
          <p:cNvPr id="35" name="Shape 33"/>
          <p:cNvSpPr/>
          <p:nvPr/>
        </p:nvSpPr>
        <p:spPr>
          <a:xfrm>
            <a:off x="4241800" y="4299843"/>
            <a:ext cx="5410200" cy="177800"/>
          </a:xfrm>
          <a:prstGeom prst="roundRect">
            <a:avLst>
              <a:gd name="adj" fmla="val 14286"/>
            </a:avLst>
          </a:prstGeom>
          <a:solidFill>
            <a:srgbClr val="B8BFC7"/>
          </a:solidFill>
          <a:ln/>
        </p:spPr>
      </p:sp>
      <p:sp>
        <p:nvSpPr>
          <p:cNvPr id="36" name="Text 34"/>
          <p:cNvSpPr/>
          <p:nvPr/>
        </p:nvSpPr>
        <p:spPr>
          <a:xfrm>
            <a:off x="9779000" y="4289723"/>
            <a:ext cx="598051"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$0.161</a:t>
            </a:r>
            <a:endParaRPr lang="en-US" sz="1200" dirty="0"/>
          </a:p>
        </p:txBody>
      </p:sp>
      <p:sp>
        <p:nvSpPr>
          <p:cNvPr id="37" name="Text 35"/>
          <p:cNvSpPr/>
          <p:nvPr/>
        </p:nvSpPr>
        <p:spPr>
          <a:xfrm>
            <a:off x="812800" y="4551313"/>
            <a:ext cx="340106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Vercel Sandbox, CPU fully busy</a:t>
            </a:r>
            <a:endParaRPr lang="en-US" sz="1200" dirty="0"/>
          </a:p>
        </p:txBody>
      </p:sp>
      <p:sp>
        <p:nvSpPr>
          <p:cNvPr id="38" name="Shape 36"/>
          <p:cNvSpPr/>
          <p:nvPr/>
        </p:nvSpPr>
        <p:spPr>
          <a:xfrm>
            <a:off x="4241800" y="4561433"/>
            <a:ext cx="5715000" cy="177800"/>
          </a:xfrm>
          <a:prstGeom prst="roundRect">
            <a:avLst>
              <a:gd name="adj" fmla="val 14286"/>
            </a:avLst>
          </a:prstGeom>
          <a:solidFill>
            <a:srgbClr val="18202A"/>
          </a:solidFill>
          <a:ln/>
        </p:spPr>
      </p:sp>
      <p:sp>
        <p:nvSpPr>
          <p:cNvPr id="39" name="Text 37"/>
          <p:cNvSpPr/>
          <p:nvPr/>
        </p:nvSpPr>
        <p:spPr>
          <a:xfrm>
            <a:off x="10083800" y="4551313"/>
            <a:ext cx="603349"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$0.170</a:t>
            </a:r>
            <a:endParaRPr lang="en-US" sz="1200" dirty="0"/>
          </a:p>
        </p:txBody>
      </p:sp>
      <p:sp>
        <p:nvSpPr>
          <p:cNvPr id="40" name="Text 3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Vercel and Cloudflare bill active CPU only; at 10% busy Vercel is $0.055. Sources: vendor pricing pages; normalization is our arithmetic.</a:t>
            </a:r>
            <a:endParaRPr lang="en-US" sz="1200" dirty="0"/>
          </a:p>
        </p:txBody>
      </p:sp>
      <p:sp>
        <p:nvSpPr>
          <p:cNvPr id="41" name="Text 39"/>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2 · The market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OpenShell is a policy layer over other sandboxes</a:t>
            </a:r>
            <a:endParaRPr lang="en-US" sz="2800" dirty="0"/>
          </a:p>
        </p:txBody>
      </p:sp>
      <p:sp>
        <p:nvSpPr>
          <p:cNvPr id="3" name="Shape 1"/>
          <p:cNvSpPr/>
          <p:nvPr/>
        </p:nvSpPr>
        <p:spPr>
          <a:xfrm>
            <a:off x="819150" y="1405880"/>
            <a:ext cx="6591300" cy="612080"/>
          </a:xfrm>
          <a:prstGeom prst="roundRect">
            <a:avLst>
              <a:gd name="adj" fmla="val 11412"/>
            </a:avLst>
          </a:prstGeom>
          <a:solidFill>
            <a:srgbClr val="FFFFFF"/>
          </a:solidFill>
          <a:ln w="12700">
            <a:solidFill>
              <a:srgbClr val="CDD2D8"/>
            </a:solidFill>
            <a:prstDash val="solid"/>
          </a:ln>
        </p:spPr>
      </p:sp>
      <p:sp>
        <p:nvSpPr>
          <p:cNvPr id="4" name="Text 2"/>
          <p:cNvSpPr/>
          <p:nvPr/>
        </p:nvSpPr>
        <p:spPr>
          <a:xfrm>
            <a:off x="977900" y="1612850"/>
            <a:ext cx="17399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1 · Agent harness</a:t>
            </a:r>
            <a:endParaRPr lang="en-US" sz="1200" dirty="0"/>
          </a:p>
        </p:txBody>
      </p:sp>
      <p:sp>
        <p:nvSpPr>
          <p:cNvPr id="5" name="Text 3"/>
          <p:cNvSpPr/>
          <p:nvPr/>
        </p:nvSpPr>
        <p:spPr>
          <a:xfrm>
            <a:off x="2717800" y="1513830"/>
            <a:ext cx="466991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Claude Code, Codex, OpenCode, Copilot CLI; OpenClaw and Hermes through NemoClaw</a:t>
            </a:r>
            <a:endParaRPr lang="en-US" sz="1200" dirty="0"/>
          </a:p>
        </p:txBody>
      </p:sp>
      <p:sp>
        <p:nvSpPr>
          <p:cNvPr id="6" name="Shape 4"/>
          <p:cNvSpPr/>
          <p:nvPr/>
        </p:nvSpPr>
        <p:spPr>
          <a:xfrm>
            <a:off x="819150" y="2132261"/>
            <a:ext cx="6591300" cy="1539081"/>
          </a:xfrm>
          <a:prstGeom prst="roundRect">
            <a:avLst>
              <a:gd name="adj" fmla="val 4538"/>
            </a:avLst>
          </a:prstGeom>
          <a:solidFill>
            <a:srgbClr val="FFFFFF"/>
          </a:solidFill>
          <a:ln w="12700">
            <a:solidFill>
              <a:srgbClr val="18202A"/>
            </a:solidFill>
            <a:prstDash val="solid"/>
          </a:ln>
        </p:spPr>
      </p:sp>
      <p:sp>
        <p:nvSpPr>
          <p:cNvPr id="7" name="Text 5"/>
          <p:cNvSpPr/>
          <p:nvPr/>
        </p:nvSpPr>
        <p:spPr>
          <a:xfrm>
            <a:off x="977900" y="2240211"/>
            <a:ext cx="6462014"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2 · OpenShell, free under Apache 2.0</a:t>
            </a:r>
            <a:endParaRPr lang="en-US" sz="1200" dirty="0"/>
          </a:p>
        </p:txBody>
      </p:sp>
      <p:sp>
        <p:nvSpPr>
          <p:cNvPr id="8" name="Shape 6"/>
          <p:cNvSpPr/>
          <p:nvPr/>
        </p:nvSpPr>
        <p:spPr>
          <a:xfrm>
            <a:off x="984250" y="2520851"/>
            <a:ext cx="2010817" cy="1036191"/>
          </a:xfrm>
          <a:prstGeom prst="roundRect">
            <a:avLst>
              <a:gd name="adj" fmla="val 4290"/>
            </a:avLst>
          </a:prstGeom>
          <a:noFill/>
          <a:ln w="12700">
            <a:solidFill>
              <a:srgbClr val="CDD2D8"/>
            </a:solidFill>
            <a:prstDash val="solid"/>
          </a:ln>
        </p:spPr>
      </p:sp>
      <p:sp>
        <p:nvSpPr>
          <p:cNvPr id="9" name="Text 7"/>
          <p:cNvSpPr/>
          <p:nvPr/>
        </p:nvSpPr>
        <p:spPr>
          <a:xfrm>
            <a:off x="1104900" y="2616101"/>
            <a:ext cx="182260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Gateway</a:t>
            </a:r>
            <a:endParaRPr lang="en-US" sz="1400" dirty="0"/>
          </a:p>
        </p:txBody>
      </p:sp>
      <p:sp>
        <p:nvSpPr>
          <p:cNvPr id="10" name="Text 8"/>
          <p:cNvSpPr/>
          <p:nvPr/>
        </p:nvSpPr>
        <p:spPr>
          <a:xfrm>
            <a:off x="1104900" y="2867521"/>
            <a:ext cx="182260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Delivers policy, attaches providers</a:t>
            </a:r>
            <a:endParaRPr lang="en-US" sz="1200" dirty="0"/>
          </a:p>
        </p:txBody>
      </p:sp>
      <p:sp>
        <p:nvSpPr>
          <p:cNvPr id="11" name="Shape 9"/>
          <p:cNvSpPr/>
          <p:nvPr/>
        </p:nvSpPr>
        <p:spPr>
          <a:xfrm>
            <a:off x="3109367" y="2520851"/>
            <a:ext cx="2010866" cy="1036191"/>
          </a:xfrm>
          <a:prstGeom prst="roundRect">
            <a:avLst>
              <a:gd name="adj" fmla="val 4290"/>
            </a:avLst>
          </a:prstGeom>
          <a:noFill/>
          <a:ln w="12700">
            <a:solidFill>
              <a:srgbClr val="CDD2D8"/>
            </a:solidFill>
            <a:prstDash val="solid"/>
          </a:ln>
        </p:spPr>
      </p:sp>
      <p:sp>
        <p:nvSpPr>
          <p:cNvPr id="12" name="Text 10"/>
          <p:cNvSpPr/>
          <p:nvPr/>
        </p:nvSpPr>
        <p:spPr>
          <a:xfrm>
            <a:off x="3230017" y="2616101"/>
            <a:ext cx="182265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Supervisor</a:t>
            </a:r>
            <a:endParaRPr lang="en-US" sz="1400" dirty="0"/>
          </a:p>
        </p:txBody>
      </p:sp>
      <p:sp>
        <p:nvSpPr>
          <p:cNvPr id="13" name="Text 11"/>
          <p:cNvSpPr/>
          <p:nvPr/>
        </p:nvSpPr>
        <p:spPr>
          <a:xfrm>
            <a:off x="3230017" y="2867521"/>
            <a:ext cx="182265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Checks requests, swaps in credentials</a:t>
            </a:r>
            <a:endParaRPr lang="en-US" sz="1200" dirty="0"/>
          </a:p>
        </p:txBody>
      </p:sp>
      <p:sp>
        <p:nvSpPr>
          <p:cNvPr id="14" name="Shape 12"/>
          <p:cNvSpPr/>
          <p:nvPr/>
        </p:nvSpPr>
        <p:spPr>
          <a:xfrm>
            <a:off x="5234533" y="2520851"/>
            <a:ext cx="2010817" cy="1036191"/>
          </a:xfrm>
          <a:prstGeom prst="roundRect">
            <a:avLst>
              <a:gd name="adj" fmla="val 4290"/>
            </a:avLst>
          </a:prstGeom>
          <a:noFill/>
          <a:ln w="12700">
            <a:solidFill>
              <a:srgbClr val="CDD2D8"/>
            </a:solidFill>
            <a:prstDash val="solid"/>
          </a:ln>
        </p:spPr>
      </p:sp>
      <p:sp>
        <p:nvSpPr>
          <p:cNvPr id="15" name="Text 13"/>
          <p:cNvSpPr/>
          <p:nvPr/>
        </p:nvSpPr>
        <p:spPr>
          <a:xfrm>
            <a:off x="5355183" y="2616101"/>
            <a:ext cx="182260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Sandbox</a:t>
            </a:r>
            <a:endParaRPr lang="en-US" sz="1400" dirty="0"/>
          </a:p>
        </p:txBody>
      </p:sp>
      <p:sp>
        <p:nvSpPr>
          <p:cNvPr id="16" name="Text 14"/>
          <p:cNvSpPr/>
          <p:nvPr/>
        </p:nvSpPr>
        <p:spPr>
          <a:xfrm>
            <a:off x="5355183" y="2867521"/>
            <a:ext cx="1822602"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Agent runs non-root under Landlock and seccomp</a:t>
            </a:r>
            <a:endParaRPr lang="en-US" sz="1200" dirty="0"/>
          </a:p>
        </p:txBody>
      </p:sp>
      <p:sp>
        <p:nvSpPr>
          <p:cNvPr id="17" name="Shape 15"/>
          <p:cNvSpPr/>
          <p:nvPr/>
        </p:nvSpPr>
        <p:spPr>
          <a:xfrm>
            <a:off x="819150" y="3785642"/>
            <a:ext cx="6591300" cy="873671"/>
          </a:xfrm>
          <a:prstGeom prst="roundRect">
            <a:avLst>
              <a:gd name="adj" fmla="val 7995"/>
            </a:avLst>
          </a:prstGeom>
          <a:solidFill>
            <a:srgbClr val="FFFFFF"/>
          </a:solidFill>
          <a:ln w="12700">
            <a:solidFill>
              <a:srgbClr val="CDD2D8"/>
            </a:solidFill>
            <a:prstDash val="solid"/>
          </a:ln>
        </p:spPr>
      </p:sp>
      <p:sp>
        <p:nvSpPr>
          <p:cNvPr id="18" name="Text 16"/>
          <p:cNvSpPr/>
          <p:nvPr/>
        </p:nvSpPr>
        <p:spPr>
          <a:xfrm>
            <a:off x="977900" y="3893592"/>
            <a:ext cx="6462014"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3 · Compute driver, someone else's sandbox</a:t>
            </a:r>
            <a:endParaRPr lang="en-US" sz="1200" dirty="0"/>
          </a:p>
        </p:txBody>
      </p:sp>
      <p:sp>
        <p:nvSpPr>
          <p:cNvPr id="19" name="Text 17"/>
          <p:cNvSpPr/>
          <p:nvPr/>
        </p:nvSpPr>
        <p:spPr>
          <a:xfrm>
            <a:off x="977900" y="4155182"/>
            <a:ext cx="6462014"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Docker · Podman · Kubernetes · libkrun microVM · Windows (new) · external drivers such as E2B's demo and Blaxel's template</a:t>
            </a:r>
            <a:endParaRPr lang="en-US" sz="1200" dirty="0"/>
          </a:p>
        </p:txBody>
      </p:sp>
      <p:sp>
        <p:nvSpPr>
          <p:cNvPr id="20" name="Shape 18"/>
          <p:cNvSpPr/>
          <p:nvPr/>
        </p:nvSpPr>
        <p:spPr>
          <a:xfrm>
            <a:off x="819150" y="4773613"/>
            <a:ext cx="6591300" cy="612080"/>
          </a:xfrm>
          <a:prstGeom prst="roundRect">
            <a:avLst>
              <a:gd name="adj" fmla="val 11412"/>
            </a:avLst>
          </a:prstGeom>
          <a:solidFill>
            <a:srgbClr val="FFFFFF"/>
          </a:solidFill>
          <a:ln w="12700">
            <a:solidFill>
              <a:srgbClr val="CDD2D8"/>
            </a:solidFill>
            <a:prstDash val="solid"/>
          </a:ln>
        </p:spPr>
      </p:sp>
      <p:sp>
        <p:nvSpPr>
          <p:cNvPr id="21" name="Text 19"/>
          <p:cNvSpPr/>
          <p:nvPr/>
        </p:nvSpPr>
        <p:spPr>
          <a:xfrm>
            <a:off x="977900" y="4980583"/>
            <a:ext cx="16383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4 · Hardware</a:t>
            </a:r>
            <a:endParaRPr lang="en-US" sz="1200" dirty="0"/>
          </a:p>
        </p:txBody>
      </p:sp>
      <p:sp>
        <p:nvSpPr>
          <p:cNvPr id="22" name="Text 20"/>
          <p:cNvSpPr/>
          <p:nvPr/>
        </p:nvSpPr>
        <p:spPr>
          <a:xfrm>
            <a:off x="2717800" y="4881563"/>
            <a:ext cx="466991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Vera, Arm or x86 CPUs; BlueField-4 Sentry watches out of band (Sep 28)</a:t>
            </a:r>
            <a:endParaRPr lang="en-US" sz="1200" dirty="0"/>
          </a:p>
        </p:txBody>
      </p:sp>
      <p:sp>
        <p:nvSpPr>
          <p:cNvPr id="23" name="Shape 21"/>
          <p:cNvSpPr/>
          <p:nvPr/>
        </p:nvSpPr>
        <p:spPr>
          <a:xfrm>
            <a:off x="7575550" y="1405880"/>
            <a:ext cx="3797300" cy="1175891"/>
          </a:xfrm>
          <a:prstGeom prst="roundRect">
            <a:avLst>
              <a:gd name="adj" fmla="val 5940"/>
            </a:avLst>
          </a:prstGeom>
          <a:solidFill>
            <a:srgbClr val="FFFFFF"/>
          </a:solidFill>
          <a:ln w="12700">
            <a:solidFill>
              <a:srgbClr val="CDD2D8"/>
            </a:solidFill>
            <a:prstDash val="solid"/>
          </a:ln>
        </p:spPr>
      </p:sp>
      <p:sp>
        <p:nvSpPr>
          <p:cNvPr id="24" name="Text 22"/>
          <p:cNvSpPr/>
          <p:nvPr/>
        </p:nvSpPr>
        <p:spPr>
          <a:xfrm>
            <a:off x="7759700" y="1564630"/>
            <a:ext cx="35318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Policy</a:t>
            </a:r>
            <a:endParaRPr lang="en-US" sz="1400" dirty="0"/>
          </a:p>
        </p:txBody>
      </p:sp>
      <p:sp>
        <p:nvSpPr>
          <p:cNvPr id="25" name="Text 23"/>
          <p:cNvSpPr/>
          <p:nvPr/>
        </p:nvSpPr>
        <p:spPr>
          <a:xfrm>
            <a:off x="7759700" y="1828750"/>
            <a:ext cx="353187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YAML compiled to OPA. File and process rules lock at creation; network rules hot-reload. A Z3 prover checks proposed changes.</a:t>
            </a:r>
            <a:endParaRPr lang="en-US" sz="1200" dirty="0"/>
          </a:p>
        </p:txBody>
      </p:sp>
      <p:sp>
        <p:nvSpPr>
          <p:cNvPr id="26" name="Shape 24"/>
          <p:cNvSpPr/>
          <p:nvPr/>
        </p:nvSpPr>
        <p:spPr>
          <a:xfrm>
            <a:off x="7575550" y="2696071"/>
            <a:ext cx="3797300" cy="1175891"/>
          </a:xfrm>
          <a:prstGeom prst="roundRect">
            <a:avLst>
              <a:gd name="adj" fmla="val 5940"/>
            </a:avLst>
          </a:prstGeom>
          <a:solidFill>
            <a:srgbClr val="FFFFFF"/>
          </a:solidFill>
          <a:ln w="12700">
            <a:solidFill>
              <a:srgbClr val="CDD2D8"/>
            </a:solidFill>
            <a:prstDash val="solid"/>
          </a:ln>
        </p:spPr>
      </p:sp>
      <p:sp>
        <p:nvSpPr>
          <p:cNvPr id="27" name="Text 25"/>
          <p:cNvSpPr/>
          <p:nvPr/>
        </p:nvSpPr>
        <p:spPr>
          <a:xfrm>
            <a:off x="7759700" y="2854821"/>
            <a:ext cx="35318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Credentials and inference</a:t>
            </a:r>
            <a:endParaRPr lang="en-US" sz="1400" dirty="0"/>
          </a:p>
        </p:txBody>
      </p:sp>
      <p:sp>
        <p:nvSpPr>
          <p:cNvPr id="28" name="Text 26"/>
          <p:cNvSpPr/>
          <p:nvPr/>
        </p:nvSpPr>
        <p:spPr>
          <a:xfrm>
            <a:off x="7759700" y="3118941"/>
            <a:ext cx="353187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Agents never see real keys; the proxy adds them for approved endpoints. Since 0.1.0 each sandbox calls its own provider.</a:t>
            </a:r>
            <a:endParaRPr lang="en-US" sz="1200" dirty="0"/>
          </a:p>
        </p:txBody>
      </p:sp>
      <p:sp>
        <p:nvSpPr>
          <p:cNvPr id="29" name="Shape 27"/>
          <p:cNvSpPr/>
          <p:nvPr/>
        </p:nvSpPr>
        <p:spPr>
          <a:xfrm>
            <a:off x="7575550" y="3986262"/>
            <a:ext cx="3797300" cy="1399431"/>
          </a:xfrm>
          <a:prstGeom prst="roundRect">
            <a:avLst>
              <a:gd name="adj" fmla="val 4991"/>
            </a:avLst>
          </a:prstGeom>
          <a:solidFill>
            <a:srgbClr val="FFFFFF"/>
          </a:solidFill>
          <a:ln w="12700">
            <a:solidFill>
              <a:srgbClr val="8C96A1"/>
            </a:solidFill>
            <a:prstDash val="dash"/>
          </a:ln>
        </p:spPr>
      </p:sp>
      <p:sp>
        <p:nvSpPr>
          <p:cNvPr id="30" name="Text 28"/>
          <p:cNvSpPr/>
          <p:nvPr/>
        </p:nvSpPr>
        <p:spPr>
          <a:xfrm>
            <a:off x="7759700" y="4145012"/>
            <a:ext cx="35318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Not in scope today</a:t>
            </a:r>
            <a:endParaRPr lang="en-US" sz="1400" dirty="0"/>
          </a:p>
        </p:txBody>
      </p:sp>
      <p:sp>
        <p:nvSpPr>
          <p:cNvPr id="31" name="Text 29"/>
          <p:cNvSpPr/>
          <p:nvPr/>
        </p:nvSpPr>
        <p:spPr>
          <a:xfrm>
            <a:off x="7759700" y="4409132"/>
            <a:ext cx="353187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No hosted fleet, snapshots or cold-start engineering. No GUI or desktop isolation. No first-class agent identity.</a:t>
            </a:r>
            <a:endParaRPr lang="en-US" sz="1200" dirty="0"/>
          </a:p>
        </p:txBody>
      </p:sp>
      <p:sp>
        <p:nvSpPr>
          <p:cNvPr id="32" name="Text 30"/>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3 · OpenShell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OpenShell is growing but still labeled alpha</a:t>
            </a:r>
            <a:endParaRPr lang="en-US" sz="2800" dirty="0"/>
          </a:p>
        </p:txBody>
      </p:sp>
      <p:sp>
        <p:nvSpPr>
          <p:cNvPr id="3" name="Shape 1"/>
          <p:cNvSpPr/>
          <p:nvPr/>
        </p:nvSpPr>
        <p:spPr>
          <a:xfrm>
            <a:off x="819150" y="1405880"/>
            <a:ext cx="6337300" cy="3566071"/>
          </a:xfrm>
          <a:prstGeom prst="roundRect">
            <a:avLst>
              <a:gd name="adj" fmla="val 1959"/>
            </a:avLst>
          </a:prstGeom>
          <a:solidFill>
            <a:srgbClr val="FFFFFF"/>
          </a:solidFill>
          <a:ln w="12700">
            <a:solidFill>
              <a:srgbClr val="CDD2D8"/>
            </a:solidFill>
            <a:prstDash val="solid"/>
          </a:ln>
        </p:spPr>
      </p:sp>
      <p:sp>
        <p:nvSpPr>
          <p:cNvPr id="4" name="Text 2"/>
          <p:cNvSpPr/>
          <p:nvPr/>
        </p:nvSpPr>
        <p:spPr>
          <a:xfrm>
            <a:off x="1054100" y="1590030"/>
            <a:ext cx="604342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Sandboxes created per two-week window, 2026</a:t>
            </a:r>
            <a:endParaRPr lang="en-US" sz="1200" dirty="0"/>
          </a:p>
        </p:txBody>
      </p:sp>
      <p:sp>
        <p:nvSpPr>
          <p:cNvPr id="5" name="Text 3"/>
          <p:cNvSpPr/>
          <p:nvPr/>
        </p:nvSpPr>
        <p:spPr>
          <a:xfrm>
            <a:off x="1796866" y="2933700"/>
            <a:ext cx="504051" cy="23872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269k</a:t>
            </a:r>
            <a:endParaRPr lang="en-US" sz="1400" dirty="0"/>
          </a:p>
        </p:txBody>
      </p:sp>
      <p:sp>
        <p:nvSpPr>
          <p:cNvPr id="6" name="Shape 4"/>
          <p:cNvSpPr/>
          <p:nvPr/>
        </p:nvSpPr>
        <p:spPr>
          <a:xfrm>
            <a:off x="1604417" y="3197820"/>
            <a:ext cx="889000" cy="977900"/>
          </a:xfrm>
          <a:custGeom>
            <a:avLst/>
            <a:gdLst/>
            <a:ahLst/>
            <a:cxnLst/>
            <a:rect l="l" t="t" r="r" b="b"/>
            <a:pathLst>
              <a:path w="889000" h="977900">
                <a:moveTo>
                  <a:pt x="25400" y="0"/>
                </a:moveTo>
                <a:lnTo>
                  <a:pt x="863600" y="0"/>
                </a:lnTo>
                <a:arcTo hR="25400" wR="25400" stAng="16200000" swAng="5400000"/>
                <a:lnTo>
                  <a:pt x="889000" y="977900"/>
                </a:lnTo>
                <a:lnTo>
                  <a:pt x="0" y="977900"/>
                </a:lnTo>
                <a:lnTo>
                  <a:pt x="0" y="25400"/>
                </a:lnTo>
                <a:arcTo hR="25400" wR="25400" stAng="10800000" swAng="5400000"/>
                <a:close/>
              </a:path>
            </a:pathLst>
          </a:custGeom>
          <a:solidFill>
            <a:srgbClr val="8C96A1"/>
          </a:solidFill>
          <a:ln/>
        </p:spPr>
      </p:sp>
      <p:sp>
        <p:nvSpPr>
          <p:cNvPr id="7" name="Text 5"/>
          <p:cNvSpPr/>
          <p:nvPr/>
        </p:nvSpPr>
        <p:spPr>
          <a:xfrm>
            <a:off x="3735750" y="2006600"/>
            <a:ext cx="504051" cy="23872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556k</a:t>
            </a:r>
            <a:endParaRPr lang="en-US" sz="1400" dirty="0"/>
          </a:p>
        </p:txBody>
      </p:sp>
      <p:sp>
        <p:nvSpPr>
          <p:cNvPr id="8" name="Shape 6"/>
          <p:cNvSpPr/>
          <p:nvPr/>
        </p:nvSpPr>
        <p:spPr>
          <a:xfrm>
            <a:off x="3543250" y="2270720"/>
            <a:ext cx="889000" cy="1905000"/>
          </a:xfrm>
          <a:custGeom>
            <a:avLst/>
            <a:gdLst/>
            <a:ahLst/>
            <a:cxnLst/>
            <a:rect l="l" t="t" r="r" b="b"/>
            <a:pathLst>
              <a:path w="889000" h="1905000">
                <a:moveTo>
                  <a:pt x="25400" y="0"/>
                </a:moveTo>
                <a:lnTo>
                  <a:pt x="863600" y="0"/>
                </a:lnTo>
                <a:arcTo hR="25400" wR="25400" stAng="16200000" swAng="5400000"/>
                <a:lnTo>
                  <a:pt x="889000" y="1905000"/>
                </a:lnTo>
                <a:lnTo>
                  <a:pt x="0" y="1905000"/>
                </a:lnTo>
                <a:lnTo>
                  <a:pt x="0" y="25400"/>
                </a:lnTo>
                <a:arcTo hR="25400" wR="25400" stAng="10800000" swAng="5400000"/>
                <a:close/>
              </a:path>
            </a:pathLst>
          </a:custGeom>
          <a:solidFill>
            <a:srgbClr val="18202A"/>
          </a:solidFill>
          <a:ln/>
        </p:spPr>
      </p:sp>
      <p:sp>
        <p:nvSpPr>
          <p:cNvPr id="9" name="Text 7"/>
          <p:cNvSpPr/>
          <p:nvPr/>
        </p:nvSpPr>
        <p:spPr>
          <a:xfrm>
            <a:off x="5674633" y="2006600"/>
            <a:ext cx="504051" cy="23872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556k</a:t>
            </a:r>
            <a:endParaRPr lang="en-US" sz="1400" dirty="0"/>
          </a:p>
        </p:txBody>
      </p:sp>
      <p:sp>
        <p:nvSpPr>
          <p:cNvPr id="10" name="Shape 8"/>
          <p:cNvSpPr/>
          <p:nvPr/>
        </p:nvSpPr>
        <p:spPr>
          <a:xfrm>
            <a:off x="5482134" y="2270720"/>
            <a:ext cx="889000" cy="1905000"/>
          </a:xfrm>
          <a:custGeom>
            <a:avLst/>
            <a:gdLst/>
            <a:ahLst/>
            <a:cxnLst/>
            <a:rect l="l" t="t" r="r" b="b"/>
            <a:pathLst>
              <a:path w="889000" h="1905000">
                <a:moveTo>
                  <a:pt x="25400" y="0"/>
                </a:moveTo>
                <a:lnTo>
                  <a:pt x="863600" y="0"/>
                </a:lnTo>
                <a:arcTo hR="25400" wR="25400" stAng="16200000" swAng="5400000"/>
                <a:lnTo>
                  <a:pt x="889000" y="1905000"/>
                </a:lnTo>
                <a:lnTo>
                  <a:pt x="0" y="1905000"/>
                </a:lnTo>
                <a:lnTo>
                  <a:pt x="0" y="25400"/>
                </a:lnTo>
                <a:arcTo hR="25400" wR="25400" stAng="10800000" swAng="5400000"/>
                <a:close/>
              </a:path>
            </a:pathLst>
          </a:custGeom>
          <a:solidFill>
            <a:srgbClr val="18202A"/>
          </a:solidFill>
          <a:ln/>
        </p:spPr>
      </p:sp>
      <p:sp>
        <p:nvSpPr>
          <p:cNvPr id="11" name="Shape 9"/>
          <p:cNvSpPr/>
          <p:nvPr/>
        </p:nvSpPr>
        <p:spPr>
          <a:xfrm>
            <a:off x="1054100" y="4283670"/>
            <a:ext cx="5867400" cy="0"/>
          </a:xfrm>
          <a:prstGeom prst="line">
            <a:avLst/>
          </a:prstGeom>
          <a:noFill/>
          <a:ln w="12700">
            <a:solidFill>
              <a:srgbClr val="CDD2D8"/>
            </a:solidFill>
            <a:prstDash val="solid"/>
          </a:ln>
        </p:spPr>
      </p:sp>
      <p:sp>
        <p:nvSpPr>
          <p:cNvPr id="12" name="Text 10"/>
          <p:cNvSpPr/>
          <p:nvPr/>
        </p:nvSpPr>
        <p:spPr>
          <a:xfrm>
            <a:off x="1441103" y="4366220"/>
            <a:ext cx="1215628"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Jun 24 to Jul 8</a:t>
            </a:r>
            <a:endParaRPr lang="en-US" sz="1200" dirty="0"/>
          </a:p>
        </p:txBody>
      </p:sp>
      <p:sp>
        <p:nvSpPr>
          <p:cNvPr id="13" name="Text 11"/>
          <p:cNvSpPr/>
          <p:nvPr/>
        </p:nvSpPr>
        <p:spPr>
          <a:xfrm>
            <a:off x="1658273" y="4589711"/>
            <a:ext cx="781288"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2% failed</a:t>
            </a:r>
            <a:endParaRPr lang="en-US" sz="1200" dirty="0"/>
          </a:p>
        </p:txBody>
      </p:sp>
      <p:sp>
        <p:nvSpPr>
          <p:cNvPr id="14" name="Text 12"/>
          <p:cNvSpPr/>
          <p:nvPr/>
        </p:nvSpPr>
        <p:spPr>
          <a:xfrm>
            <a:off x="3497153" y="4366220"/>
            <a:ext cx="981194"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Jul 13 to 26</a:t>
            </a:r>
            <a:endParaRPr lang="en-US" sz="1200" dirty="0"/>
          </a:p>
        </p:txBody>
      </p:sp>
      <p:sp>
        <p:nvSpPr>
          <p:cNvPr id="15" name="Text 13"/>
          <p:cNvSpPr/>
          <p:nvPr/>
        </p:nvSpPr>
        <p:spPr>
          <a:xfrm>
            <a:off x="3542273" y="4589711"/>
            <a:ext cx="891004"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18% failed</a:t>
            </a:r>
            <a:endParaRPr lang="en-US" sz="1200" dirty="0"/>
          </a:p>
        </p:txBody>
      </p:sp>
      <p:sp>
        <p:nvSpPr>
          <p:cNvPr id="16" name="Text 14"/>
          <p:cNvSpPr/>
          <p:nvPr/>
        </p:nvSpPr>
        <p:spPr>
          <a:xfrm>
            <a:off x="5255652" y="4366220"/>
            <a:ext cx="1342013"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Jul 27 to Aug 10</a:t>
            </a:r>
            <a:endParaRPr lang="en-US" sz="1200" dirty="0"/>
          </a:p>
        </p:txBody>
      </p:sp>
      <p:sp>
        <p:nvSpPr>
          <p:cNvPr id="17" name="Text 15"/>
          <p:cNvSpPr/>
          <p:nvPr/>
        </p:nvSpPr>
        <p:spPr>
          <a:xfrm>
            <a:off x="5481156" y="4589711"/>
            <a:ext cx="891004"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12% failed</a:t>
            </a:r>
            <a:endParaRPr lang="en-US" sz="1200" dirty="0"/>
          </a:p>
        </p:txBody>
      </p:sp>
      <p:sp>
        <p:nvSpPr>
          <p:cNvPr id="18" name="Shape 16"/>
          <p:cNvSpPr/>
          <p:nvPr/>
        </p:nvSpPr>
        <p:spPr>
          <a:xfrm>
            <a:off x="7321550" y="1405880"/>
            <a:ext cx="4051300" cy="3566071"/>
          </a:xfrm>
          <a:prstGeom prst="roundRect">
            <a:avLst>
              <a:gd name="adj" fmla="val 1959"/>
            </a:avLst>
          </a:prstGeom>
          <a:solidFill>
            <a:srgbClr val="FFFFFF"/>
          </a:solidFill>
          <a:ln w="12700">
            <a:solidFill>
              <a:srgbClr val="CDD2D8"/>
            </a:solidFill>
            <a:prstDash val="solid"/>
          </a:ln>
        </p:spPr>
      </p:sp>
      <p:sp>
        <p:nvSpPr>
          <p:cNvPr id="19" name="Text 17"/>
          <p:cNvSpPr/>
          <p:nvPr/>
        </p:nvSpPr>
        <p:spPr>
          <a:xfrm>
            <a:off x="7531100" y="1590030"/>
            <a:ext cx="374116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Where it stands, October 1</a:t>
            </a:r>
            <a:endParaRPr lang="en-US" sz="1400" dirty="0"/>
          </a:p>
        </p:txBody>
      </p:sp>
      <p:sp>
        <p:nvSpPr>
          <p:cNvPr id="20" name="Text 18"/>
          <p:cNvSpPr/>
          <p:nvPr/>
        </p:nvSpPr>
        <p:spPr>
          <a:xfrm>
            <a:off x="7531100" y="1879550"/>
            <a:ext cx="374116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v0.1.2 (Sep 28) under Apache 2.0; PyPI still says Alpha</a:t>
            </a:r>
            <a:endParaRPr lang="en-US" sz="1200" dirty="0"/>
          </a:p>
        </p:txBody>
      </p:sp>
      <p:sp>
        <p:nvSpPr>
          <p:cNvPr id="21" name="Text 19"/>
          <p:cNvSpPr/>
          <p:nvPr/>
        </p:nvSpPr>
        <p:spPr>
          <a:xfrm>
            <a:off x="7531100" y="2351931"/>
            <a:ext cx="38354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10.0k GitHub stars; 88k PyPI downloads last month</a:t>
            </a:r>
            <a:endParaRPr lang="en-US" sz="1200" dirty="0"/>
          </a:p>
        </p:txBody>
      </p:sp>
      <p:sp>
        <p:nvSpPr>
          <p:cNvPr id="22" name="Text 20"/>
          <p:cNvSpPr/>
          <p:nvPr/>
        </p:nvSpPr>
        <p:spPr>
          <a:xfrm>
            <a:off x="7531100" y="2626221"/>
            <a:ext cx="374116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Kubernetes passed Docker as the top driver</a:t>
            </a:r>
            <a:endParaRPr lang="en-US" sz="1200" dirty="0"/>
          </a:p>
        </p:txBody>
      </p:sp>
      <p:sp>
        <p:nvSpPr>
          <p:cNvPr id="23" name="Text 21"/>
          <p:cNvSpPr/>
          <p:nvPr/>
        </p:nvSpPr>
        <p:spPr>
          <a:xfrm>
            <a:off x="7531100" y="2900511"/>
            <a:ext cx="374116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NVIDIA was about 1.7% of inference provider profiles</a:t>
            </a:r>
            <a:endParaRPr lang="en-US" sz="1200" dirty="0"/>
          </a:p>
        </p:txBody>
      </p:sp>
      <p:sp>
        <p:nvSpPr>
          <p:cNvPr id="24" name="Text 22"/>
          <p:cNvSpPr/>
          <p:nvPr/>
        </p:nvSpPr>
        <p:spPr>
          <a:xfrm>
            <a:off x="7531100" y="3372892"/>
            <a:ext cx="374116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0.1.0 removed the router; 0.0.x installs cannot upgrade in place</a:t>
            </a:r>
            <a:endParaRPr lang="en-US" sz="1200" dirty="0"/>
          </a:p>
        </p:txBody>
      </p:sp>
      <p:sp>
        <p:nvSpPr>
          <p:cNvPr id="25" name="Text 23"/>
          <p:cNvSpPr/>
          <p:nvPr/>
        </p:nvSpPr>
        <p:spPr>
          <a:xfrm>
            <a:off x="7531100" y="3845272"/>
            <a:ext cx="38354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No 1.0 date, and no telemetry published after Aug 10</a:t>
            </a:r>
            <a:endParaRPr lang="en-US" sz="1200" dirty="0"/>
          </a:p>
        </p:txBody>
      </p:sp>
      <p:sp>
        <p:nvSpPr>
          <p:cNvPr id="26" name="Text 24"/>
          <p:cNvSpPr/>
          <p:nvPr/>
        </p:nvSpPr>
        <p:spPr>
          <a:xfrm>
            <a:off x="812800" y="515610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8202A"/>
                </a:solidFill>
                <a:latin typeface="IBM Plex Sans" pitchFamily="34" charset="0"/>
                <a:ea typeface="IBM Plex Sans" pitchFamily="34" charset="-122"/>
                <a:cs typeface="IBM Plex Sans" pitchFamily="34" charset="-120"/>
              </a:rPr>
              <a:t>NVIDIA calls OpenShell "broadly available" while its README says "Alpha software". Partners need one label and a 1.0 date.</a:t>
            </a:r>
            <a:endParaRPr lang="en-US" sz="1400" dirty="0"/>
          </a:p>
        </p:txBody>
      </p:sp>
      <p:sp>
        <p:nvSpPr>
          <p:cNvPr id="27" name="Text 25"/>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3 · OpenShell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Where OpenShell complements and where it overlaps</a:t>
            </a:r>
            <a:endParaRPr lang="en-US" sz="2800" dirty="0"/>
          </a:p>
        </p:txBody>
      </p:sp>
      <p:sp>
        <p:nvSpPr>
          <p:cNvPr id="3" name="Shape 1"/>
          <p:cNvSpPr/>
          <p:nvPr/>
        </p:nvSpPr>
        <p:spPr>
          <a:xfrm>
            <a:off x="819150" y="1405880"/>
            <a:ext cx="10553700" cy="612080"/>
          </a:xfrm>
          <a:prstGeom prst="roundRect">
            <a:avLst>
              <a:gd name="adj" fmla="val 11412"/>
            </a:avLst>
          </a:prstGeom>
          <a:solidFill>
            <a:srgbClr val="FFFFFF"/>
          </a:solidFill>
          <a:ln w="12700">
            <a:solidFill>
              <a:srgbClr val="CDD2D8"/>
            </a:solidFill>
            <a:prstDash val="solid"/>
          </a:ln>
        </p:spPr>
      </p:sp>
      <p:sp>
        <p:nvSpPr>
          <p:cNvPr id="4" name="Text 2"/>
          <p:cNvSpPr/>
          <p:nvPr/>
        </p:nvSpPr>
        <p:spPr>
          <a:xfrm>
            <a:off x="977900" y="1513830"/>
            <a:ext cx="248539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Hosting: fleets, snapshots, cold starts, GPUs</a:t>
            </a:r>
            <a:endParaRPr lang="en-US" sz="1200" dirty="0"/>
          </a:p>
        </p:txBody>
      </p:sp>
      <p:sp>
        <p:nvSpPr>
          <p:cNvPr id="5" name="Text 3"/>
          <p:cNvSpPr/>
          <p:nvPr/>
        </p:nvSpPr>
        <p:spPr>
          <a:xfrm>
            <a:off x="3594100" y="1612850"/>
            <a:ext cx="5546344"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E2B, Daytona, Vercel, Runloop, Cua, Modal, Blaxel and the hyperscalers</a:t>
            </a:r>
            <a:endParaRPr lang="en-US" sz="1200" dirty="0"/>
          </a:p>
        </p:txBody>
      </p:sp>
      <p:sp>
        <p:nvSpPr>
          <p:cNvPr id="6" name="Text 4"/>
          <p:cNvSpPr/>
          <p:nvPr/>
        </p:nvSpPr>
        <p:spPr>
          <a:xfrm>
            <a:off x="9182100" y="1513830"/>
            <a:ext cx="209296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Complements.</a:t>
            </a:r>
            <a:r>
              <a:rPr lang="en-US" sz="1200" dirty="0">
                <a:solidFill>
                  <a:srgbClr val="18202A"/>
                </a:solidFill>
                <a:latin typeface="IBM Plex Sans" pitchFamily="34" charset="0"/>
                <a:ea typeface="IBM Plex Sans" pitchFamily="34" charset="-122"/>
                <a:cs typeface="IBM Plex Sans" pitchFamily="34" charset="-120"/>
              </a:rPr>
              <a:t> OpenShell has none of this.</a:t>
            </a:r>
            <a:endParaRPr lang="en-US" sz="1200" dirty="0"/>
          </a:p>
        </p:txBody>
      </p:sp>
      <p:sp>
        <p:nvSpPr>
          <p:cNvPr id="7" name="Shape 5"/>
          <p:cNvSpPr/>
          <p:nvPr/>
        </p:nvSpPr>
        <p:spPr>
          <a:xfrm>
            <a:off x="819150" y="2106861"/>
            <a:ext cx="10553700" cy="612080"/>
          </a:xfrm>
          <a:prstGeom prst="roundRect">
            <a:avLst>
              <a:gd name="adj" fmla="val 11412"/>
            </a:avLst>
          </a:prstGeom>
          <a:solidFill>
            <a:srgbClr val="FFFFFF"/>
          </a:solidFill>
          <a:ln w="12700">
            <a:solidFill>
              <a:srgbClr val="CDD2D8"/>
            </a:solidFill>
            <a:prstDash val="solid"/>
          </a:ln>
        </p:spPr>
      </p:sp>
      <p:sp>
        <p:nvSpPr>
          <p:cNvPr id="8" name="Text 6"/>
          <p:cNvSpPr/>
          <p:nvPr/>
        </p:nvSpPr>
        <p:spPr>
          <a:xfrm>
            <a:off x="977900" y="2313831"/>
            <a:ext cx="248539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Policy and credentials</a:t>
            </a:r>
            <a:endParaRPr lang="en-US" sz="1200" dirty="0"/>
          </a:p>
        </p:txBody>
      </p:sp>
      <p:sp>
        <p:nvSpPr>
          <p:cNvPr id="9" name="Text 7"/>
          <p:cNvSpPr/>
          <p:nvPr/>
        </p:nvSpPr>
        <p:spPr>
          <a:xfrm>
            <a:off x="3594100" y="2214811"/>
            <a:ext cx="5546344"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E2B's egress proxy, Vercel's firewall, Runloop's Agent Gateways, Docker's Kit spec, Anthropic's sandbox-runtime, AWS AgentCore Policy</a:t>
            </a:r>
            <a:endParaRPr lang="en-US" sz="1200" dirty="0"/>
          </a:p>
        </p:txBody>
      </p:sp>
      <p:sp>
        <p:nvSpPr>
          <p:cNvPr id="10" name="Text 8"/>
          <p:cNvSpPr/>
          <p:nvPr/>
        </p:nvSpPr>
        <p:spPr>
          <a:xfrm>
            <a:off x="9182100" y="2214811"/>
            <a:ext cx="209296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Overlaps.</a:t>
            </a:r>
            <a:r>
              <a:rPr lang="en-US" sz="1200" dirty="0">
                <a:solidFill>
                  <a:srgbClr val="18202A"/>
                </a:solidFill>
                <a:latin typeface="IBM Plex Sans" pitchFamily="34" charset="0"/>
                <a:ea typeface="IBM Plex Sans" pitchFamily="34" charset="-122"/>
                <a:cs typeface="IBM Plex Sans" pitchFamily="34" charset="-120"/>
              </a:rPr>
              <a:t> Needs a joint answer with each partner.</a:t>
            </a:r>
            <a:endParaRPr lang="en-US" sz="1200" dirty="0"/>
          </a:p>
        </p:txBody>
      </p:sp>
      <p:sp>
        <p:nvSpPr>
          <p:cNvPr id="11" name="Shape 9"/>
          <p:cNvSpPr/>
          <p:nvPr/>
        </p:nvSpPr>
        <p:spPr>
          <a:xfrm>
            <a:off x="819150" y="2807841"/>
            <a:ext cx="10553700" cy="413990"/>
          </a:xfrm>
          <a:prstGeom prst="roundRect">
            <a:avLst>
              <a:gd name="adj" fmla="val 16872"/>
            </a:avLst>
          </a:prstGeom>
          <a:solidFill>
            <a:srgbClr val="FFFFFF"/>
          </a:solidFill>
          <a:ln w="12700">
            <a:solidFill>
              <a:srgbClr val="CDD2D8"/>
            </a:solidFill>
            <a:prstDash val="solid"/>
          </a:ln>
        </p:spPr>
      </p:sp>
      <p:sp>
        <p:nvSpPr>
          <p:cNvPr id="12" name="Text 10"/>
          <p:cNvSpPr/>
          <p:nvPr/>
        </p:nvSpPr>
        <p:spPr>
          <a:xfrm>
            <a:off x="977900" y="2915791"/>
            <a:ext cx="248539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On-prem self-hosting</a:t>
            </a:r>
            <a:endParaRPr lang="en-US" sz="1200" dirty="0"/>
          </a:p>
        </p:txBody>
      </p:sp>
      <p:sp>
        <p:nvSpPr>
          <p:cNvPr id="13" name="Text 11"/>
          <p:cNvSpPr/>
          <p:nvPr/>
        </p:nvSpPr>
        <p:spPr>
          <a:xfrm>
            <a:off x="3594100" y="2915791"/>
            <a:ext cx="5546344"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E2B Embed (Sep 30) and Daytona's runners on customer hardware</a:t>
            </a:r>
            <a:endParaRPr lang="en-US" sz="1200" dirty="0"/>
          </a:p>
        </p:txBody>
      </p:sp>
      <p:sp>
        <p:nvSpPr>
          <p:cNvPr id="14" name="Text 12"/>
          <p:cNvSpPr/>
          <p:nvPr/>
        </p:nvSpPr>
        <p:spPr>
          <a:xfrm>
            <a:off x="9182100" y="2915791"/>
            <a:ext cx="209296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Overlaps</a:t>
            </a:r>
            <a:r>
              <a:rPr lang="en-US" sz="1200" dirty="0">
                <a:solidFill>
                  <a:srgbClr val="18202A"/>
                </a:solidFill>
                <a:latin typeface="IBM Plex Sans" pitchFamily="34" charset="0"/>
                <a:ea typeface="IBM Plex Sans" pitchFamily="34" charset="-122"/>
                <a:cs typeface="IBM Plex Sans" pitchFamily="34" charset="-120"/>
              </a:rPr>
              <a:t> in on-prem deals.</a:t>
            </a:r>
            <a:endParaRPr lang="en-US" sz="1200" dirty="0"/>
          </a:p>
        </p:txBody>
      </p:sp>
      <p:sp>
        <p:nvSpPr>
          <p:cNvPr id="15" name="Shape 13"/>
          <p:cNvSpPr/>
          <p:nvPr/>
        </p:nvSpPr>
        <p:spPr>
          <a:xfrm>
            <a:off x="819150" y="3412331"/>
            <a:ext cx="5194300" cy="1475581"/>
          </a:xfrm>
          <a:prstGeom prst="roundRect">
            <a:avLst>
              <a:gd name="adj" fmla="val 4734"/>
            </a:avLst>
          </a:prstGeom>
          <a:solidFill>
            <a:srgbClr val="FFFFFF"/>
          </a:solidFill>
          <a:ln w="12700">
            <a:solidFill>
              <a:srgbClr val="CDD2D8"/>
            </a:solidFill>
            <a:prstDash val="solid"/>
          </a:ln>
        </p:spPr>
      </p:sp>
      <p:sp>
        <p:nvSpPr>
          <p:cNvPr id="16" name="Text 14"/>
          <p:cNvSpPr/>
          <p:nvPr/>
        </p:nvSpPr>
        <p:spPr>
          <a:xfrm>
            <a:off x="1003300" y="3571081"/>
            <a:ext cx="497078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Signals of fit</a:t>
            </a:r>
            <a:endParaRPr lang="en-US" sz="1400" dirty="0"/>
          </a:p>
        </p:txBody>
      </p:sp>
      <p:sp>
        <p:nvSpPr>
          <p:cNvPr id="17" name="Text 15"/>
          <p:cNvSpPr/>
          <p:nvPr/>
        </p:nvSpPr>
        <p:spPr>
          <a:xfrm>
            <a:off x="1003300" y="3860602"/>
            <a:ext cx="497078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E2B wrote an OpenShell driver: OpenShell is the control plane, E2B microVMs are the compute</a:t>
            </a:r>
            <a:endParaRPr lang="en-US" sz="1200" dirty="0"/>
          </a:p>
        </p:txBody>
      </p:sp>
      <p:sp>
        <p:nvSpPr>
          <p:cNvPr id="18" name="Text 16"/>
          <p:cNvSpPr/>
          <p:nvPr/>
        </p:nvSpPr>
        <p:spPr>
          <a:xfrm>
            <a:off x="1003300" y="4332982"/>
            <a:ext cx="497078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Blaxel's Carbon ships an OpenShell template; NeMo Gym lists OpenShell beside Daytona and E2B</a:t>
            </a:r>
            <a:endParaRPr lang="en-US" sz="1200" dirty="0"/>
          </a:p>
        </p:txBody>
      </p:sp>
      <p:sp>
        <p:nvSpPr>
          <p:cNvPr id="19" name="Shape 17"/>
          <p:cNvSpPr/>
          <p:nvPr/>
        </p:nvSpPr>
        <p:spPr>
          <a:xfrm>
            <a:off x="6178550" y="3412331"/>
            <a:ext cx="5194300" cy="1475581"/>
          </a:xfrm>
          <a:prstGeom prst="roundRect">
            <a:avLst>
              <a:gd name="adj" fmla="val 4734"/>
            </a:avLst>
          </a:prstGeom>
          <a:solidFill>
            <a:srgbClr val="FFFFFF"/>
          </a:solidFill>
          <a:ln w="12700">
            <a:solidFill>
              <a:srgbClr val="CDD2D8"/>
            </a:solidFill>
            <a:prstDash val="solid"/>
          </a:ln>
        </p:spPr>
      </p:sp>
      <p:sp>
        <p:nvSpPr>
          <p:cNvPr id="20" name="Text 18"/>
          <p:cNvSpPr/>
          <p:nvPr/>
        </p:nvSpPr>
        <p:spPr>
          <a:xfrm>
            <a:off x="6362700" y="3571081"/>
            <a:ext cx="497078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Signals of conflict</a:t>
            </a:r>
            <a:endParaRPr lang="en-US" sz="1400" dirty="0"/>
          </a:p>
        </p:txBody>
      </p:sp>
      <p:sp>
        <p:nvSpPr>
          <p:cNvPr id="21" name="Text 19"/>
          <p:cNvSpPr/>
          <p:nvPr/>
        </p:nvSpPr>
        <p:spPr>
          <a:xfrm>
            <a:off x="6362700" y="3860602"/>
            <a:ext cx="497078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An unofficial site pitches OpenShell as a free alternative to E2B</a:t>
            </a:r>
            <a:endParaRPr lang="en-US" sz="1200" dirty="0"/>
          </a:p>
        </p:txBody>
      </p:sp>
      <p:sp>
        <p:nvSpPr>
          <p:cNvPr id="22" name="Text 20"/>
          <p:cNvSpPr/>
          <p:nvPr/>
        </p:nvSpPr>
        <p:spPr>
          <a:xfrm>
            <a:off x="6362700" y="4134892"/>
            <a:ext cx="497078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OpenAI declined to add OpenShell as a built-in Agents SDK provider</a:t>
            </a:r>
            <a:endParaRPr lang="en-US" sz="1200" dirty="0"/>
          </a:p>
        </p:txBody>
      </p:sp>
      <p:sp>
        <p:nvSpPr>
          <p:cNvPr id="23" name="Text 21"/>
          <p:cNvSpPr/>
          <p:nvPr/>
        </p:nvSpPr>
        <p:spPr>
          <a:xfrm>
            <a:off x="812800" y="5072063"/>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8202A"/>
                </a:solidFill>
                <a:latin typeface="IBM Plex Sans" pitchFamily="34" charset="0"/>
                <a:ea typeface="IBM Plex Sans" pitchFamily="34" charset="-122"/>
                <a:cs typeface="IBM Plex Sans" pitchFamily="34" charset="-120"/>
              </a:rPr>
              <a:t>Position: OpenShell policy, any sandbox compute. Never pitch it as a replacement for a vendor.</a:t>
            </a:r>
            <a:endParaRPr lang="en-US" sz="1400" dirty="0"/>
          </a:p>
        </p:txBody>
      </p:sp>
      <p:sp>
        <p:nvSpPr>
          <p:cNvPr id="24" name="Text 22"/>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3 · OpenShell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Five paths from OpenShell to NVIDIA revenue</a:t>
            </a:r>
            <a:endParaRPr lang="en-US" sz="2800" dirty="0"/>
          </a:p>
        </p:txBody>
      </p:sp>
      <p:sp>
        <p:nvSpPr>
          <p:cNvPr id="3" name="Text 1"/>
          <p:cNvSpPr/>
          <p:nvPr/>
        </p:nvSpPr>
        <p:spPr>
          <a:xfrm>
            <a:off x="812800" y="127253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563"/>
                </a:solidFill>
                <a:latin typeface="IBM Plex Sans" pitchFamily="34" charset="0"/>
                <a:ea typeface="IBM Plex Sans" pitchFamily="34" charset="-122"/>
                <a:cs typeface="IBM Plex Sans" pitchFamily="34" charset="-120"/>
              </a:rPr>
              <a:t>OpenShell is free; NVIDIA earns on what it lets agents run on.</a:t>
            </a:r>
            <a:endParaRPr lang="en-US" sz="1400" dirty="0"/>
          </a:p>
        </p:txBody>
      </p:sp>
      <p:sp>
        <p:nvSpPr>
          <p:cNvPr id="4" name="Shape 2"/>
          <p:cNvSpPr/>
          <p:nvPr/>
        </p:nvSpPr>
        <p:spPr>
          <a:xfrm>
            <a:off x="819150" y="1705570"/>
            <a:ext cx="1998960" cy="2707332"/>
          </a:xfrm>
          <a:prstGeom prst="roundRect">
            <a:avLst>
              <a:gd name="adj" fmla="val 3494"/>
            </a:avLst>
          </a:prstGeom>
          <a:solidFill>
            <a:srgbClr val="FFFFFF"/>
          </a:solidFill>
          <a:ln w="12700">
            <a:solidFill>
              <a:srgbClr val="CDD2D8"/>
            </a:solidFill>
            <a:prstDash val="solid"/>
          </a:ln>
        </p:spPr>
      </p:sp>
      <p:sp>
        <p:nvSpPr>
          <p:cNvPr id="5" name="Text 3"/>
          <p:cNvSpPr/>
          <p:nvPr/>
        </p:nvSpPr>
        <p:spPr>
          <a:xfrm>
            <a:off x="977900" y="1864320"/>
            <a:ext cx="173226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Path 1</a:t>
            </a:r>
            <a:endParaRPr lang="en-US" sz="1200" dirty="0"/>
          </a:p>
        </p:txBody>
      </p:sp>
      <p:sp>
        <p:nvSpPr>
          <p:cNvPr id="6" name="Text 4"/>
          <p:cNvSpPr/>
          <p:nvPr/>
        </p:nvSpPr>
        <p:spPr>
          <a:xfrm>
            <a:off x="977900" y="2125911"/>
            <a:ext cx="17322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Vera CPUs</a:t>
            </a:r>
            <a:endParaRPr lang="en-US" sz="1400" dirty="0"/>
          </a:p>
        </p:txBody>
      </p:sp>
      <p:sp>
        <p:nvSpPr>
          <p:cNvPr id="7" name="Text 5"/>
          <p:cNvSpPr/>
          <p:nvPr/>
        </p:nvSpPr>
        <p:spPr>
          <a:xfrm>
            <a:off x="977900" y="2402731"/>
            <a:ext cx="173226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Racks for sandbox fleets and RL rollouts</a:t>
            </a:r>
            <a:endParaRPr lang="en-US" sz="1200" dirty="0"/>
          </a:p>
        </p:txBody>
      </p:sp>
      <p:pic>
        <p:nvPicPr>
          <p:cNvPr id="8" name="Image 0" descr="line">    </p:cNvPr>
          <p:cNvPicPr>
            <a:picLocks noChangeAspect="1"/>
          </p:cNvPicPr>
          <p:nvPr/>
        </p:nvPicPr>
        <p:blipFill>
          <a:blip r:embed="rId1"/>
          <a:srcRect l="0" r="0" t="-39" b="-39"/>
          <a:stretch/>
        </p:blipFill>
        <p:spPr>
          <a:xfrm>
            <a:off x="977900" y="2862411"/>
            <a:ext cx="1681460" cy="12700"/>
          </a:xfrm>
          <a:prstGeom prst="rect">
            <a:avLst/>
          </a:prstGeom>
        </p:spPr>
      </p:pic>
      <p:sp>
        <p:nvSpPr>
          <p:cNvPr id="9" name="Text 6"/>
          <p:cNvSpPr/>
          <p:nvPr/>
        </p:nvSpPr>
        <p:spPr>
          <a:xfrm>
            <a:off x="977900" y="2938611"/>
            <a:ext cx="1732260"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CoreWeave: more than 3x faster sandbox startup. Perplexity: 1.5x faster coding workflow.</a:t>
            </a:r>
            <a:endParaRPr lang="en-US" sz="1200" dirty="0"/>
          </a:p>
        </p:txBody>
      </p:sp>
      <p:sp>
        <p:nvSpPr>
          <p:cNvPr id="10" name="Text 7"/>
          <p:cNvSpPr/>
          <p:nvPr/>
        </p:nvSpPr>
        <p:spPr>
          <a:xfrm>
            <a:off x="977900" y="3857972"/>
            <a:ext cx="173226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Early: systems ship this fall</a:t>
            </a:r>
            <a:endParaRPr lang="en-US" sz="1200" dirty="0"/>
          </a:p>
        </p:txBody>
      </p:sp>
      <p:sp>
        <p:nvSpPr>
          <p:cNvPr id="11" name="Shape 8"/>
          <p:cNvSpPr/>
          <p:nvPr/>
        </p:nvSpPr>
        <p:spPr>
          <a:xfrm>
            <a:off x="2957810" y="1705570"/>
            <a:ext cx="1998960" cy="2707332"/>
          </a:xfrm>
          <a:prstGeom prst="roundRect">
            <a:avLst>
              <a:gd name="adj" fmla="val 3494"/>
            </a:avLst>
          </a:prstGeom>
          <a:solidFill>
            <a:srgbClr val="FFFFFF"/>
          </a:solidFill>
          <a:ln w="12700">
            <a:solidFill>
              <a:srgbClr val="CDD2D8"/>
            </a:solidFill>
            <a:prstDash val="solid"/>
          </a:ln>
        </p:spPr>
      </p:sp>
      <p:sp>
        <p:nvSpPr>
          <p:cNvPr id="12" name="Text 9"/>
          <p:cNvSpPr/>
          <p:nvPr/>
        </p:nvSpPr>
        <p:spPr>
          <a:xfrm>
            <a:off x="3116560" y="1864320"/>
            <a:ext cx="173226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Path 2</a:t>
            </a:r>
            <a:endParaRPr lang="en-US" sz="1200" dirty="0"/>
          </a:p>
        </p:txBody>
      </p:sp>
      <p:sp>
        <p:nvSpPr>
          <p:cNvPr id="13" name="Text 10"/>
          <p:cNvSpPr/>
          <p:nvPr/>
        </p:nvSpPr>
        <p:spPr>
          <a:xfrm>
            <a:off x="3116560" y="2125911"/>
            <a:ext cx="17322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BlueField-4</a:t>
            </a:r>
            <a:endParaRPr lang="en-US" sz="1400" dirty="0"/>
          </a:p>
        </p:txBody>
      </p:sp>
      <p:sp>
        <p:nvSpPr>
          <p:cNvPr id="14" name="Text 11"/>
          <p:cNvSpPr/>
          <p:nvPr/>
        </p:nvSpPr>
        <p:spPr>
          <a:xfrm>
            <a:off x="3116560" y="2402731"/>
            <a:ext cx="173226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Sentry, the out-of-band watchdog</a:t>
            </a:r>
            <a:endParaRPr lang="en-US" sz="1200" dirty="0"/>
          </a:p>
        </p:txBody>
      </p:sp>
      <p:pic>
        <p:nvPicPr>
          <p:cNvPr id="15" name="Image 1" descr="line">    </p:cNvPr>
          <p:cNvPicPr>
            <a:picLocks noChangeAspect="1"/>
          </p:cNvPicPr>
          <p:nvPr/>
        </p:nvPicPr>
        <p:blipFill>
          <a:blip r:embed="rId2"/>
          <a:srcRect l="0" r="0" t="-39" b="-39"/>
          <a:stretch/>
        </p:blipFill>
        <p:spPr>
          <a:xfrm>
            <a:off x="3116560" y="2862411"/>
            <a:ext cx="1681460" cy="12700"/>
          </a:xfrm>
          <a:prstGeom prst="rect">
            <a:avLst/>
          </a:prstGeom>
        </p:spPr>
      </p:pic>
      <p:sp>
        <p:nvSpPr>
          <p:cNvPr id="16" name="Text 12"/>
          <p:cNvSpPr/>
          <p:nvPr/>
        </p:nvSpPr>
        <p:spPr>
          <a:xfrm>
            <a:off x="3116560" y="2938611"/>
            <a:ext cx="1732260"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Reference design in the Sep 28 safety platform. Pricing and an x86 version are unpublished.</a:t>
            </a:r>
            <a:endParaRPr lang="en-US" sz="1200" dirty="0"/>
          </a:p>
        </p:txBody>
      </p:sp>
      <p:sp>
        <p:nvSpPr>
          <p:cNvPr id="17" name="Text 13"/>
          <p:cNvSpPr/>
          <p:nvPr/>
        </p:nvSpPr>
        <p:spPr>
          <a:xfrm>
            <a:off x="3116560" y="3857972"/>
            <a:ext cx="173226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Early: reference design only</a:t>
            </a:r>
            <a:endParaRPr lang="en-US" sz="1200" dirty="0"/>
          </a:p>
        </p:txBody>
      </p:sp>
      <p:sp>
        <p:nvSpPr>
          <p:cNvPr id="18" name="Shape 14"/>
          <p:cNvSpPr/>
          <p:nvPr/>
        </p:nvSpPr>
        <p:spPr>
          <a:xfrm>
            <a:off x="5096470" y="1705570"/>
            <a:ext cx="1999010" cy="2707332"/>
          </a:xfrm>
          <a:prstGeom prst="roundRect">
            <a:avLst>
              <a:gd name="adj" fmla="val 3494"/>
            </a:avLst>
          </a:prstGeom>
          <a:solidFill>
            <a:srgbClr val="FFFFFF"/>
          </a:solidFill>
          <a:ln w="12700">
            <a:solidFill>
              <a:srgbClr val="CDD2D8"/>
            </a:solidFill>
            <a:prstDash val="solid"/>
          </a:ln>
        </p:spPr>
      </p:sp>
      <p:sp>
        <p:nvSpPr>
          <p:cNvPr id="19" name="Text 15"/>
          <p:cNvSpPr/>
          <p:nvPr/>
        </p:nvSpPr>
        <p:spPr>
          <a:xfrm>
            <a:off x="5255220" y="1864320"/>
            <a:ext cx="173231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Path 3</a:t>
            </a:r>
            <a:endParaRPr lang="en-US" sz="1200" dirty="0"/>
          </a:p>
        </p:txBody>
      </p:sp>
      <p:sp>
        <p:nvSpPr>
          <p:cNvPr id="20" name="Text 16"/>
          <p:cNvSpPr/>
          <p:nvPr/>
        </p:nvSpPr>
        <p:spPr>
          <a:xfrm>
            <a:off x="5255220" y="2125911"/>
            <a:ext cx="173231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On-prem NIM and RTX PRO</a:t>
            </a:r>
            <a:endParaRPr lang="en-US" sz="1400" dirty="0"/>
          </a:p>
        </p:txBody>
      </p:sp>
      <p:sp>
        <p:nvSpPr>
          <p:cNvPr id="21" name="Text 17"/>
          <p:cNvSpPr/>
          <p:nvPr/>
        </p:nvSpPr>
        <p:spPr>
          <a:xfrm>
            <a:off x="5255220" y="2616051"/>
            <a:ext cx="173231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Models and GPUs in regulated estates</a:t>
            </a:r>
            <a:endParaRPr lang="en-US" sz="1200" dirty="0"/>
          </a:p>
        </p:txBody>
      </p:sp>
      <p:pic>
        <p:nvPicPr>
          <p:cNvPr id="22" name="Image 2" descr="line">    </p:cNvPr>
          <p:cNvPicPr>
            <a:picLocks noChangeAspect="1"/>
          </p:cNvPicPr>
          <p:nvPr/>
        </p:nvPicPr>
        <p:blipFill>
          <a:blip r:embed="rId3"/>
          <a:srcRect l="0" r="0" t="-35" b="-35"/>
          <a:stretch/>
        </p:blipFill>
        <p:spPr>
          <a:xfrm>
            <a:off x="5255220" y="3075732"/>
            <a:ext cx="1681510" cy="12700"/>
          </a:xfrm>
          <a:prstGeom prst="rect">
            <a:avLst/>
          </a:prstGeom>
        </p:spPr>
      </p:pic>
      <p:sp>
        <p:nvSpPr>
          <p:cNvPr id="23" name="Text 18"/>
          <p:cNvSpPr/>
          <p:nvPr/>
        </p:nvSpPr>
        <p:spPr>
          <a:xfrm>
            <a:off x="5255220" y="3151932"/>
            <a:ext cx="173231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EnterpriseClaw runs NIM and Nemotron for on-prem customers.</a:t>
            </a:r>
            <a:endParaRPr lang="en-US" sz="1200" dirty="0"/>
          </a:p>
        </p:txBody>
      </p:sp>
      <p:sp>
        <p:nvSpPr>
          <p:cNvPr id="24" name="Text 19"/>
          <p:cNvSpPr/>
          <p:nvPr/>
        </p:nvSpPr>
        <p:spPr>
          <a:xfrm>
            <a:off x="5255220" y="4056063"/>
            <a:ext cx="173231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Working at one partner</a:t>
            </a:r>
            <a:endParaRPr lang="en-US" sz="1200" dirty="0"/>
          </a:p>
        </p:txBody>
      </p:sp>
      <p:sp>
        <p:nvSpPr>
          <p:cNvPr id="25" name="Shape 20"/>
          <p:cNvSpPr/>
          <p:nvPr/>
        </p:nvSpPr>
        <p:spPr>
          <a:xfrm>
            <a:off x="7235180" y="1705570"/>
            <a:ext cx="1998960" cy="2707332"/>
          </a:xfrm>
          <a:prstGeom prst="roundRect">
            <a:avLst>
              <a:gd name="adj" fmla="val 3494"/>
            </a:avLst>
          </a:prstGeom>
          <a:solidFill>
            <a:srgbClr val="FFFFFF"/>
          </a:solidFill>
          <a:ln w="12700">
            <a:solidFill>
              <a:srgbClr val="CDD2D8"/>
            </a:solidFill>
            <a:prstDash val="solid"/>
          </a:ln>
        </p:spPr>
      </p:sp>
      <p:sp>
        <p:nvSpPr>
          <p:cNvPr id="26" name="Text 21"/>
          <p:cNvSpPr/>
          <p:nvPr/>
        </p:nvSpPr>
        <p:spPr>
          <a:xfrm>
            <a:off x="7393930" y="1864320"/>
            <a:ext cx="173226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Path 4</a:t>
            </a:r>
            <a:endParaRPr lang="en-US" sz="1200" dirty="0"/>
          </a:p>
        </p:txBody>
      </p:sp>
      <p:sp>
        <p:nvSpPr>
          <p:cNvPr id="27" name="Text 22"/>
          <p:cNvSpPr/>
          <p:nvPr/>
        </p:nvSpPr>
        <p:spPr>
          <a:xfrm>
            <a:off x="7393930" y="2125911"/>
            <a:ext cx="17322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GPU hours for RL</a:t>
            </a:r>
            <a:endParaRPr lang="en-US" sz="1400" dirty="0"/>
          </a:p>
        </p:txBody>
      </p:sp>
      <p:sp>
        <p:nvSpPr>
          <p:cNvPr id="28" name="Text 23"/>
          <p:cNvSpPr/>
          <p:nvPr/>
        </p:nvSpPr>
        <p:spPr>
          <a:xfrm>
            <a:off x="7393930" y="2402731"/>
            <a:ext cx="173226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Training runs whose rollouts live in partner sandboxes</a:t>
            </a:r>
            <a:endParaRPr lang="en-US" sz="1200" dirty="0"/>
          </a:p>
        </p:txBody>
      </p:sp>
      <p:pic>
        <p:nvPicPr>
          <p:cNvPr id="29" name="Image 3" descr="line">    </p:cNvPr>
          <p:cNvPicPr>
            <a:picLocks noChangeAspect="1"/>
          </p:cNvPicPr>
          <p:nvPr/>
        </p:nvPicPr>
        <p:blipFill>
          <a:blip r:embed="rId4"/>
          <a:srcRect l="0" r="0" t="-39" b="-39"/>
          <a:stretch/>
        </p:blipFill>
        <p:spPr>
          <a:xfrm>
            <a:off x="7393930" y="3060502"/>
            <a:ext cx="1681460" cy="12700"/>
          </a:xfrm>
          <a:prstGeom prst="rect">
            <a:avLst/>
          </a:prstGeom>
        </p:spPr>
      </p:pic>
      <p:sp>
        <p:nvSpPr>
          <p:cNvPr id="30" name="Text 24"/>
          <p:cNvSpPr/>
          <p:nvPr/>
        </p:nvSpPr>
        <p:spPr>
          <a:xfrm>
            <a:off x="7393930" y="3136702"/>
            <a:ext cx="173226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NeMo Gym ships Daytona, E2B and OpenShell providers.</a:t>
            </a:r>
            <a:endParaRPr lang="en-US" sz="1200" dirty="0"/>
          </a:p>
        </p:txBody>
      </p:sp>
      <p:sp>
        <p:nvSpPr>
          <p:cNvPr id="31" name="Text 25"/>
          <p:cNvSpPr/>
          <p:nvPr/>
        </p:nvSpPr>
        <p:spPr>
          <a:xfrm>
            <a:off x="7393930" y="3857972"/>
            <a:ext cx="173226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Working, not yet measured</a:t>
            </a:r>
            <a:endParaRPr lang="en-US" sz="1200" dirty="0"/>
          </a:p>
        </p:txBody>
      </p:sp>
      <p:sp>
        <p:nvSpPr>
          <p:cNvPr id="32" name="Shape 26"/>
          <p:cNvSpPr/>
          <p:nvPr/>
        </p:nvSpPr>
        <p:spPr>
          <a:xfrm>
            <a:off x="9373840" y="1705570"/>
            <a:ext cx="1998960" cy="2707332"/>
          </a:xfrm>
          <a:prstGeom prst="roundRect">
            <a:avLst>
              <a:gd name="adj" fmla="val 3494"/>
            </a:avLst>
          </a:prstGeom>
          <a:solidFill>
            <a:srgbClr val="FFFFFF"/>
          </a:solidFill>
          <a:ln w="12700">
            <a:solidFill>
              <a:srgbClr val="8C96A1"/>
            </a:solidFill>
            <a:prstDash val="dash"/>
          </a:ln>
        </p:spPr>
      </p:sp>
      <p:sp>
        <p:nvSpPr>
          <p:cNvPr id="33" name="Text 27"/>
          <p:cNvSpPr/>
          <p:nvPr/>
        </p:nvSpPr>
        <p:spPr>
          <a:xfrm>
            <a:off x="9532590" y="1864320"/>
            <a:ext cx="173226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Path 5</a:t>
            </a:r>
            <a:endParaRPr lang="en-US" sz="1200" dirty="0"/>
          </a:p>
        </p:txBody>
      </p:sp>
      <p:sp>
        <p:nvSpPr>
          <p:cNvPr id="34" name="Text 28"/>
          <p:cNvSpPr/>
          <p:nvPr/>
        </p:nvSpPr>
        <p:spPr>
          <a:xfrm>
            <a:off x="9532590" y="2125911"/>
            <a:ext cx="17322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Inference tokens</a:t>
            </a:r>
            <a:endParaRPr lang="en-US" sz="1400" dirty="0"/>
          </a:p>
        </p:txBody>
      </p:sp>
      <p:sp>
        <p:nvSpPr>
          <p:cNvPr id="35" name="Text 29"/>
          <p:cNvSpPr/>
          <p:nvPr/>
        </p:nvSpPr>
        <p:spPr>
          <a:xfrm>
            <a:off x="9532590" y="2402731"/>
            <a:ext cx="173226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Nemotron chosen inside governed agents</a:t>
            </a:r>
            <a:endParaRPr lang="en-US" sz="1200" dirty="0"/>
          </a:p>
        </p:txBody>
      </p:sp>
      <p:pic>
        <p:nvPicPr>
          <p:cNvPr id="36" name="Image 4" descr="line">    </p:cNvPr>
          <p:cNvPicPr>
            <a:picLocks noChangeAspect="1"/>
          </p:cNvPicPr>
          <p:nvPr/>
        </p:nvPicPr>
        <p:blipFill>
          <a:blip r:embed="rId5"/>
          <a:srcRect l="0" r="0" t="-39" b="-39"/>
          <a:stretch/>
        </p:blipFill>
        <p:spPr>
          <a:xfrm>
            <a:off x="9532590" y="2862411"/>
            <a:ext cx="1681460" cy="12700"/>
          </a:xfrm>
          <a:prstGeom prst="rect">
            <a:avLst/>
          </a:prstGeom>
        </p:spPr>
      </p:pic>
      <p:sp>
        <p:nvSpPr>
          <p:cNvPr id="37" name="Text 30"/>
          <p:cNvSpPr/>
          <p:nvPr/>
        </p:nvSpPr>
        <p:spPr>
          <a:xfrm>
            <a:off x="9532590" y="2938611"/>
            <a:ext cx="173226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Router removed Sep 25. NVIDIA was about 1.7% of provider profiles.</a:t>
            </a:r>
            <a:endParaRPr lang="en-US" sz="1200" dirty="0"/>
          </a:p>
        </p:txBody>
      </p:sp>
      <p:sp>
        <p:nvSpPr>
          <p:cNvPr id="38" name="Text 31"/>
          <p:cNvSpPr/>
          <p:nvPr/>
        </p:nvSpPr>
        <p:spPr>
          <a:xfrm>
            <a:off x="9532590" y="3857972"/>
            <a:ext cx="173226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Weakened: needs partner work</a:t>
            </a:r>
            <a:endParaRPr lang="en-US" sz="1200" dirty="0"/>
          </a:p>
        </p:txBody>
      </p:sp>
      <p:sp>
        <p:nvSpPr>
          <p:cNvPr id="39" name="Text 32"/>
          <p:cNvSpPr/>
          <p:nvPr/>
        </p:nvSpPr>
        <p:spPr>
          <a:xfrm>
            <a:off x="812800" y="4597053"/>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8202A"/>
                </a:solidFill>
                <a:latin typeface="IBM Plex Sans" pitchFamily="34" charset="0"/>
                <a:ea typeface="IBM Plex Sans" pitchFamily="34" charset="-122"/>
                <a:cs typeface="IBM Plex Sans" pitchFamily="34" charset="-120"/>
              </a:rPr>
              <a:t>Paths 1 to 4 hold whatever model the agent calls. Path 5 must be rebuilt with partners.</a:t>
            </a:r>
            <a:endParaRPr lang="en-US" sz="1400" dirty="0"/>
          </a:p>
        </p:txBody>
      </p:sp>
      <p:sp>
        <p:nvSpPr>
          <p:cNvPr id="40" name="Text 33"/>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3 · OpenShell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All four platforms govern models, not the runtime</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12230"/>
          <a:ext cx="10553700" cy="3410694"/>
        </p:xfrm>
        <a:graphic>
          <a:graphicData uri="http://schemas.openxmlformats.org/drawingml/2006/table">
            <a:tbl>
              <a:tblPr/>
              <a:tblGrid>
                <a:gridCol w="1688592"/>
                <a:gridCol w="2216277"/>
                <a:gridCol w="2216277"/>
                <a:gridCol w="2216277"/>
                <a:gridCol w="2216277"/>
              </a:tblGrid>
              <a:tr h="317450">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Automation Anywhere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UiPath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Kore.ai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Uniphore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r>
              <a:tr h="515541">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Scale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0.5B executions a year; private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$1.94B ARR, up 12%; public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500+ Global 2000; private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2,000+ businesses; private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515541">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Where agents run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Windows bots plus EnterpriseClaw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Serverless containers; Azure robot VMs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Kore cloud on Azure, or self-hosted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Cloud, VPC, on-prem, Rackspace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515541">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Isolation documented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OpenShell inside EnterpriseClaw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Ephemeral containers; tech undisclosed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Code tools: 256 MB, 5 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Nothing published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515541">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Computer use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UI agents in preview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ScreenPlay; Delegate desktop agent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Chrome extension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Orby large action 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515541">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NVIDIA today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OpenShell, NIM and Nemotron (May 2026)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NIM connector (Sep 2025)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Equity only (Jan 2024)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Equity; Nemotron benchmark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515541">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OpenShell entry point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Default runtime at GA (Q4)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Coded agents in Automation Suite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Code tools in the self-hosted edition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Tool steps in sovereign deployments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sp>
        <p:nvSpPr>
          <p:cNvPr id="4" name="Text 1"/>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4 · Enterprise platforms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Automation Anywhere ships OpenShell today</a:t>
            </a:r>
            <a:endParaRPr lang="en-US" sz="2800" dirty="0"/>
          </a:p>
        </p:txBody>
      </p:sp>
      <p:sp>
        <p:nvSpPr>
          <p:cNvPr id="3" name="Shape 1"/>
          <p:cNvSpPr/>
          <p:nvPr/>
        </p:nvSpPr>
        <p:spPr>
          <a:xfrm>
            <a:off x="819150" y="1380480"/>
            <a:ext cx="3407817" cy="612080"/>
          </a:xfrm>
          <a:prstGeom prst="roundRect">
            <a:avLst>
              <a:gd name="adj" fmla="val 11412"/>
            </a:avLst>
          </a:prstGeom>
          <a:solidFill>
            <a:srgbClr val="FFFFFF"/>
          </a:solidFill>
          <a:ln w="12700">
            <a:solidFill>
              <a:srgbClr val="CDD2D8"/>
            </a:solidFill>
            <a:prstDash val="solid"/>
          </a:ln>
        </p:spPr>
      </p:sp>
      <p:sp>
        <p:nvSpPr>
          <p:cNvPr id="4" name="Text 2"/>
          <p:cNvSpPr/>
          <p:nvPr/>
        </p:nvSpPr>
        <p:spPr>
          <a:xfrm>
            <a:off x="977900" y="1532830"/>
            <a:ext cx="593130"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0.5B</a:t>
            </a:r>
            <a:endParaRPr lang="en-US" sz="2200" dirty="0"/>
          </a:p>
        </p:txBody>
      </p:sp>
      <p:sp>
        <p:nvSpPr>
          <p:cNvPr id="5" name="Text 3"/>
          <p:cNvSpPr/>
          <p:nvPr/>
        </p:nvSpPr>
        <p:spPr>
          <a:xfrm>
            <a:off x="1621830" y="1488430"/>
            <a:ext cx="2519779"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agent and automation executions a year</a:t>
            </a:r>
            <a:endParaRPr lang="en-US" sz="1200" dirty="0"/>
          </a:p>
        </p:txBody>
      </p:sp>
      <p:sp>
        <p:nvSpPr>
          <p:cNvPr id="6" name="Shape 4"/>
          <p:cNvSpPr/>
          <p:nvPr/>
        </p:nvSpPr>
        <p:spPr>
          <a:xfrm>
            <a:off x="4392067" y="1380480"/>
            <a:ext cx="3407866" cy="612080"/>
          </a:xfrm>
          <a:prstGeom prst="roundRect">
            <a:avLst>
              <a:gd name="adj" fmla="val 11412"/>
            </a:avLst>
          </a:prstGeom>
          <a:solidFill>
            <a:srgbClr val="FFFFFF"/>
          </a:solidFill>
          <a:ln w="12700">
            <a:solidFill>
              <a:srgbClr val="CDD2D8"/>
            </a:solidFill>
            <a:prstDash val="solid"/>
          </a:ln>
        </p:spPr>
      </p:sp>
      <p:sp>
        <p:nvSpPr>
          <p:cNvPr id="7" name="Text 5"/>
          <p:cNvSpPr/>
          <p:nvPr/>
        </p:nvSpPr>
        <p:spPr>
          <a:xfrm>
            <a:off x="4550817" y="1532830"/>
            <a:ext cx="323552"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5x</a:t>
            </a:r>
            <a:endParaRPr lang="en-US" sz="2200" dirty="0"/>
          </a:p>
        </p:txBody>
      </p:sp>
      <p:sp>
        <p:nvSpPr>
          <p:cNvPr id="8" name="Text 6"/>
          <p:cNvSpPr/>
          <p:nvPr/>
        </p:nvSpPr>
        <p:spPr>
          <a:xfrm>
            <a:off x="4925169" y="1488430"/>
            <a:ext cx="2797494"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growth in agentic AI executions, year over year</a:t>
            </a:r>
            <a:endParaRPr lang="en-US" sz="1200" dirty="0"/>
          </a:p>
        </p:txBody>
      </p:sp>
      <p:sp>
        <p:nvSpPr>
          <p:cNvPr id="9" name="Shape 7"/>
          <p:cNvSpPr/>
          <p:nvPr/>
        </p:nvSpPr>
        <p:spPr>
          <a:xfrm>
            <a:off x="7965033" y="1380480"/>
            <a:ext cx="3407817" cy="612080"/>
          </a:xfrm>
          <a:prstGeom prst="roundRect">
            <a:avLst>
              <a:gd name="adj" fmla="val 11412"/>
            </a:avLst>
          </a:prstGeom>
          <a:solidFill>
            <a:srgbClr val="FFFFFF"/>
          </a:solidFill>
          <a:ln w="12700">
            <a:solidFill>
              <a:srgbClr val="CDD2D8"/>
            </a:solidFill>
            <a:prstDash val="solid"/>
          </a:ln>
        </p:spPr>
      </p:sp>
      <p:sp>
        <p:nvSpPr>
          <p:cNvPr id="10" name="Text 8"/>
          <p:cNvSpPr/>
          <p:nvPr/>
        </p:nvSpPr>
        <p:spPr>
          <a:xfrm>
            <a:off x="8123783" y="1532830"/>
            <a:ext cx="357535"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Q4</a:t>
            </a:r>
            <a:endParaRPr lang="en-US" sz="2200" dirty="0"/>
          </a:p>
        </p:txBody>
      </p:sp>
      <p:sp>
        <p:nvSpPr>
          <p:cNvPr id="11" name="Text 9"/>
          <p:cNvSpPr/>
          <p:nvPr/>
        </p:nvSpPr>
        <p:spPr>
          <a:xfrm>
            <a:off x="8532118" y="1488430"/>
            <a:ext cx="2762441"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EnterpriseClaw GA, promised for later this year</a:t>
            </a:r>
            <a:endParaRPr lang="en-US" sz="1200" dirty="0"/>
          </a:p>
        </p:txBody>
      </p:sp>
      <p:sp>
        <p:nvSpPr>
          <p:cNvPr id="12" name="Shape 10"/>
          <p:cNvSpPr/>
          <p:nvPr/>
        </p:nvSpPr>
        <p:spPr>
          <a:xfrm>
            <a:off x="819150" y="2157661"/>
            <a:ext cx="3407817" cy="1859062"/>
          </a:xfrm>
          <a:prstGeom prst="roundRect">
            <a:avLst>
              <a:gd name="adj" fmla="val 3757"/>
            </a:avLst>
          </a:prstGeom>
          <a:solidFill>
            <a:srgbClr val="FFFFFF"/>
          </a:solidFill>
          <a:ln w="12700">
            <a:solidFill>
              <a:srgbClr val="CDD2D8"/>
            </a:solidFill>
            <a:prstDash val="solid"/>
          </a:ln>
        </p:spPr>
      </p:sp>
      <p:sp>
        <p:nvSpPr>
          <p:cNvPr id="13" name="Text 11"/>
          <p:cNvSpPr/>
          <p:nvPr/>
        </p:nvSpPr>
        <p:spPr>
          <a:xfrm>
            <a:off x="977900" y="2291011"/>
            <a:ext cx="3183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New in 2025 to 2026</a:t>
            </a:r>
            <a:endParaRPr lang="en-US" sz="1400" dirty="0"/>
          </a:p>
        </p:txBody>
      </p:sp>
      <p:sp>
        <p:nvSpPr>
          <p:cNvPr id="14" name="Text 12"/>
          <p:cNvSpPr/>
          <p:nvPr/>
        </p:nvSpPr>
        <p:spPr>
          <a:xfrm>
            <a:off x="977900" y="256783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May 2025: Process Reasoning Engine GA; UI agents in preview</a:t>
            </a:r>
            <a:endParaRPr lang="en-US" sz="1200" dirty="0"/>
          </a:p>
        </p:txBody>
      </p:sp>
      <p:sp>
        <p:nvSpPr>
          <p:cNvPr id="15" name="Text 13"/>
          <p:cNvSpPr/>
          <p:nvPr/>
        </p:nvSpPr>
        <p:spPr>
          <a:xfrm>
            <a:off x="977900" y="302751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Nov 2025: bought Aisera. Jan 2026: OpenAI collaboration</a:t>
            </a:r>
            <a:endParaRPr lang="en-US" sz="1200" dirty="0"/>
          </a:p>
        </p:txBody>
      </p:sp>
      <p:sp>
        <p:nvSpPr>
          <p:cNvPr id="16" name="Text 14"/>
          <p:cNvSpPr/>
          <p:nvPr/>
        </p:nvSpPr>
        <p:spPr>
          <a:xfrm>
            <a:off x="977900" y="3487192"/>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May 2026: EnterpriseClaw preview on OpenShell, with Cisco and Okta</a:t>
            </a:r>
            <a:endParaRPr lang="en-US" sz="1200" dirty="0"/>
          </a:p>
        </p:txBody>
      </p:sp>
      <p:sp>
        <p:nvSpPr>
          <p:cNvPr id="17" name="Shape 15"/>
          <p:cNvSpPr/>
          <p:nvPr/>
        </p:nvSpPr>
        <p:spPr>
          <a:xfrm>
            <a:off x="4392067" y="2157661"/>
            <a:ext cx="3407817" cy="1859062"/>
          </a:xfrm>
          <a:prstGeom prst="roundRect">
            <a:avLst>
              <a:gd name="adj" fmla="val 3757"/>
            </a:avLst>
          </a:prstGeom>
          <a:solidFill>
            <a:srgbClr val="FFFFFF"/>
          </a:solidFill>
          <a:ln w="12700">
            <a:solidFill>
              <a:srgbClr val="CDD2D8"/>
            </a:solidFill>
            <a:prstDash val="solid"/>
          </a:ln>
        </p:spPr>
      </p:sp>
      <p:sp>
        <p:nvSpPr>
          <p:cNvPr id="18" name="Text 16"/>
          <p:cNvSpPr/>
          <p:nvPr/>
        </p:nvSpPr>
        <p:spPr>
          <a:xfrm>
            <a:off x="4550817" y="2291011"/>
            <a:ext cx="3183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How agents run today</a:t>
            </a:r>
            <a:endParaRPr lang="en-US" sz="1400" dirty="0"/>
          </a:p>
        </p:txBody>
      </p:sp>
      <p:sp>
        <p:nvSpPr>
          <p:cNvPr id="19" name="Text 17"/>
          <p:cNvSpPr/>
          <p:nvPr/>
        </p:nvSpPr>
        <p:spPr>
          <a:xfrm>
            <a:off x="4550817" y="256783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Classic bots run on Windows-only Bot Agents under Control Room</a:t>
            </a:r>
            <a:endParaRPr lang="en-US" sz="1200" dirty="0"/>
          </a:p>
        </p:txBody>
      </p:sp>
      <p:sp>
        <p:nvSpPr>
          <p:cNvPr id="20" name="Text 18"/>
          <p:cNvSpPr/>
          <p:nvPr/>
        </p:nvSpPr>
        <p:spPr>
          <a:xfrm>
            <a:off x="4550817" y="302751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EnterpriseClaw runs OpenClaw, LangChain, CrewAI agents in containers</a:t>
            </a:r>
            <a:endParaRPr lang="en-US" sz="1200" dirty="0"/>
          </a:p>
        </p:txBody>
      </p:sp>
      <p:sp>
        <p:nvSpPr>
          <p:cNvPr id="21" name="Text 19"/>
          <p:cNvSpPr/>
          <p:nvPr/>
        </p:nvSpPr>
        <p:spPr>
          <a:xfrm>
            <a:off x="4550817" y="3487192"/>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Desktops, VPCs, air-gapped sites; vault and Okta identities</a:t>
            </a:r>
            <a:endParaRPr lang="en-US" sz="1200" dirty="0"/>
          </a:p>
        </p:txBody>
      </p:sp>
      <p:sp>
        <p:nvSpPr>
          <p:cNvPr id="22" name="Shape 20"/>
          <p:cNvSpPr/>
          <p:nvPr/>
        </p:nvSpPr>
        <p:spPr>
          <a:xfrm>
            <a:off x="7964984" y="2157661"/>
            <a:ext cx="3407866" cy="1859062"/>
          </a:xfrm>
          <a:prstGeom prst="roundRect">
            <a:avLst>
              <a:gd name="adj" fmla="val 3757"/>
            </a:avLst>
          </a:prstGeom>
          <a:solidFill>
            <a:srgbClr val="FFFFFF"/>
          </a:solidFill>
          <a:ln w="12700">
            <a:solidFill>
              <a:srgbClr val="CDD2D8"/>
            </a:solidFill>
            <a:prstDash val="solid"/>
          </a:ln>
        </p:spPr>
      </p:sp>
      <p:sp>
        <p:nvSpPr>
          <p:cNvPr id="23" name="Text 21"/>
          <p:cNvSpPr/>
          <p:nvPr/>
        </p:nvSpPr>
        <p:spPr>
          <a:xfrm>
            <a:off x="8123734" y="2291011"/>
            <a:ext cx="318307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NVIDIA today</a:t>
            </a:r>
            <a:endParaRPr lang="en-US" sz="1400" dirty="0"/>
          </a:p>
        </p:txBody>
      </p:sp>
      <p:sp>
        <p:nvSpPr>
          <p:cNvPr id="24" name="Text 22"/>
          <p:cNvSpPr/>
          <p:nvPr/>
        </p:nvSpPr>
        <p:spPr>
          <a:xfrm>
            <a:off x="8123734" y="2567831"/>
            <a:ext cx="318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AA's release: "NVIDIA contributes OpenShell"; NIM and Nemotron on-prem</a:t>
            </a:r>
            <a:endParaRPr lang="en-US" sz="1200" dirty="0"/>
          </a:p>
        </p:txBody>
      </p:sp>
      <p:sp>
        <p:nvSpPr>
          <p:cNvPr id="25" name="Text 23"/>
          <p:cNvSpPr/>
          <p:nvPr/>
        </p:nvSpPr>
        <p:spPr>
          <a:xfrm>
            <a:off x="8123734" y="3027511"/>
            <a:ext cx="318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March 2026: Nemotron 3 Super fully on-prem on a single NVIDIA GPU</a:t>
            </a:r>
            <a:endParaRPr lang="en-US" sz="1200" dirty="0"/>
          </a:p>
        </p:txBody>
      </p:sp>
      <p:sp>
        <p:nvSpPr>
          <p:cNvPr id="26" name="Text 24"/>
          <p:cNvSpPr/>
          <p:nvPr/>
        </p:nvSpPr>
        <p:spPr>
          <a:xfrm>
            <a:off x="8123734" y="3487192"/>
            <a:ext cx="318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Missing from NVIDIA's Mar 16 and Sep 28 partner lists</a:t>
            </a:r>
            <a:endParaRPr lang="en-US" sz="1200" dirty="0"/>
          </a:p>
        </p:txBody>
      </p:sp>
      <p:sp>
        <p:nvSpPr>
          <p:cNvPr id="27" name="Shape 25"/>
          <p:cNvSpPr/>
          <p:nvPr/>
        </p:nvSpPr>
        <p:spPr>
          <a:xfrm>
            <a:off x="819150" y="4181822"/>
            <a:ext cx="3407817" cy="1109861"/>
          </a:xfrm>
          <a:prstGeom prst="roundRect">
            <a:avLst>
              <a:gd name="adj" fmla="val 6294"/>
            </a:avLst>
          </a:prstGeom>
          <a:solidFill>
            <a:srgbClr val="FFFFFF"/>
          </a:solidFill>
          <a:ln w="12700">
            <a:solidFill>
              <a:srgbClr val="18202A"/>
            </a:solidFill>
            <a:prstDash val="solid"/>
          </a:ln>
        </p:spPr>
      </p:sp>
      <p:sp>
        <p:nvSpPr>
          <p:cNvPr id="28" name="Text 26"/>
          <p:cNvSpPr/>
          <p:nvPr/>
        </p:nvSpPr>
        <p:spPr>
          <a:xfrm>
            <a:off x="977900" y="4315172"/>
            <a:ext cx="318302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NVIDIA offers</a:t>
            </a:r>
            <a:endParaRPr lang="en-US" sz="1200" dirty="0"/>
          </a:p>
        </p:txBody>
      </p:sp>
      <p:sp>
        <p:nvSpPr>
          <p:cNvPr id="29" name="Text 27"/>
          <p:cNvSpPr/>
          <p:nvPr/>
        </p:nvSpPr>
        <p:spPr>
          <a:xfrm>
            <a:off x="977900" y="4564063"/>
            <a:ext cx="318302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Help moving EnterpriseClaw to OpenShell 0.1.x, NIM with Nemotron on-prem, RTX PRO sizing, and a slot in our next partner news</a:t>
            </a:r>
            <a:endParaRPr lang="en-US" sz="1200" dirty="0"/>
          </a:p>
        </p:txBody>
      </p:sp>
      <p:sp>
        <p:nvSpPr>
          <p:cNvPr id="30" name="Shape 28"/>
          <p:cNvSpPr/>
          <p:nvPr/>
        </p:nvSpPr>
        <p:spPr>
          <a:xfrm>
            <a:off x="4392067" y="4181822"/>
            <a:ext cx="3407817" cy="1109861"/>
          </a:xfrm>
          <a:prstGeom prst="roundRect">
            <a:avLst>
              <a:gd name="adj" fmla="val 6294"/>
            </a:avLst>
          </a:prstGeom>
          <a:solidFill>
            <a:srgbClr val="FFFFFF"/>
          </a:solidFill>
          <a:ln w="12700">
            <a:solidFill>
              <a:srgbClr val="18202A"/>
            </a:solidFill>
            <a:prstDash val="solid"/>
          </a:ln>
        </p:spPr>
      </p:sp>
      <p:sp>
        <p:nvSpPr>
          <p:cNvPr id="31" name="Text 29"/>
          <p:cNvSpPr/>
          <p:nvPr/>
        </p:nvSpPr>
        <p:spPr>
          <a:xfrm>
            <a:off x="4550817" y="4315172"/>
            <a:ext cx="318302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We ask</a:t>
            </a:r>
            <a:endParaRPr lang="en-US" sz="1200" dirty="0"/>
          </a:p>
        </p:txBody>
      </p:sp>
      <p:sp>
        <p:nvSpPr>
          <p:cNvPr id="32" name="Text 30"/>
          <p:cNvSpPr/>
          <p:nvPr/>
        </p:nvSpPr>
        <p:spPr>
          <a:xfrm>
            <a:off x="4550817" y="4564063"/>
            <a:ext cx="318302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OpenShell as the default runtime at GA, a Control Room policy adapter, their 1.0 requirements, and one regulated reference</a:t>
            </a:r>
            <a:endParaRPr lang="en-US" sz="1200" dirty="0"/>
          </a:p>
        </p:txBody>
      </p:sp>
      <p:sp>
        <p:nvSpPr>
          <p:cNvPr id="33" name="Shape 31"/>
          <p:cNvSpPr/>
          <p:nvPr/>
        </p:nvSpPr>
        <p:spPr>
          <a:xfrm>
            <a:off x="7964984" y="4181822"/>
            <a:ext cx="3407866" cy="1109861"/>
          </a:xfrm>
          <a:prstGeom prst="roundRect">
            <a:avLst>
              <a:gd name="adj" fmla="val 6294"/>
            </a:avLst>
          </a:prstGeom>
          <a:solidFill>
            <a:srgbClr val="FFFFFF"/>
          </a:solidFill>
          <a:ln w="12700">
            <a:solidFill>
              <a:srgbClr val="18202A"/>
            </a:solidFill>
            <a:prstDash val="solid"/>
          </a:ln>
        </p:spPr>
      </p:sp>
      <p:sp>
        <p:nvSpPr>
          <p:cNvPr id="34" name="Text 32"/>
          <p:cNvSpPr/>
          <p:nvPr/>
        </p:nvSpPr>
        <p:spPr>
          <a:xfrm>
            <a:off x="8123734" y="4315172"/>
            <a:ext cx="3183077"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90-day proof</a:t>
            </a:r>
            <a:endParaRPr lang="en-US" sz="1200" dirty="0"/>
          </a:p>
        </p:txBody>
      </p:sp>
      <p:sp>
        <p:nvSpPr>
          <p:cNvPr id="35" name="Text 33"/>
          <p:cNvSpPr/>
          <p:nvPr/>
        </p:nvSpPr>
        <p:spPr>
          <a:xfrm>
            <a:off x="8123734" y="4564063"/>
            <a:ext cx="3183077"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50 to 200 agents at a design partner on Linux; exfiltration blocked; Nemotron vs GPT-5.5 on cost per completed process</a:t>
            </a:r>
            <a:endParaRPr lang="en-US" sz="1200" dirty="0"/>
          </a:p>
        </p:txBody>
      </p:sp>
      <p:sp>
        <p:nvSpPr>
          <p:cNvPr id="36" name="Text 34"/>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4 · Enterprise platforms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UiPath owns its runtime and the biggest base</a:t>
            </a:r>
            <a:endParaRPr lang="en-US" sz="2800" dirty="0"/>
          </a:p>
        </p:txBody>
      </p:sp>
      <p:sp>
        <p:nvSpPr>
          <p:cNvPr id="3" name="Shape 1"/>
          <p:cNvSpPr/>
          <p:nvPr/>
        </p:nvSpPr>
        <p:spPr>
          <a:xfrm>
            <a:off x="819150" y="1380480"/>
            <a:ext cx="3407817" cy="612080"/>
          </a:xfrm>
          <a:prstGeom prst="roundRect">
            <a:avLst>
              <a:gd name="adj" fmla="val 11412"/>
            </a:avLst>
          </a:prstGeom>
          <a:solidFill>
            <a:srgbClr val="FFFFFF"/>
          </a:solidFill>
          <a:ln w="12700">
            <a:solidFill>
              <a:srgbClr val="CDD2D8"/>
            </a:solidFill>
            <a:prstDash val="solid"/>
          </a:ln>
        </p:spPr>
      </p:sp>
      <p:sp>
        <p:nvSpPr>
          <p:cNvPr id="4" name="Text 2"/>
          <p:cNvSpPr/>
          <p:nvPr/>
        </p:nvSpPr>
        <p:spPr>
          <a:xfrm>
            <a:off x="977900" y="1532830"/>
            <a:ext cx="851694"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$1.94B</a:t>
            </a:r>
            <a:endParaRPr lang="en-US" sz="2200" dirty="0"/>
          </a:p>
        </p:txBody>
      </p:sp>
      <p:sp>
        <p:nvSpPr>
          <p:cNvPr id="5" name="Text 3"/>
          <p:cNvSpPr/>
          <p:nvPr/>
        </p:nvSpPr>
        <p:spPr>
          <a:xfrm>
            <a:off x="1880394" y="1488430"/>
            <a:ext cx="2253458"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ARR, up 12%, quarter to Jul 31, 2026</a:t>
            </a:r>
            <a:endParaRPr lang="en-US" sz="1200" dirty="0"/>
          </a:p>
        </p:txBody>
      </p:sp>
      <p:sp>
        <p:nvSpPr>
          <p:cNvPr id="6" name="Shape 4"/>
          <p:cNvSpPr/>
          <p:nvPr/>
        </p:nvSpPr>
        <p:spPr>
          <a:xfrm>
            <a:off x="4392067" y="1380480"/>
            <a:ext cx="3407866" cy="612080"/>
          </a:xfrm>
          <a:prstGeom prst="roundRect">
            <a:avLst>
              <a:gd name="adj" fmla="val 11412"/>
            </a:avLst>
          </a:prstGeom>
          <a:solidFill>
            <a:srgbClr val="FFFFFF"/>
          </a:solidFill>
          <a:ln w="12700">
            <a:solidFill>
              <a:srgbClr val="CDD2D8"/>
            </a:solidFill>
            <a:prstDash val="solid"/>
          </a:ln>
        </p:spPr>
      </p:sp>
      <p:sp>
        <p:nvSpPr>
          <p:cNvPr id="7" name="Text 5"/>
          <p:cNvSpPr/>
          <p:nvPr/>
        </p:nvSpPr>
        <p:spPr>
          <a:xfrm>
            <a:off x="4550817" y="1532830"/>
            <a:ext cx="553740"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387</a:t>
            </a:r>
            <a:endParaRPr lang="en-US" sz="2200" dirty="0"/>
          </a:p>
        </p:txBody>
      </p:sp>
      <p:sp>
        <p:nvSpPr>
          <p:cNvPr id="8" name="Text 6"/>
          <p:cNvSpPr/>
          <p:nvPr/>
        </p:nvSpPr>
        <p:spPr>
          <a:xfrm>
            <a:off x="5155357" y="1587450"/>
            <a:ext cx="2400538"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customers above $1M in ARR</a:t>
            </a:r>
            <a:endParaRPr lang="en-US" sz="1200" dirty="0"/>
          </a:p>
        </p:txBody>
      </p:sp>
      <p:sp>
        <p:nvSpPr>
          <p:cNvPr id="9" name="Shape 7"/>
          <p:cNvSpPr/>
          <p:nvPr/>
        </p:nvSpPr>
        <p:spPr>
          <a:xfrm>
            <a:off x="7965033" y="1380480"/>
            <a:ext cx="3407817" cy="612080"/>
          </a:xfrm>
          <a:prstGeom prst="roundRect">
            <a:avLst>
              <a:gd name="adj" fmla="val 11412"/>
            </a:avLst>
          </a:prstGeom>
          <a:solidFill>
            <a:srgbClr val="FFFFFF"/>
          </a:solidFill>
          <a:ln w="12700">
            <a:solidFill>
              <a:srgbClr val="CDD2D8"/>
            </a:solidFill>
            <a:prstDash val="solid"/>
          </a:ln>
        </p:spPr>
      </p:sp>
      <p:sp>
        <p:nvSpPr>
          <p:cNvPr id="10" name="Text 8"/>
          <p:cNvSpPr/>
          <p:nvPr/>
        </p:nvSpPr>
        <p:spPr>
          <a:xfrm>
            <a:off x="8123783" y="1532830"/>
            <a:ext cx="946348"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Sep 23</a:t>
            </a:r>
            <a:endParaRPr lang="en-US" sz="2200" dirty="0"/>
          </a:p>
        </p:txBody>
      </p:sp>
      <p:sp>
        <p:nvSpPr>
          <p:cNvPr id="11" name="Text 9"/>
          <p:cNvSpPr/>
          <p:nvPr/>
        </p:nvSpPr>
        <p:spPr>
          <a:xfrm>
            <a:off x="9120932" y="1587450"/>
            <a:ext cx="193012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FUSION 2026 launches</a:t>
            </a:r>
            <a:endParaRPr lang="en-US" sz="1200" dirty="0"/>
          </a:p>
        </p:txBody>
      </p:sp>
      <p:sp>
        <p:nvSpPr>
          <p:cNvPr id="12" name="Shape 10"/>
          <p:cNvSpPr/>
          <p:nvPr/>
        </p:nvSpPr>
        <p:spPr>
          <a:xfrm>
            <a:off x="819150" y="2157661"/>
            <a:ext cx="3407817" cy="1859062"/>
          </a:xfrm>
          <a:prstGeom prst="roundRect">
            <a:avLst>
              <a:gd name="adj" fmla="val 3757"/>
            </a:avLst>
          </a:prstGeom>
          <a:solidFill>
            <a:srgbClr val="FFFFFF"/>
          </a:solidFill>
          <a:ln w="12700">
            <a:solidFill>
              <a:srgbClr val="CDD2D8"/>
            </a:solidFill>
            <a:prstDash val="solid"/>
          </a:ln>
        </p:spPr>
      </p:sp>
      <p:sp>
        <p:nvSpPr>
          <p:cNvPr id="13" name="Text 11"/>
          <p:cNvSpPr/>
          <p:nvPr/>
        </p:nvSpPr>
        <p:spPr>
          <a:xfrm>
            <a:off x="977900" y="2291011"/>
            <a:ext cx="3183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New in 2025 to 2026</a:t>
            </a:r>
            <a:endParaRPr lang="en-US" sz="1400" dirty="0"/>
          </a:p>
        </p:txBody>
      </p:sp>
      <p:sp>
        <p:nvSpPr>
          <p:cNvPr id="14" name="Text 12"/>
          <p:cNvSpPr/>
          <p:nvPr/>
        </p:nvSpPr>
        <p:spPr>
          <a:xfrm>
            <a:off x="977900" y="256783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Feb 2026: bought WorkFusion. May 2026: UiPath for Coding Agents GA</a:t>
            </a:r>
            <a:endParaRPr lang="en-US" sz="1200" dirty="0"/>
          </a:p>
        </p:txBody>
      </p:sp>
      <p:sp>
        <p:nvSpPr>
          <p:cNvPr id="15" name="Text 13"/>
          <p:cNvSpPr/>
          <p:nvPr/>
        </p:nvSpPr>
        <p:spPr>
          <a:xfrm>
            <a:off x="977900" y="302751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Sep 2026: Delegate desktop agent; Maestro split; Runtime Checker</a:t>
            </a:r>
            <a:endParaRPr lang="en-US" sz="1200" dirty="0"/>
          </a:p>
        </p:txBody>
      </p:sp>
      <p:sp>
        <p:nvSpPr>
          <p:cNvPr id="16" name="Text 14"/>
          <p:cNvSpPr/>
          <p:nvPr/>
        </p:nvSpPr>
        <p:spPr>
          <a:xfrm>
            <a:off x="977900" y="3487192"/>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Automation Suite on Linux with the full agentic stack</a:t>
            </a:r>
            <a:endParaRPr lang="en-US" sz="1200" dirty="0"/>
          </a:p>
        </p:txBody>
      </p:sp>
      <p:sp>
        <p:nvSpPr>
          <p:cNvPr id="17" name="Shape 15"/>
          <p:cNvSpPr/>
          <p:nvPr/>
        </p:nvSpPr>
        <p:spPr>
          <a:xfrm>
            <a:off x="4392067" y="2157661"/>
            <a:ext cx="3407817" cy="1859062"/>
          </a:xfrm>
          <a:prstGeom prst="roundRect">
            <a:avLst>
              <a:gd name="adj" fmla="val 3757"/>
            </a:avLst>
          </a:prstGeom>
          <a:solidFill>
            <a:srgbClr val="FFFFFF"/>
          </a:solidFill>
          <a:ln w="12700">
            <a:solidFill>
              <a:srgbClr val="CDD2D8"/>
            </a:solidFill>
            <a:prstDash val="solid"/>
          </a:ln>
        </p:spPr>
      </p:sp>
      <p:sp>
        <p:nvSpPr>
          <p:cNvPr id="18" name="Text 16"/>
          <p:cNvSpPr/>
          <p:nvPr/>
        </p:nvSpPr>
        <p:spPr>
          <a:xfrm>
            <a:off x="4550817" y="2291011"/>
            <a:ext cx="3183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How agents run today</a:t>
            </a:r>
            <a:endParaRPr lang="en-US" sz="1400" dirty="0"/>
          </a:p>
        </p:txBody>
      </p:sp>
      <p:sp>
        <p:nvSpPr>
          <p:cNvPr id="19" name="Text 17"/>
          <p:cNvSpPr/>
          <p:nvPr/>
        </p:nvSpPr>
        <p:spPr>
          <a:xfrm>
            <a:off x="4550817" y="256783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Coded agents on serverless robots; MCP servers in containers</a:t>
            </a:r>
            <a:endParaRPr lang="en-US" sz="1200" dirty="0"/>
          </a:p>
        </p:txBody>
      </p:sp>
      <p:sp>
        <p:nvSpPr>
          <p:cNvPr id="20" name="Text 18"/>
          <p:cNvSpPr/>
          <p:nvPr/>
        </p:nvSpPr>
        <p:spPr>
          <a:xfrm>
            <a:off x="4550817" y="302751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Cloud robot VMs in UiPath's Azure; isolation technology undisclosed</a:t>
            </a:r>
            <a:endParaRPr lang="en-US" sz="1200" dirty="0"/>
          </a:p>
        </p:txBody>
      </p:sp>
      <p:sp>
        <p:nvSpPr>
          <p:cNvPr id="21" name="Text 19"/>
          <p:cNvSpPr/>
          <p:nvPr/>
        </p:nvSpPr>
        <p:spPr>
          <a:xfrm>
            <a:off x="4550817" y="3487192"/>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AI Trust Layer governs model calls: allow-lists, regions, guardrails</a:t>
            </a:r>
            <a:endParaRPr lang="en-US" sz="1200" dirty="0"/>
          </a:p>
        </p:txBody>
      </p:sp>
      <p:sp>
        <p:nvSpPr>
          <p:cNvPr id="22" name="Shape 20"/>
          <p:cNvSpPr/>
          <p:nvPr/>
        </p:nvSpPr>
        <p:spPr>
          <a:xfrm>
            <a:off x="7964984" y="2157661"/>
            <a:ext cx="3407866" cy="1859062"/>
          </a:xfrm>
          <a:prstGeom prst="roundRect">
            <a:avLst>
              <a:gd name="adj" fmla="val 3757"/>
            </a:avLst>
          </a:prstGeom>
          <a:solidFill>
            <a:srgbClr val="FFFFFF"/>
          </a:solidFill>
          <a:ln w="12700">
            <a:solidFill>
              <a:srgbClr val="CDD2D8"/>
            </a:solidFill>
            <a:prstDash val="solid"/>
          </a:ln>
        </p:spPr>
      </p:sp>
      <p:sp>
        <p:nvSpPr>
          <p:cNvPr id="23" name="Text 21"/>
          <p:cNvSpPr/>
          <p:nvPr/>
        </p:nvSpPr>
        <p:spPr>
          <a:xfrm>
            <a:off x="8123734" y="2291011"/>
            <a:ext cx="318307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NVIDIA today</a:t>
            </a:r>
            <a:endParaRPr lang="en-US" sz="1400" dirty="0"/>
          </a:p>
        </p:txBody>
      </p:sp>
      <p:sp>
        <p:nvSpPr>
          <p:cNvPr id="24" name="Text 22"/>
          <p:cNvSpPr/>
          <p:nvPr/>
        </p:nvSpPr>
        <p:spPr>
          <a:xfrm>
            <a:off x="8123734" y="2567831"/>
            <a:ext cx="318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Sep 2025: NIM and Nemotron connector; on-prem left as exploration</a:t>
            </a:r>
            <a:endParaRPr lang="en-US" sz="1200" dirty="0"/>
          </a:p>
        </p:txBody>
      </p:sp>
      <p:sp>
        <p:nvSpPr>
          <p:cNvPr id="25" name="Text 23"/>
          <p:cNvSpPr/>
          <p:nvPr/>
        </p:nvSpPr>
        <p:spPr>
          <a:xfrm>
            <a:off x="8123734" y="3027511"/>
            <a:ext cx="318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Founding member of the Open Secure AI Alliance (Jul 2026)</a:t>
            </a:r>
            <a:endParaRPr lang="en-US" sz="1200" dirty="0"/>
          </a:p>
        </p:txBody>
      </p:sp>
      <p:sp>
        <p:nvSpPr>
          <p:cNvPr id="26" name="Text 24"/>
          <p:cNvSpPr/>
          <p:nvPr/>
        </p:nvSpPr>
        <p:spPr>
          <a:xfrm>
            <a:off x="8123734" y="3487192"/>
            <a:ext cx="318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Self-hosted model list: GLM, GPT-OSS, Qwen3; no Nemotron</a:t>
            </a:r>
            <a:endParaRPr lang="en-US" sz="1200" dirty="0"/>
          </a:p>
        </p:txBody>
      </p:sp>
      <p:sp>
        <p:nvSpPr>
          <p:cNvPr id="27" name="Shape 25"/>
          <p:cNvSpPr/>
          <p:nvPr/>
        </p:nvSpPr>
        <p:spPr>
          <a:xfrm>
            <a:off x="819150" y="4181822"/>
            <a:ext cx="3407817" cy="1109861"/>
          </a:xfrm>
          <a:prstGeom prst="roundRect">
            <a:avLst>
              <a:gd name="adj" fmla="val 6294"/>
            </a:avLst>
          </a:prstGeom>
          <a:solidFill>
            <a:srgbClr val="FFFFFF"/>
          </a:solidFill>
          <a:ln w="12700">
            <a:solidFill>
              <a:srgbClr val="18202A"/>
            </a:solidFill>
            <a:prstDash val="solid"/>
          </a:ln>
        </p:spPr>
      </p:sp>
      <p:sp>
        <p:nvSpPr>
          <p:cNvPr id="28" name="Text 26"/>
          <p:cNvSpPr/>
          <p:nvPr/>
        </p:nvSpPr>
        <p:spPr>
          <a:xfrm>
            <a:off x="977900" y="4315172"/>
            <a:ext cx="318302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NVIDIA offers</a:t>
            </a:r>
            <a:endParaRPr lang="en-US" sz="1200" dirty="0"/>
          </a:p>
        </p:txBody>
      </p:sp>
      <p:sp>
        <p:nvSpPr>
          <p:cNvPr id="29" name="Text 27"/>
          <p:cNvSpPr/>
          <p:nvPr/>
        </p:nvSpPr>
        <p:spPr>
          <a:xfrm>
            <a:off x="977900" y="4564063"/>
            <a:ext cx="318302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An OpenShell profile for coded agents and MCP servers, Nemotron NIM validated for air-gapped installs, and RTX PRO sizing</a:t>
            </a:r>
            <a:endParaRPr lang="en-US" sz="1200" dirty="0"/>
          </a:p>
        </p:txBody>
      </p:sp>
      <p:sp>
        <p:nvSpPr>
          <p:cNvPr id="30" name="Shape 28"/>
          <p:cNvSpPr/>
          <p:nvPr/>
        </p:nvSpPr>
        <p:spPr>
          <a:xfrm>
            <a:off x="4392067" y="4181822"/>
            <a:ext cx="3407817" cy="1109861"/>
          </a:xfrm>
          <a:prstGeom prst="roundRect">
            <a:avLst>
              <a:gd name="adj" fmla="val 6294"/>
            </a:avLst>
          </a:prstGeom>
          <a:solidFill>
            <a:srgbClr val="FFFFFF"/>
          </a:solidFill>
          <a:ln w="12700">
            <a:solidFill>
              <a:srgbClr val="18202A"/>
            </a:solidFill>
            <a:prstDash val="solid"/>
          </a:ln>
        </p:spPr>
      </p:sp>
      <p:sp>
        <p:nvSpPr>
          <p:cNvPr id="31" name="Text 29"/>
          <p:cNvSpPr/>
          <p:nvPr/>
        </p:nvSpPr>
        <p:spPr>
          <a:xfrm>
            <a:off x="4550817" y="4315172"/>
            <a:ext cx="318302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We ask</a:t>
            </a:r>
            <a:endParaRPr lang="en-US" sz="1200" dirty="0"/>
          </a:p>
        </p:txBody>
      </p:sp>
      <p:sp>
        <p:nvSpPr>
          <p:cNvPr id="32" name="Text 30"/>
          <p:cNvSpPr/>
          <p:nvPr/>
        </p:nvSpPr>
        <p:spPr>
          <a:xfrm>
            <a:off x="4550817" y="4564063"/>
            <a:ext cx="318302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 runtime deep-dive with the CPTO team, an Automation Suite prototype, and Nemotron on the self-hosted model list</a:t>
            </a:r>
            <a:endParaRPr lang="en-US" sz="1200" dirty="0"/>
          </a:p>
        </p:txBody>
      </p:sp>
      <p:sp>
        <p:nvSpPr>
          <p:cNvPr id="33" name="Shape 31"/>
          <p:cNvSpPr/>
          <p:nvPr/>
        </p:nvSpPr>
        <p:spPr>
          <a:xfrm>
            <a:off x="7964984" y="4181822"/>
            <a:ext cx="3407866" cy="1109861"/>
          </a:xfrm>
          <a:prstGeom prst="roundRect">
            <a:avLst>
              <a:gd name="adj" fmla="val 6294"/>
            </a:avLst>
          </a:prstGeom>
          <a:solidFill>
            <a:srgbClr val="FFFFFF"/>
          </a:solidFill>
          <a:ln w="12700">
            <a:solidFill>
              <a:srgbClr val="18202A"/>
            </a:solidFill>
            <a:prstDash val="solid"/>
          </a:ln>
        </p:spPr>
      </p:sp>
      <p:sp>
        <p:nvSpPr>
          <p:cNvPr id="34" name="Text 32"/>
          <p:cNvSpPr/>
          <p:nvPr/>
        </p:nvSpPr>
        <p:spPr>
          <a:xfrm>
            <a:off x="8123734" y="4315172"/>
            <a:ext cx="3183077"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90-day proof</a:t>
            </a:r>
            <a:endParaRPr lang="en-US" sz="1200" dirty="0"/>
          </a:p>
        </p:txBody>
      </p:sp>
      <p:sp>
        <p:nvSpPr>
          <p:cNvPr id="35" name="Text 33"/>
          <p:cNvSpPr/>
          <p:nvPr/>
        </p:nvSpPr>
        <p:spPr>
          <a:xfrm>
            <a:off x="8123734" y="4564063"/>
            <a:ext cx="3183077"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 coded agent and MCP server in OpenShell on Automation Suite, injection blocked, denials shown in UiPath traces</a:t>
            </a:r>
            <a:endParaRPr lang="en-US" sz="1200" dirty="0"/>
          </a:p>
        </p:txBody>
      </p:sp>
      <p:sp>
        <p:nvSpPr>
          <p:cNvPr id="36" name="Text 34"/>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4 · Enterprise platforms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Kore.ai has NVIDIA equity and a thin code sandbox</a:t>
            </a:r>
            <a:endParaRPr lang="en-US" sz="2800" dirty="0"/>
          </a:p>
        </p:txBody>
      </p:sp>
      <p:sp>
        <p:nvSpPr>
          <p:cNvPr id="3" name="Shape 1"/>
          <p:cNvSpPr/>
          <p:nvPr/>
        </p:nvSpPr>
        <p:spPr>
          <a:xfrm>
            <a:off x="819150" y="1380480"/>
            <a:ext cx="3407817" cy="612080"/>
          </a:xfrm>
          <a:prstGeom prst="roundRect">
            <a:avLst>
              <a:gd name="adj" fmla="val 11412"/>
            </a:avLst>
          </a:prstGeom>
          <a:solidFill>
            <a:srgbClr val="FFFFFF"/>
          </a:solidFill>
          <a:ln w="12700">
            <a:solidFill>
              <a:srgbClr val="CDD2D8"/>
            </a:solidFill>
            <a:prstDash val="solid"/>
          </a:ln>
        </p:spPr>
      </p:sp>
      <p:sp>
        <p:nvSpPr>
          <p:cNvPr id="4" name="Text 2"/>
          <p:cNvSpPr/>
          <p:nvPr/>
        </p:nvSpPr>
        <p:spPr>
          <a:xfrm>
            <a:off x="977900" y="1532830"/>
            <a:ext cx="643334"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500+</a:t>
            </a:r>
            <a:endParaRPr lang="en-US" sz="2200" dirty="0"/>
          </a:p>
        </p:txBody>
      </p:sp>
      <p:sp>
        <p:nvSpPr>
          <p:cNvPr id="5" name="Text 3"/>
          <p:cNvSpPr/>
          <p:nvPr/>
        </p:nvSpPr>
        <p:spPr>
          <a:xfrm>
            <a:off x="1672034" y="1488430"/>
            <a:ext cx="2468068"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Global 2000 customers, company claim</a:t>
            </a:r>
            <a:endParaRPr lang="en-US" sz="1200" dirty="0"/>
          </a:p>
        </p:txBody>
      </p:sp>
      <p:sp>
        <p:nvSpPr>
          <p:cNvPr id="6" name="Shape 4"/>
          <p:cNvSpPr/>
          <p:nvPr/>
        </p:nvSpPr>
        <p:spPr>
          <a:xfrm>
            <a:off x="4392067" y="1380480"/>
            <a:ext cx="3407866" cy="612080"/>
          </a:xfrm>
          <a:prstGeom prst="roundRect">
            <a:avLst>
              <a:gd name="adj" fmla="val 11412"/>
            </a:avLst>
          </a:prstGeom>
          <a:solidFill>
            <a:srgbClr val="FFFFFF"/>
          </a:solidFill>
          <a:ln w="12700">
            <a:solidFill>
              <a:srgbClr val="CDD2D8"/>
            </a:solidFill>
            <a:prstDash val="solid"/>
          </a:ln>
        </p:spPr>
      </p:sp>
      <p:sp>
        <p:nvSpPr>
          <p:cNvPr id="7" name="Text 5"/>
          <p:cNvSpPr/>
          <p:nvPr/>
        </p:nvSpPr>
        <p:spPr>
          <a:xfrm>
            <a:off x="4550817" y="1532830"/>
            <a:ext cx="856258"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256 MB</a:t>
            </a:r>
            <a:endParaRPr lang="en-US" sz="2200" dirty="0"/>
          </a:p>
        </p:txBody>
      </p:sp>
      <p:sp>
        <p:nvSpPr>
          <p:cNvPr id="8" name="Text 6"/>
          <p:cNvSpPr/>
          <p:nvPr/>
        </p:nvSpPr>
        <p:spPr>
          <a:xfrm>
            <a:off x="5457875" y="1488430"/>
            <a:ext cx="2248808"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and 5 seconds: default code-tool limits</a:t>
            </a:r>
            <a:endParaRPr lang="en-US" sz="1200" dirty="0"/>
          </a:p>
        </p:txBody>
      </p:sp>
      <p:sp>
        <p:nvSpPr>
          <p:cNvPr id="9" name="Shape 7"/>
          <p:cNvSpPr/>
          <p:nvPr/>
        </p:nvSpPr>
        <p:spPr>
          <a:xfrm>
            <a:off x="7965033" y="1380480"/>
            <a:ext cx="3407817" cy="612080"/>
          </a:xfrm>
          <a:prstGeom prst="roundRect">
            <a:avLst>
              <a:gd name="adj" fmla="val 11412"/>
            </a:avLst>
          </a:prstGeom>
          <a:solidFill>
            <a:srgbClr val="FFFFFF"/>
          </a:solidFill>
          <a:ln w="12700">
            <a:solidFill>
              <a:srgbClr val="CDD2D8"/>
            </a:solidFill>
            <a:prstDash val="solid"/>
          </a:ln>
        </p:spPr>
      </p:sp>
      <p:sp>
        <p:nvSpPr>
          <p:cNvPr id="10" name="Text 8"/>
          <p:cNvSpPr/>
          <p:nvPr/>
        </p:nvSpPr>
        <p:spPr>
          <a:xfrm>
            <a:off x="8123783" y="1532830"/>
            <a:ext cx="721370"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2024</a:t>
            </a:r>
            <a:endParaRPr lang="en-US" sz="2200" dirty="0"/>
          </a:p>
        </p:txBody>
      </p:sp>
      <p:sp>
        <p:nvSpPr>
          <p:cNvPr id="11" name="Text 9"/>
          <p:cNvSpPr/>
          <p:nvPr/>
        </p:nvSpPr>
        <p:spPr>
          <a:xfrm>
            <a:off x="8895953" y="1587450"/>
            <a:ext cx="2470547"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NVIDIA joined a $150M round</a:t>
            </a:r>
            <a:endParaRPr lang="en-US" sz="1200" dirty="0"/>
          </a:p>
        </p:txBody>
      </p:sp>
      <p:sp>
        <p:nvSpPr>
          <p:cNvPr id="12" name="Shape 10"/>
          <p:cNvSpPr/>
          <p:nvPr/>
        </p:nvSpPr>
        <p:spPr>
          <a:xfrm>
            <a:off x="819150" y="2157661"/>
            <a:ext cx="3407817" cy="1859062"/>
          </a:xfrm>
          <a:prstGeom prst="roundRect">
            <a:avLst>
              <a:gd name="adj" fmla="val 3757"/>
            </a:avLst>
          </a:prstGeom>
          <a:solidFill>
            <a:srgbClr val="FFFFFF"/>
          </a:solidFill>
          <a:ln w="12700">
            <a:solidFill>
              <a:srgbClr val="CDD2D8"/>
            </a:solidFill>
            <a:prstDash val="solid"/>
          </a:ln>
        </p:spPr>
      </p:sp>
      <p:sp>
        <p:nvSpPr>
          <p:cNvPr id="13" name="Text 11"/>
          <p:cNvSpPr/>
          <p:nvPr/>
        </p:nvSpPr>
        <p:spPr>
          <a:xfrm>
            <a:off x="977900" y="2291011"/>
            <a:ext cx="3183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New in 2025 to 2026</a:t>
            </a:r>
            <a:endParaRPr lang="en-US" sz="1400" dirty="0"/>
          </a:p>
        </p:txBody>
      </p:sp>
      <p:sp>
        <p:nvSpPr>
          <p:cNvPr id="14" name="Text 12"/>
          <p:cNvSpPr/>
          <p:nvPr/>
        </p:nvSpPr>
        <p:spPr>
          <a:xfrm>
            <a:off x="977900" y="256783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Mar 2026: Agent Management Platform governs outside agents</a:t>
            </a:r>
            <a:endParaRPr lang="en-US" sz="1200" dirty="0"/>
          </a:p>
        </p:txBody>
      </p:sp>
      <p:sp>
        <p:nvSpPr>
          <p:cNvPr id="15" name="Text 13"/>
          <p:cNvSpPr/>
          <p:nvPr/>
        </p:nvSpPr>
        <p:spPr>
          <a:xfrm>
            <a:off x="977900" y="302751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May 2026: Artemis, a new agent platform, launched on Azure first</a:t>
            </a:r>
            <a:endParaRPr lang="en-US" sz="1200" dirty="0"/>
          </a:p>
        </p:txBody>
      </p:sp>
      <p:sp>
        <p:nvSpPr>
          <p:cNvPr id="16" name="Text 14"/>
          <p:cNvSpPr/>
          <p:nvPr/>
        </p:nvSpPr>
        <p:spPr>
          <a:xfrm>
            <a:off x="977900" y="3487192"/>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By Sep 2026: org-wide egress proxy, Key Vault secrets, Runtime-Guard</a:t>
            </a:r>
            <a:endParaRPr lang="en-US" sz="1200" dirty="0"/>
          </a:p>
        </p:txBody>
      </p:sp>
      <p:sp>
        <p:nvSpPr>
          <p:cNvPr id="17" name="Shape 15"/>
          <p:cNvSpPr/>
          <p:nvPr/>
        </p:nvSpPr>
        <p:spPr>
          <a:xfrm>
            <a:off x="4392067" y="2157661"/>
            <a:ext cx="3407817" cy="1859062"/>
          </a:xfrm>
          <a:prstGeom prst="roundRect">
            <a:avLst>
              <a:gd name="adj" fmla="val 3757"/>
            </a:avLst>
          </a:prstGeom>
          <a:solidFill>
            <a:srgbClr val="FFFFFF"/>
          </a:solidFill>
          <a:ln w="12700">
            <a:solidFill>
              <a:srgbClr val="CDD2D8"/>
            </a:solidFill>
            <a:prstDash val="solid"/>
          </a:ln>
        </p:spPr>
      </p:sp>
      <p:sp>
        <p:nvSpPr>
          <p:cNvPr id="18" name="Text 16"/>
          <p:cNvSpPr/>
          <p:nvPr/>
        </p:nvSpPr>
        <p:spPr>
          <a:xfrm>
            <a:off x="4550817" y="2291011"/>
            <a:ext cx="3183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How agents run today</a:t>
            </a:r>
            <a:endParaRPr lang="en-US" sz="1400" dirty="0"/>
          </a:p>
        </p:txBody>
      </p:sp>
      <p:sp>
        <p:nvSpPr>
          <p:cNvPr id="19" name="Text 17"/>
          <p:cNvSpPr/>
          <p:nvPr/>
        </p:nvSpPr>
        <p:spPr>
          <a:xfrm>
            <a:off x="4550817" y="256783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Kore cloud on Azure, or a self-hosted enterprise edition</a:t>
            </a:r>
            <a:endParaRPr lang="en-US" sz="1200" dirty="0"/>
          </a:p>
        </p:txBody>
      </p:sp>
      <p:sp>
        <p:nvSpPr>
          <p:cNvPr id="20" name="Text 18"/>
          <p:cNvSpPr/>
          <p:nvPr/>
        </p:nvSpPr>
        <p:spPr>
          <a:xfrm>
            <a:off x="4550817" y="302751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Python and JavaScript tools in a container; technology undisclosed</a:t>
            </a:r>
            <a:endParaRPr lang="en-US" sz="1200" dirty="0"/>
          </a:p>
        </p:txBody>
      </p:sp>
      <p:sp>
        <p:nvSpPr>
          <p:cNvPr id="21" name="Text 19"/>
          <p:cNvSpPr/>
          <p:nvPr/>
        </p:nvSpPr>
        <p:spPr>
          <a:xfrm>
            <a:off x="4550817" y="3487192"/>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Customer-built agents are called over A2A, not hosted</a:t>
            </a:r>
            <a:endParaRPr lang="en-US" sz="1200" dirty="0"/>
          </a:p>
        </p:txBody>
      </p:sp>
      <p:sp>
        <p:nvSpPr>
          <p:cNvPr id="22" name="Shape 20"/>
          <p:cNvSpPr/>
          <p:nvPr/>
        </p:nvSpPr>
        <p:spPr>
          <a:xfrm>
            <a:off x="7964984" y="2157661"/>
            <a:ext cx="3407866" cy="1859062"/>
          </a:xfrm>
          <a:prstGeom prst="roundRect">
            <a:avLst>
              <a:gd name="adj" fmla="val 3757"/>
            </a:avLst>
          </a:prstGeom>
          <a:solidFill>
            <a:srgbClr val="FFFFFF"/>
          </a:solidFill>
          <a:ln w="12700">
            <a:solidFill>
              <a:srgbClr val="CDD2D8"/>
            </a:solidFill>
            <a:prstDash val="solid"/>
          </a:ln>
        </p:spPr>
      </p:sp>
      <p:sp>
        <p:nvSpPr>
          <p:cNvPr id="23" name="Text 21"/>
          <p:cNvSpPr/>
          <p:nvPr/>
        </p:nvSpPr>
        <p:spPr>
          <a:xfrm>
            <a:off x="8123734" y="2291011"/>
            <a:ext cx="318307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NVIDIA today</a:t>
            </a:r>
            <a:endParaRPr lang="en-US" sz="1400" dirty="0"/>
          </a:p>
        </p:txBody>
      </p:sp>
      <p:sp>
        <p:nvSpPr>
          <p:cNvPr id="24" name="Text 22"/>
          <p:cNvSpPr/>
          <p:nvPr/>
        </p:nvSpPr>
        <p:spPr>
          <a:xfrm>
            <a:off x="8123734" y="2567831"/>
            <a:ext cx="318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Equity since January 2024; no product tie found</a:t>
            </a:r>
            <a:endParaRPr lang="en-US" sz="1200" dirty="0"/>
          </a:p>
        </p:txBody>
      </p:sp>
      <p:sp>
        <p:nvSpPr>
          <p:cNvPr id="25" name="Text 23"/>
          <p:cNvSpPr/>
          <p:nvPr/>
        </p:nvSpPr>
        <p:spPr>
          <a:xfrm>
            <a:off x="8123734" y="3027511"/>
            <a:ext cx="3183077"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No NIM, Nemotron or OpenShell use found</a:t>
            </a:r>
            <a:endParaRPr lang="en-US" sz="1200" dirty="0"/>
          </a:p>
        </p:txBody>
      </p:sp>
      <p:sp>
        <p:nvSpPr>
          <p:cNvPr id="26" name="Text 24"/>
          <p:cNvSpPr/>
          <p:nvPr/>
        </p:nvSpPr>
        <p:spPr>
          <a:xfrm>
            <a:off x="8123734" y="3289102"/>
            <a:ext cx="318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Gartner Leader for conversational AI platforms (Jul 2026)</a:t>
            </a:r>
            <a:endParaRPr lang="en-US" sz="1200" dirty="0"/>
          </a:p>
        </p:txBody>
      </p:sp>
      <p:sp>
        <p:nvSpPr>
          <p:cNvPr id="27" name="Shape 25"/>
          <p:cNvSpPr/>
          <p:nvPr/>
        </p:nvSpPr>
        <p:spPr>
          <a:xfrm>
            <a:off x="819150" y="4181822"/>
            <a:ext cx="3407817" cy="1109861"/>
          </a:xfrm>
          <a:prstGeom prst="roundRect">
            <a:avLst>
              <a:gd name="adj" fmla="val 6294"/>
            </a:avLst>
          </a:prstGeom>
          <a:solidFill>
            <a:srgbClr val="FFFFFF"/>
          </a:solidFill>
          <a:ln w="12700">
            <a:solidFill>
              <a:srgbClr val="18202A"/>
            </a:solidFill>
            <a:prstDash val="solid"/>
          </a:ln>
        </p:spPr>
      </p:sp>
      <p:sp>
        <p:nvSpPr>
          <p:cNvPr id="28" name="Text 26"/>
          <p:cNvSpPr/>
          <p:nvPr/>
        </p:nvSpPr>
        <p:spPr>
          <a:xfrm>
            <a:off x="977900" y="4315172"/>
            <a:ext cx="318302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NVIDIA offers</a:t>
            </a:r>
            <a:endParaRPr lang="en-US" sz="1200" dirty="0"/>
          </a:p>
        </p:txBody>
      </p:sp>
      <p:sp>
        <p:nvSpPr>
          <p:cNvPr id="29" name="Text 27"/>
          <p:cNvSpPr/>
          <p:nvPr/>
        </p:nvSpPr>
        <p:spPr>
          <a:xfrm>
            <a:off x="977900" y="4564063"/>
            <a:ext cx="318302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OpenShell as the backend for code tools and a host for A2A agents, Nemotron NIM with tool calling, and NemoGuard safety models</a:t>
            </a:r>
            <a:endParaRPr lang="en-US" sz="1200" dirty="0"/>
          </a:p>
        </p:txBody>
      </p:sp>
      <p:sp>
        <p:nvSpPr>
          <p:cNvPr id="30" name="Shape 28"/>
          <p:cNvSpPr/>
          <p:nvPr/>
        </p:nvSpPr>
        <p:spPr>
          <a:xfrm>
            <a:off x="4392067" y="4181822"/>
            <a:ext cx="3407817" cy="1109861"/>
          </a:xfrm>
          <a:prstGeom prst="roundRect">
            <a:avLst>
              <a:gd name="adj" fmla="val 6294"/>
            </a:avLst>
          </a:prstGeom>
          <a:solidFill>
            <a:srgbClr val="FFFFFF"/>
          </a:solidFill>
          <a:ln w="12700">
            <a:solidFill>
              <a:srgbClr val="18202A"/>
            </a:solidFill>
            <a:prstDash val="solid"/>
          </a:ln>
        </p:spPr>
      </p:sp>
      <p:sp>
        <p:nvSpPr>
          <p:cNvPr id="31" name="Text 29"/>
          <p:cNvSpPr/>
          <p:nvPr/>
        </p:nvSpPr>
        <p:spPr>
          <a:xfrm>
            <a:off x="4550817" y="4315172"/>
            <a:ext cx="318302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We ask</a:t>
            </a:r>
            <a:endParaRPr lang="en-US" sz="1200" dirty="0"/>
          </a:p>
        </p:txBody>
      </p:sp>
      <p:sp>
        <p:nvSpPr>
          <p:cNvPr id="32" name="Text 30"/>
          <p:cNvSpPr/>
          <p:nvPr/>
        </p:nvSpPr>
        <p:spPr>
          <a:xfrm>
            <a:off x="4550817" y="4564063"/>
            <a:ext cx="318302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 session on how code tools are isolated, a sandbox interface in the self-hosted edition, and OpenShell events in Kore traces</a:t>
            </a:r>
            <a:endParaRPr lang="en-US" sz="1200" dirty="0"/>
          </a:p>
        </p:txBody>
      </p:sp>
      <p:sp>
        <p:nvSpPr>
          <p:cNvPr id="33" name="Shape 31"/>
          <p:cNvSpPr/>
          <p:nvPr/>
        </p:nvSpPr>
        <p:spPr>
          <a:xfrm>
            <a:off x="7964984" y="4181822"/>
            <a:ext cx="3407866" cy="1109861"/>
          </a:xfrm>
          <a:prstGeom prst="roundRect">
            <a:avLst>
              <a:gd name="adj" fmla="val 6294"/>
            </a:avLst>
          </a:prstGeom>
          <a:solidFill>
            <a:srgbClr val="FFFFFF"/>
          </a:solidFill>
          <a:ln w="12700">
            <a:solidFill>
              <a:srgbClr val="18202A"/>
            </a:solidFill>
            <a:prstDash val="solid"/>
          </a:ln>
        </p:spPr>
      </p:sp>
      <p:sp>
        <p:nvSpPr>
          <p:cNvPr id="34" name="Text 32"/>
          <p:cNvSpPr/>
          <p:nvPr/>
        </p:nvSpPr>
        <p:spPr>
          <a:xfrm>
            <a:off x="8123734" y="4315172"/>
            <a:ext cx="3183077"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90-day proof</a:t>
            </a:r>
            <a:endParaRPr lang="en-US" sz="1200" dirty="0"/>
          </a:p>
        </p:txBody>
      </p:sp>
      <p:sp>
        <p:nvSpPr>
          <p:cNvPr id="35" name="Text 33"/>
          <p:cNvSpPr/>
          <p:nvPr/>
        </p:nvSpPr>
        <p:spPr>
          <a:xfrm>
            <a:off x="8123734" y="4564063"/>
            <a:ext cx="3183077"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Existing code tools unmodified in OpenShell, overhead measured against the 5-second budget, plus a LangGraph agent over A2A</a:t>
            </a:r>
            <a:endParaRPr lang="en-US" sz="1200" dirty="0"/>
          </a:p>
        </p:txBody>
      </p:sp>
      <p:sp>
        <p:nvSpPr>
          <p:cNvPr id="36" name="Text 34"/>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4 · Enterprise platforms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Uniphore tests Nemotron but documents no runtime</a:t>
            </a:r>
            <a:endParaRPr lang="en-US" sz="2800" dirty="0"/>
          </a:p>
        </p:txBody>
      </p:sp>
      <p:sp>
        <p:nvSpPr>
          <p:cNvPr id="3" name="Shape 1"/>
          <p:cNvSpPr/>
          <p:nvPr/>
        </p:nvSpPr>
        <p:spPr>
          <a:xfrm>
            <a:off x="819150" y="1380480"/>
            <a:ext cx="3407817" cy="612080"/>
          </a:xfrm>
          <a:prstGeom prst="roundRect">
            <a:avLst>
              <a:gd name="adj" fmla="val 11412"/>
            </a:avLst>
          </a:prstGeom>
          <a:solidFill>
            <a:srgbClr val="FFFFFF"/>
          </a:solidFill>
          <a:ln w="12700">
            <a:solidFill>
              <a:srgbClr val="CDD2D8"/>
            </a:solidFill>
            <a:prstDash val="solid"/>
          </a:ln>
        </p:spPr>
      </p:sp>
      <p:sp>
        <p:nvSpPr>
          <p:cNvPr id="4" name="Text 2"/>
          <p:cNvSpPr/>
          <p:nvPr/>
        </p:nvSpPr>
        <p:spPr>
          <a:xfrm>
            <a:off x="977900" y="1532830"/>
            <a:ext cx="770384"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$260M</a:t>
            </a:r>
            <a:endParaRPr lang="en-US" sz="2200" dirty="0"/>
          </a:p>
        </p:txBody>
      </p:sp>
      <p:sp>
        <p:nvSpPr>
          <p:cNvPr id="5" name="Text 3"/>
          <p:cNvSpPr/>
          <p:nvPr/>
        </p:nvSpPr>
        <p:spPr>
          <a:xfrm>
            <a:off x="1799084" y="1488430"/>
            <a:ext cx="233720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Series F at $2.5B with NVIDIA (Oct 2025)</a:t>
            </a:r>
            <a:endParaRPr lang="en-US" sz="1200" dirty="0"/>
          </a:p>
        </p:txBody>
      </p:sp>
      <p:sp>
        <p:nvSpPr>
          <p:cNvPr id="6" name="Shape 4"/>
          <p:cNvSpPr/>
          <p:nvPr/>
        </p:nvSpPr>
        <p:spPr>
          <a:xfrm>
            <a:off x="4392067" y="1380480"/>
            <a:ext cx="3407866" cy="612080"/>
          </a:xfrm>
          <a:prstGeom prst="roundRect">
            <a:avLst>
              <a:gd name="adj" fmla="val 11412"/>
            </a:avLst>
          </a:prstGeom>
          <a:solidFill>
            <a:srgbClr val="FFFFFF"/>
          </a:solidFill>
          <a:ln w="12700">
            <a:solidFill>
              <a:srgbClr val="CDD2D8"/>
            </a:solidFill>
            <a:prstDash val="solid"/>
          </a:ln>
        </p:spPr>
      </p:sp>
      <p:sp>
        <p:nvSpPr>
          <p:cNvPr id="7" name="Text 5"/>
          <p:cNvSpPr/>
          <p:nvPr/>
        </p:nvSpPr>
        <p:spPr>
          <a:xfrm>
            <a:off x="4550817" y="1532830"/>
            <a:ext cx="458341"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4.9x</a:t>
            </a:r>
            <a:endParaRPr lang="en-US" sz="2200" dirty="0"/>
          </a:p>
        </p:txBody>
      </p:sp>
      <p:sp>
        <p:nvSpPr>
          <p:cNvPr id="8" name="Text 6"/>
          <p:cNvSpPr/>
          <p:nvPr/>
        </p:nvSpPr>
        <p:spPr>
          <a:xfrm>
            <a:off x="5059958" y="1488430"/>
            <a:ext cx="265866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Nemotron 3.5 Lightning throughput vs Gemma 4 31B</a:t>
            </a:r>
            <a:endParaRPr lang="en-US" sz="1200" dirty="0"/>
          </a:p>
        </p:txBody>
      </p:sp>
      <p:sp>
        <p:nvSpPr>
          <p:cNvPr id="9" name="Shape 7"/>
          <p:cNvSpPr/>
          <p:nvPr/>
        </p:nvSpPr>
        <p:spPr>
          <a:xfrm>
            <a:off x="7965033" y="1380480"/>
            <a:ext cx="3407817" cy="612080"/>
          </a:xfrm>
          <a:prstGeom prst="roundRect">
            <a:avLst>
              <a:gd name="adj" fmla="val 11412"/>
            </a:avLst>
          </a:prstGeom>
          <a:solidFill>
            <a:srgbClr val="FFFFFF"/>
          </a:solidFill>
          <a:ln w="12700">
            <a:solidFill>
              <a:srgbClr val="CDD2D8"/>
            </a:solidFill>
            <a:prstDash val="solid"/>
          </a:ln>
        </p:spPr>
      </p:sp>
      <p:sp>
        <p:nvSpPr>
          <p:cNvPr id="10" name="Text 8"/>
          <p:cNvSpPr/>
          <p:nvPr/>
        </p:nvSpPr>
        <p:spPr>
          <a:xfrm>
            <a:off x="8123783" y="1532830"/>
            <a:ext cx="862757"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2,000+</a:t>
            </a:r>
            <a:endParaRPr lang="en-US" sz="2200" dirty="0"/>
          </a:p>
        </p:txBody>
      </p:sp>
      <p:sp>
        <p:nvSpPr>
          <p:cNvPr id="11" name="Text 9"/>
          <p:cNvSpPr/>
          <p:nvPr/>
        </p:nvSpPr>
        <p:spPr>
          <a:xfrm>
            <a:off x="9037340" y="1488430"/>
            <a:ext cx="224206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business customers, company claim</a:t>
            </a:r>
            <a:endParaRPr lang="en-US" sz="1200" dirty="0"/>
          </a:p>
        </p:txBody>
      </p:sp>
      <p:sp>
        <p:nvSpPr>
          <p:cNvPr id="12" name="Shape 10"/>
          <p:cNvSpPr/>
          <p:nvPr/>
        </p:nvSpPr>
        <p:spPr>
          <a:xfrm>
            <a:off x="819150" y="2157661"/>
            <a:ext cx="3407817" cy="1859062"/>
          </a:xfrm>
          <a:prstGeom prst="roundRect">
            <a:avLst>
              <a:gd name="adj" fmla="val 3757"/>
            </a:avLst>
          </a:prstGeom>
          <a:solidFill>
            <a:srgbClr val="FFFFFF"/>
          </a:solidFill>
          <a:ln w="12700">
            <a:solidFill>
              <a:srgbClr val="CDD2D8"/>
            </a:solidFill>
            <a:prstDash val="solid"/>
          </a:ln>
        </p:spPr>
      </p:sp>
      <p:sp>
        <p:nvSpPr>
          <p:cNvPr id="13" name="Text 11"/>
          <p:cNvSpPr/>
          <p:nvPr/>
        </p:nvSpPr>
        <p:spPr>
          <a:xfrm>
            <a:off x="977900" y="2291011"/>
            <a:ext cx="3183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New in 2025 to 2026</a:t>
            </a:r>
            <a:endParaRPr lang="en-US" sz="1400" dirty="0"/>
          </a:p>
        </p:txBody>
      </p:sp>
      <p:sp>
        <p:nvSpPr>
          <p:cNvPr id="14" name="Text 12"/>
          <p:cNvSpPr/>
          <p:nvPr/>
        </p:nvSpPr>
        <p:spPr>
          <a:xfrm>
            <a:off x="977900" y="256783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Jun 2025: Business AI Cloud in four layers, with an SLM Factory</a:t>
            </a:r>
            <a:endParaRPr lang="en-US" sz="1200" dirty="0"/>
          </a:p>
        </p:txBody>
      </p:sp>
      <p:sp>
        <p:nvSpPr>
          <p:cNvPr id="15" name="Text 13"/>
          <p:cNvSpPr/>
          <p:nvPr/>
        </p:nvSpPr>
        <p:spPr>
          <a:xfrm>
            <a:off x="977900" y="302751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Aug 2025: bought Orby AI; agreed to buy Autonom8</a:t>
            </a:r>
            <a:endParaRPr lang="en-US" sz="1200" dirty="0"/>
          </a:p>
        </p:txBody>
      </p:sp>
      <p:sp>
        <p:nvSpPr>
          <p:cNvPr id="16" name="Text 14"/>
          <p:cNvSpPr/>
          <p:nvPr/>
        </p:nvSpPr>
        <p:spPr>
          <a:xfrm>
            <a:off x="977900" y="3487192"/>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2026: KPMG, Cognizant, Tech Mahindra; Rackspace sovereign cloud</a:t>
            </a:r>
            <a:endParaRPr lang="en-US" sz="1200" dirty="0"/>
          </a:p>
        </p:txBody>
      </p:sp>
      <p:sp>
        <p:nvSpPr>
          <p:cNvPr id="17" name="Shape 15"/>
          <p:cNvSpPr/>
          <p:nvPr/>
        </p:nvSpPr>
        <p:spPr>
          <a:xfrm>
            <a:off x="4392067" y="2157661"/>
            <a:ext cx="3407817" cy="1859062"/>
          </a:xfrm>
          <a:prstGeom prst="roundRect">
            <a:avLst>
              <a:gd name="adj" fmla="val 3757"/>
            </a:avLst>
          </a:prstGeom>
          <a:solidFill>
            <a:srgbClr val="FFFFFF"/>
          </a:solidFill>
          <a:ln w="12700">
            <a:solidFill>
              <a:srgbClr val="CDD2D8"/>
            </a:solidFill>
            <a:prstDash val="solid"/>
          </a:ln>
        </p:spPr>
      </p:sp>
      <p:sp>
        <p:nvSpPr>
          <p:cNvPr id="18" name="Text 16"/>
          <p:cNvSpPr/>
          <p:nvPr/>
        </p:nvSpPr>
        <p:spPr>
          <a:xfrm>
            <a:off x="4550817" y="2291011"/>
            <a:ext cx="3183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How agents run today</a:t>
            </a:r>
            <a:endParaRPr lang="en-US" sz="1400" dirty="0"/>
          </a:p>
        </p:txBody>
      </p:sp>
      <p:sp>
        <p:nvSpPr>
          <p:cNvPr id="19" name="Text 17"/>
          <p:cNvSpPr/>
          <p:nvPr/>
        </p:nvSpPr>
        <p:spPr>
          <a:xfrm>
            <a:off x="4550817" y="256783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Cloud, VPC, on-prem within the customer's perimeter, Rackspace</a:t>
            </a:r>
            <a:endParaRPr lang="en-US" sz="1200" dirty="0"/>
          </a:p>
        </p:txBody>
      </p:sp>
      <p:sp>
        <p:nvSpPr>
          <p:cNvPr id="20" name="Text 18"/>
          <p:cNvSpPr/>
          <p:nvPr/>
        </p:nvSpPr>
        <p:spPr>
          <a:xfrm>
            <a:off x="4550817" y="302751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No published design for isolating tool calls, code or UI actions</a:t>
            </a:r>
            <a:endParaRPr lang="en-US" sz="1200" dirty="0"/>
          </a:p>
        </p:txBody>
      </p:sp>
      <p:sp>
        <p:nvSpPr>
          <p:cNvPr id="21" name="Text 19"/>
          <p:cNvSpPr/>
          <p:nvPr/>
        </p:nvSpPr>
        <p:spPr>
          <a:xfrm>
            <a:off x="4550817" y="3487192"/>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Outside agents join via its own Multi-Agent Collaboration Protocol</a:t>
            </a:r>
            <a:endParaRPr lang="en-US" sz="1200" dirty="0"/>
          </a:p>
        </p:txBody>
      </p:sp>
      <p:sp>
        <p:nvSpPr>
          <p:cNvPr id="22" name="Shape 20"/>
          <p:cNvSpPr/>
          <p:nvPr/>
        </p:nvSpPr>
        <p:spPr>
          <a:xfrm>
            <a:off x="7964984" y="2157661"/>
            <a:ext cx="3407866" cy="1859062"/>
          </a:xfrm>
          <a:prstGeom prst="roundRect">
            <a:avLst>
              <a:gd name="adj" fmla="val 3757"/>
            </a:avLst>
          </a:prstGeom>
          <a:solidFill>
            <a:srgbClr val="FFFFFF"/>
          </a:solidFill>
          <a:ln w="12700">
            <a:solidFill>
              <a:srgbClr val="CDD2D8"/>
            </a:solidFill>
            <a:prstDash val="solid"/>
          </a:ln>
        </p:spPr>
      </p:sp>
      <p:sp>
        <p:nvSpPr>
          <p:cNvPr id="23" name="Text 21"/>
          <p:cNvSpPr/>
          <p:nvPr/>
        </p:nvSpPr>
        <p:spPr>
          <a:xfrm>
            <a:off x="8123734" y="2291011"/>
            <a:ext cx="318307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NVIDIA today</a:t>
            </a:r>
            <a:endParaRPr lang="en-US" sz="1400" dirty="0"/>
          </a:p>
        </p:txBody>
      </p:sp>
      <p:sp>
        <p:nvSpPr>
          <p:cNvPr id="24" name="Text 22"/>
          <p:cNvSpPr/>
          <p:nvPr/>
        </p:nvSpPr>
        <p:spPr>
          <a:xfrm>
            <a:off x="8123734" y="2567831"/>
            <a:ext cx="318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Series F equity; Nemotron 3.5 Lightning post-training partner</a:t>
            </a:r>
            <a:endParaRPr lang="en-US" sz="1200" dirty="0"/>
          </a:p>
        </p:txBody>
      </p:sp>
      <p:sp>
        <p:nvSpPr>
          <p:cNvPr id="25" name="Text 23"/>
          <p:cNvSpPr/>
          <p:nvPr/>
        </p:nvSpPr>
        <p:spPr>
          <a:xfrm>
            <a:off x="8123734" y="3027511"/>
            <a:ext cx="318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Asked NVIDIA publicly for multi-LoRA serving guidance (Aug 2026)</a:t>
            </a:r>
            <a:endParaRPr lang="en-US" sz="1200" dirty="0"/>
          </a:p>
        </p:txBody>
      </p:sp>
      <p:sp>
        <p:nvSpPr>
          <p:cNvPr id="26" name="Text 24"/>
          <p:cNvSpPr/>
          <p:nvPr/>
        </p:nvSpPr>
        <p:spPr>
          <a:xfrm>
            <a:off x="8123734" y="3487192"/>
            <a:ext cx="318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AMD co-invested; Rackspace runs both NVIDIA and AMD</a:t>
            </a:r>
            <a:endParaRPr lang="en-US" sz="1200" dirty="0"/>
          </a:p>
        </p:txBody>
      </p:sp>
      <p:sp>
        <p:nvSpPr>
          <p:cNvPr id="27" name="Shape 25"/>
          <p:cNvSpPr/>
          <p:nvPr/>
        </p:nvSpPr>
        <p:spPr>
          <a:xfrm>
            <a:off x="819150" y="4181822"/>
            <a:ext cx="3407817" cy="1307951"/>
          </a:xfrm>
          <a:prstGeom prst="roundRect">
            <a:avLst>
              <a:gd name="adj" fmla="val 5340"/>
            </a:avLst>
          </a:prstGeom>
          <a:solidFill>
            <a:srgbClr val="FFFFFF"/>
          </a:solidFill>
          <a:ln w="12700">
            <a:solidFill>
              <a:srgbClr val="18202A"/>
            </a:solidFill>
            <a:prstDash val="solid"/>
          </a:ln>
        </p:spPr>
      </p:sp>
      <p:sp>
        <p:nvSpPr>
          <p:cNvPr id="28" name="Text 26"/>
          <p:cNvSpPr/>
          <p:nvPr/>
        </p:nvSpPr>
        <p:spPr>
          <a:xfrm>
            <a:off x="977900" y="4315172"/>
            <a:ext cx="318302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NVIDIA offers</a:t>
            </a:r>
            <a:endParaRPr lang="en-US" sz="1200" dirty="0"/>
          </a:p>
        </p:txBody>
      </p:sp>
      <p:sp>
        <p:nvSpPr>
          <p:cNvPr id="29" name="Text 27"/>
          <p:cNvSpPr/>
          <p:nvPr/>
        </p:nvSpPr>
        <p:spPr>
          <a:xfrm>
            <a:off x="977900" y="4564063"/>
            <a:ext cx="3183026"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Nemotron 3.5 Lightning as the SLM base with the multi-LoRA guidance it asked for, OpenShell for tool steps, NeMo RL on its traces</a:t>
            </a:r>
            <a:endParaRPr lang="en-US" sz="1200" dirty="0"/>
          </a:p>
        </p:txBody>
      </p:sp>
      <p:sp>
        <p:nvSpPr>
          <p:cNvPr id="30" name="Shape 28"/>
          <p:cNvSpPr/>
          <p:nvPr/>
        </p:nvSpPr>
        <p:spPr>
          <a:xfrm>
            <a:off x="4392067" y="4181822"/>
            <a:ext cx="3407817" cy="1307951"/>
          </a:xfrm>
          <a:prstGeom prst="roundRect">
            <a:avLst>
              <a:gd name="adj" fmla="val 5340"/>
            </a:avLst>
          </a:prstGeom>
          <a:solidFill>
            <a:srgbClr val="FFFFFF"/>
          </a:solidFill>
          <a:ln w="12700">
            <a:solidFill>
              <a:srgbClr val="18202A"/>
            </a:solidFill>
            <a:prstDash val="solid"/>
          </a:ln>
        </p:spPr>
      </p:sp>
      <p:sp>
        <p:nvSpPr>
          <p:cNvPr id="31" name="Text 29"/>
          <p:cNvSpPr/>
          <p:nvPr/>
        </p:nvSpPr>
        <p:spPr>
          <a:xfrm>
            <a:off x="4550817" y="4315172"/>
            <a:ext cx="318302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We ask</a:t>
            </a:r>
            <a:endParaRPr lang="en-US" sz="1200" dirty="0"/>
          </a:p>
        </p:txBody>
      </p:sp>
      <p:sp>
        <p:nvSpPr>
          <p:cNvPr id="32" name="Text 30"/>
          <p:cNvSpPr/>
          <p:nvPr/>
        </p:nvSpPr>
        <p:spPr>
          <a:xfrm>
            <a:off x="4550817" y="4564063"/>
            <a:ext cx="318302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 review of how agents run tools and UI actions, a design-partner slot on the Rackspace offer, and a NIM head-to-head</a:t>
            </a:r>
            <a:endParaRPr lang="en-US" sz="1200" dirty="0"/>
          </a:p>
        </p:txBody>
      </p:sp>
      <p:sp>
        <p:nvSpPr>
          <p:cNvPr id="33" name="Shape 31"/>
          <p:cNvSpPr/>
          <p:nvPr/>
        </p:nvSpPr>
        <p:spPr>
          <a:xfrm>
            <a:off x="7964984" y="4181822"/>
            <a:ext cx="3407866" cy="1307951"/>
          </a:xfrm>
          <a:prstGeom prst="roundRect">
            <a:avLst>
              <a:gd name="adj" fmla="val 5340"/>
            </a:avLst>
          </a:prstGeom>
          <a:solidFill>
            <a:srgbClr val="FFFFFF"/>
          </a:solidFill>
          <a:ln w="12700">
            <a:solidFill>
              <a:srgbClr val="18202A"/>
            </a:solidFill>
            <a:prstDash val="solid"/>
          </a:ln>
        </p:spPr>
      </p:sp>
      <p:sp>
        <p:nvSpPr>
          <p:cNvPr id="34" name="Text 32"/>
          <p:cNvSpPr/>
          <p:nvPr/>
        </p:nvSpPr>
        <p:spPr>
          <a:xfrm>
            <a:off x="8123734" y="4315172"/>
            <a:ext cx="3183077"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90-day proof</a:t>
            </a:r>
            <a:endParaRPr lang="en-US" sz="1200" dirty="0"/>
          </a:p>
        </p:txBody>
      </p:sp>
      <p:sp>
        <p:nvSpPr>
          <p:cNvPr id="35" name="Text 33"/>
          <p:cNvSpPr/>
          <p:nvPr/>
        </p:nvSpPr>
        <p:spPr>
          <a:xfrm>
            <a:off x="8123734" y="4564063"/>
            <a:ext cx="3183077"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One SI workflow with tool steps in OpenShell on Rackspace, and one production path on Nemotron with many adapters per GPU</a:t>
            </a:r>
            <a:endParaRPr lang="en-US" sz="1200" dirty="0"/>
          </a:p>
        </p:txBody>
      </p:sp>
      <p:sp>
        <p:nvSpPr>
          <p:cNvPr id="36" name="Text 34"/>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4 · Enterprise platforms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How the five sandbox providers compare</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12230"/>
          <a:ext cx="10553700" cy="3372594"/>
        </p:xfrm>
        <a:graphic>
          <a:graphicData uri="http://schemas.openxmlformats.org/drawingml/2006/table">
            <a:tbl>
              <a:tblPr/>
              <a:tblGrid>
                <a:gridCol w="1241612"/>
                <a:gridCol w="1862418"/>
                <a:gridCol w="1862418"/>
                <a:gridCol w="1862418"/>
                <a:gridCol w="1862418"/>
                <a:gridCol w="1862418"/>
              </a:tblGrid>
              <a:tr h="317450">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E2B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Daytona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Vercel Sandbox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Runloop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Cua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r>
              <a:tr h="317450">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Funding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$32M raised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$31M raised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$300M Series 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$7M seed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About $500K (YC)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Scale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1B+ sandboxes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850k a day, top user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$340M run-rate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Dozens of users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23.1k GitHub stars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Isolation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Firecracker VM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Containers, VMs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Firecracker VM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MicroVM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gVisor, KubeVirt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GPUs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NVIDIA and AMD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515541">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Desktops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Linux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Linux, Windows, macOS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Ubuntu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Linux, Windows, macOS, Android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License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Apache-2.0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Closed (Jun 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Closed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Closed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MIT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Self-host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Embed; BYOC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BYOC runners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AWS VPC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BYOC, on-prem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Price/hour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$0.083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$0.083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$0.055 to $0.170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$0.158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$0.089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NVIDIA ties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NeMo Gym, OpenShell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NeMo Gym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Nemotron on gateway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None found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None found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sp>
        <p:nvSpPr>
          <p:cNvPr id="4" name="Text 1"/>
          <p:cNvSpPr/>
          <p:nvPr/>
        </p:nvSpPr>
        <p:spPr>
          <a:xfrm>
            <a:off x="812800" y="4962624"/>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8202A"/>
                </a:solidFill>
                <a:latin typeface="IBM Plex Sans" pitchFamily="34" charset="0"/>
                <a:ea typeface="IBM Plex Sans" pitchFamily="34" charset="-122"/>
                <a:cs typeface="IBM Plex Sans" pitchFamily="34" charset="-120"/>
              </a:rPr>
              <a:t>Each leads somewhere different: E2B on reach, Daytona on GPUs and RL, Vercel on distribution, Runloop on enterprise controls, Cua on desktops.</a:t>
            </a:r>
            <a:endParaRPr lang="en-US" sz="1400" dirty="0"/>
          </a:p>
        </p:txBody>
      </p:sp>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Price: one hour of 1 vCPU and 2 GiB at list. Vercel bills active CPU only, so its price moves with load.</a:t>
            </a:r>
            <a:endParaRPr lang="en-US" sz="1200" dirty="0"/>
          </a:p>
        </p:txBody>
      </p:sp>
      <p:sp>
        <p:nvSpPr>
          <p:cNvPr id="6" name="Text 3"/>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5 · Sandbox providers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E2B leads on volume and wrote an OpenShell driver</a:t>
            </a:r>
            <a:endParaRPr lang="en-US" sz="2800" dirty="0"/>
          </a:p>
        </p:txBody>
      </p:sp>
      <p:sp>
        <p:nvSpPr>
          <p:cNvPr id="3" name="Shape 1"/>
          <p:cNvSpPr/>
          <p:nvPr/>
        </p:nvSpPr>
        <p:spPr>
          <a:xfrm>
            <a:off x="819150" y="1380480"/>
            <a:ext cx="3407817" cy="612080"/>
          </a:xfrm>
          <a:prstGeom prst="roundRect">
            <a:avLst>
              <a:gd name="adj" fmla="val 11412"/>
            </a:avLst>
          </a:prstGeom>
          <a:solidFill>
            <a:srgbClr val="FFFFFF"/>
          </a:solidFill>
          <a:ln w="12700">
            <a:solidFill>
              <a:srgbClr val="CDD2D8"/>
            </a:solidFill>
            <a:prstDash val="solid"/>
          </a:ln>
        </p:spPr>
      </p:sp>
      <p:sp>
        <p:nvSpPr>
          <p:cNvPr id="4" name="Text 2"/>
          <p:cNvSpPr/>
          <p:nvPr/>
        </p:nvSpPr>
        <p:spPr>
          <a:xfrm>
            <a:off x="977900" y="1532830"/>
            <a:ext cx="571302"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1B+</a:t>
            </a:r>
            <a:endParaRPr lang="en-US" sz="2200" dirty="0"/>
          </a:p>
        </p:txBody>
      </p:sp>
      <p:sp>
        <p:nvSpPr>
          <p:cNvPr id="5" name="Text 3"/>
          <p:cNvSpPr/>
          <p:nvPr/>
        </p:nvSpPr>
        <p:spPr>
          <a:xfrm>
            <a:off x="1600002" y="1587450"/>
            <a:ext cx="2580858"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sandboxes started since launch</a:t>
            </a:r>
            <a:endParaRPr lang="en-US" sz="1200" dirty="0"/>
          </a:p>
        </p:txBody>
      </p:sp>
      <p:sp>
        <p:nvSpPr>
          <p:cNvPr id="6" name="Shape 4"/>
          <p:cNvSpPr/>
          <p:nvPr/>
        </p:nvSpPr>
        <p:spPr>
          <a:xfrm>
            <a:off x="4392067" y="1380480"/>
            <a:ext cx="3407866" cy="612080"/>
          </a:xfrm>
          <a:prstGeom prst="roundRect">
            <a:avLst>
              <a:gd name="adj" fmla="val 11412"/>
            </a:avLst>
          </a:prstGeom>
          <a:solidFill>
            <a:srgbClr val="FFFFFF"/>
          </a:solidFill>
          <a:ln w="12700">
            <a:solidFill>
              <a:srgbClr val="CDD2D8"/>
            </a:solidFill>
            <a:prstDash val="solid"/>
          </a:ln>
        </p:spPr>
      </p:sp>
      <p:sp>
        <p:nvSpPr>
          <p:cNvPr id="7" name="Text 5"/>
          <p:cNvSpPr/>
          <p:nvPr/>
        </p:nvSpPr>
        <p:spPr>
          <a:xfrm>
            <a:off x="4550817" y="1532830"/>
            <a:ext cx="355203"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94</a:t>
            </a:r>
            <a:endParaRPr lang="en-US" sz="2200" dirty="0"/>
          </a:p>
        </p:txBody>
      </p:sp>
      <p:sp>
        <p:nvSpPr>
          <p:cNvPr id="8" name="Text 6"/>
          <p:cNvSpPr/>
          <p:nvPr/>
        </p:nvSpPr>
        <p:spPr>
          <a:xfrm>
            <a:off x="4956820" y="1488430"/>
            <a:ext cx="2764894"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of the Fortune 100 signed up, not all paying</a:t>
            </a:r>
            <a:endParaRPr lang="en-US" sz="1200" dirty="0"/>
          </a:p>
        </p:txBody>
      </p:sp>
      <p:sp>
        <p:nvSpPr>
          <p:cNvPr id="9" name="Shape 7"/>
          <p:cNvSpPr/>
          <p:nvPr/>
        </p:nvSpPr>
        <p:spPr>
          <a:xfrm>
            <a:off x="7965033" y="1380480"/>
            <a:ext cx="3407817" cy="612080"/>
          </a:xfrm>
          <a:prstGeom prst="roundRect">
            <a:avLst>
              <a:gd name="adj" fmla="val 11412"/>
            </a:avLst>
          </a:prstGeom>
          <a:solidFill>
            <a:srgbClr val="FFFFFF"/>
          </a:solidFill>
          <a:ln w="12700">
            <a:solidFill>
              <a:srgbClr val="CDD2D8"/>
            </a:solidFill>
            <a:prstDash val="solid"/>
          </a:ln>
        </p:spPr>
      </p:sp>
      <p:sp>
        <p:nvSpPr>
          <p:cNvPr id="10" name="Text 8"/>
          <p:cNvSpPr/>
          <p:nvPr/>
        </p:nvSpPr>
        <p:spPr>
          <a:xfrm>
            <a:off x="8123783" y="1532830"/>
            <a:ext cx="654745"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$21M</a:t>
            </a:r>
            <a:endParaRPr lang="en-US" sz="2200" dirty="0"/>
          </a:p>
        </p:txBody>
      </p:sp>
      <p:sp>
        <p:nvSpPr>
          <p:cNvPr id="11" name="Text 9"/>
          <p:cNvSpPr/>
          <p:nvPr/>
        </p:nvSpPr>
        <p:spPr>
          <a:xfrm>
            <a:off x="8829328" y="1488430"/>
            <a:ext cx="2456315"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Series A led by Insight Partners (Jul 2025)</a:t>
            </a:r>
            <a:endParaRPr lang="en-US" sz="1200" dirty="0"/>
          </a:p>
        </p:txBody>
      </p:sp>
      <p:sp>
        <p:nvSpPr>
          <p:cNvPr id="12" name="Shape 10"/>
          <p:cNvSpPr/>
          <p:nvPr/>
        </p:nvSpPr>
        <p:spPr>
          <a:xfrm>
            <a:off x="819150" y="2157661"/>
            <a:ext cx="3407817" cy="1859062"/>
          </a:xfrm>
          <a:prstGeom prst="roundRect">
            <a:avLst>
              <a:gd name="adj" fmla="val 3757"/>
            </a:avLst>
          </a:prstGeom>
          <a:solidFill>
            <a:srgbClr val="FFFFFF"/>
          </a:solidFill>
          <a:ln w="12700">
            <a:solidFill>
              <a:srgbClr val="CDD2D8"/>
            </a:solidFill>
            <a:prstDash val="solid"/>
          </a:ln>
        </p:spPr>
      </p:sp>
      <p:sp>
        <p:nvSpPr>
          <p:cNvPr id="13" name="Text 11"/>
          <p:cNvSpPr/>
          <p:nvPr/>
        </p:nvSpPr>
        <p:spPr>
          <a:xfrm>
            <a:off x="977900" y="2291011"/>
            <a:ext cx="3183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New in 2025 to 2026</a:t>
            </a:r>
            <a:endParaRPr lang="en-US" sz="1400" dirty="0"/>
          </a:p>
        </p:txBody>
      </p:sp>
      <p:sp>
        <p:nvSpPr>
          <p:cNvPr id="14" name="Text 12"/>
          <p:cNvSpPr/>
          <p:nvPr/>
        </p:nvSpPr>
        <p:spPr>
          <a:xfrm>
            <a:off x="977900" y="256783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Apr 2026: one of seven OpenAI Agents SDK sandbox providers</a:t>
            </a:r>
            <a:endParaRPr lang="en-US" sz="1200" dirty="0"/>
          </a:p>
        </p:txBody>
      </p:sp>
      <p:sp>
        <p:nvSpPr>
          <p:cNvPr id="15" name="Text 13"/>
          <p:cNvSpPr/>
          <p:nvPr/>
        </p:nvSpPr>
        <p:spPr>
          <a:xfrm>
            <a:off x="977900" y="302751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Jul 2026: forking up to 100 copies; a Devin Outposts backend</a:t>
            </a:r>
            <a:endParaRPr lang="en-US" sz="1200" dirty="0"/>
          </a:p>
        </p:txBody>
      </p:sp>
      <p:sp>
        <p:nvSpPr>
          <p:cNvPr id="16" name="Text 14"/>
          <p:cNvSpPr/>
          <p:nvPr/>
        </p:nvSpPr>
        <p:spPr>
          <a:xfrm>
            <a:off x="977900" y="3487192"/>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Sep 30, 2026: E2B Embed, an Apache-2.0 self-hosted package</a:t>
            </a:r>
            <a:endParaRPr lang="en-US" sz="1200" dirty="0"/>
          </a:p>
        </p:txBody>
      </p:sp>
      <p:sp>
        <p:nvSpPr>
          <p:cNvPr id="17" name="Shape 15"/>
          <p:cNvSpPr/>
          <p:nvPr/>
        </p:nvSpPr>
        <p:spPr>
          <a:xfrm>
            <a:off x="4392067" y="2157661"/>
            <a:ext cx="3407817" cy="1859062"/>
          </a:xfrm>
          <a:prstGeom prst="roundRect">
            <a:avLst>
              <a:gd name="adj" fmla="val 3757"/>
            </a:avLst>
          </a:prstGeom>
          <a:solidFill>
            <a:srgbClr val="FFFFFF"/>
          </a:solidFill>
          <a:ln w="12700">
            <a:solidFill>
              <a:srgbClr val="CDD2D8"/>
            </a:solidFill>
            <a:prstDash val="solid"/>
          </a:ln>
        </p:spPr>
      </p:sp>
      <p:sp>
        <p:nvSpPr>
          <p:cNvPr id="18" name="Text 16"/>
          <p:cNvSpPr/>
          <p:nvPr/>
        </p:nvSpPr>
        <p:spPr>
          <a:xfrm>
            <a:off x="4550817" y="2291011"/>
            <a:ext cx="3183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How it runs</a:t>
            </a:r>
            <a:endParaRPr lang="en-US" sz="1400" dirty="0"/>
          </a:p>
        </p:txBody>
      </p:sp>
      <p:sp>
        <p:nvSpPr>
          <p:cNvPr id="19" name="Text 17"/>
          <p:cNvSpPr/>
          <p:nvPr/>
        </p:nvSpPr>
        <p:spPr>
          <a:xfrm>
            <a:off x="4550817" y="256783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Firecracker microVM per sandbox, own kernel, on Google Cloud</a:t>
            </a:r>
            <a:endParaRPr lang="en-US" sz="1200" dirty="0"/>
          </a:p>
        </p:txBody>
      </p:sp>
      <p:sp>
        <p:nvSpPr>
          <p:cNvPr id="20" name="Text 18"/>
          <p:cNvSpPr/>
          <p:nvPr/>
        </p:nvSpPr>
        <p:spPr>
          <a:xfrm>
            <a:off x="4550817" y="302751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Pause keeps memory; egress proxy injects secrets; BYOC on 3 clouds</a:t>
            </a:r>
            <a:endParaRPr lang="en-US" sz="1200" dirty="0"/>
          </a:p>
        </p:txBody>
      </p:sp>
      <p:sp>
        <p:nvSpPr>
          <p:cNvPr id="21" name="Text 19"/>
          <p:cNvSpPr/>
          <p:nvPr/>
        </p:nvSpPr>
        <p:spPr>
          <a:xfrm>
            <a:off x="4550817" y="3487192"/>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CPU only and x86 only: no GPU sandboxes, no arm64 found</a:t>
            </a:r>
            <a:endParaRPr lang="en-US" sz="1200" dirty="0"/>
          </a:p>
        </p:txBody>
      </p:sp>
      <p:sp>
        <p:nvSpPr>
          <p:cNvPr id="22" name="Shape 20"/>
          <p:cNvSpPr/>
          <p:nvPr/>
        </p:nvSpPr>
        <p:spPr>
          <a:xfrm>
            <a:off x="7964984" y="2157661"/>
            <a:ext cx="3407866" cy="1859062"/>
          </a:xfrm>
          <a:prstGeom prst="roundRect">
            <a:avLst>
              <a:gd name="adj" fmla="val 3757"/>
            </a:avLst>
          </a:prstGeom>
          <a:solidFill>
            <a:srgbClr val="FFFFFF"/>
          </a:solidFill>
          <a:ln w="12700">
            <a:solidFill>
              <a:srgbClr val="CDD2D8"/>
            </a:solidFill>
            <a:prstDash val="solid"/>
          </a:ln>
        </p:spPr>
      </p:sp>
      <p:sp>
        <p:nvSpPr>
          <p:cNvPr id="23" name="Text 21"/>
          <p:cNvSpPr/>
          <p:nvPr/>
        </p:nvSpPr>
        <p:spPr>
          <a:xfrm>
            <a:off x="8123734" y="2291011"/>
            <a:ext cx="318307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NVIDIA today</a:t>
            </a:r>
            <a:endParaRPr lang="en-US" sz="1400" dirty="0"/>
          </a:p>
        </p:txBody>
      </p:sp>
      <p:sp>
        <p:nvSpPr>
          <p:cNvPr id="24" name="Text 22"/>
          <p:cNvSpPr/>
          <p:nvPr/>
        </p:nvSpPr>
        <p:spPr>
          <a:xfrm>
            <a:off x="8123734" y="2567831"/>
            <a:ext cx="318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Built openshell-e2b: OpenShell control plane over E2B microVMs</a:t>
            </a:r>
            <a:endParaRPr lang="en-US" sz="1200" dirty="0"/>
          </a:p>
        </p:txBody>
      </p:sp>
      <p:sp>
        <p:nvSpPr>
          <p:cNvPr id="25" name="Text 23"/>
          <p:cNvSpPr/>
          <p:nvPr/>
        </p:nvSpPr>
        <p:spPr>
          <a:xfrm>
            <a:off x="8123734" y="3027511"/>
            <a:ext cx="318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NeMo Gym added an E2B provider in v0.6.0 (Sep 3, 2026)</a:t>
            </a:r>
            <a:endParaRPr lang="en-US" sz="1200" dirty="0"/>
          </a:p>
        </p:txBody>
      </p:sp>
      <p:sp>
        <p:nvSpPr>
          <p:cNvPr id="26" name="Text 24"/>
          <p:cNvSpPr/>
          <p:nvPr/>
        </p:nvSpPr>
        <p:spPr>
          <a:xfrm>
            <a:off x="8123734" y="3487192"/>
            <a:ext cx="3183077"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No Inception, NVentures or GTC tie found</a:t>
            </a:r>
            <a:endParaRPr lang="en-US" sz="1200" dirty="0"/>
          </a:p>
        </p:txBody>
      </p:sp>
      <p:sp>
        <p:nvSpPr>
          <p:cNvPr id="27" name="Shape 25"/>
          <p:cNvSpPr/>
          <p:nvPr/>
        </p:nvSpPr>
        <p:spPr>
          <a:xfrm>
            <a:off x="819150" y="4181822"/>
            <a:ext cx="3407817" cy="1307951"/>
          </a:xfrm>
          <a:prstGeom prst="roundRect">
            <a:avLst>
              <a:gd name="adj" fmla="val 5340"/>
            </a:avLst>
          </a:prstGeom>
          <a:solidFill>
            <a:srgbClr val="FFFFFF"/>
          </a:solidFill>
          <a:ln w="12700">
            <a:solidFill>
              <a:srgbClr val="18202A"/>
            </a:solidFill>
            <a:prstDash val="solid"/>
          </a:ln>
        </p:spPr>
      </p:sp>
      <p:sp>
        <p:nvSpPr>
          <p:cNvPr id="28" name="Text 26"/>
          <p:cNvSpPr/>
          <p:nvPr/>
        </p:nvSpPr>
        <p:spPr>
          <a:xfrm>
            <a:off x="977900" y="4315172"/>
            <a:ext cx="318302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NVIDIA offers</a:t>
            </a:r>
            <a:endParaRPr lang="en-US" sz="1200" dirty="0"/>
          </a:p>
        </p:txBody>
      </p:sp>
      <p:sp>
        <p:nvSpPr>
          <p:cNvPr id="29" name="Text 27"/>
          <p:cNvSpPr/>
          <p:nvPr/>
        </p:nvSpPr>
        <p:spPr>
          <a:xfrm>
            <a:off x="977900" y="4564063"/>
            <a:ext cx="3183026"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Maintainer help to take the driver to protocol 1.0 and conformance, NemoClaw and Nemotron templates, Grace or Vera units for arm64</a:t>
            </a:r>
            <a:endParaRPr lang="en-US" sz="1200" dirty="0"/>
          </a:p>
        </p:txBody>
      </p:sp>
      <p:sp>
        <p:nvSpPr>
          <p:cNvPr id="30" name="Shape 28"/>
          <p:cNvSpPr/>
          <p:nvPr/>
        </p:nvSpPr>
        <p:spPr>
          <a:xfrm>
            <a:off x="4392067" y="4181822"/>
            <a:ext cx="3407817" cy="1307951"/>
          </a:xfrm>
          <a:prstGeom prst="roundRect">
            <a:avLst>
              <a:gd name="adj" fmla="val 5340"/>
            </a:avLst>
          </a:prstGeom>
          <a:solidFill>
            <a:srgbClr val="FFFFFF"/>
          </a:solidFill>
          <a:ln w="12700">
            <a:solidFill>
              <a:srgbClr val="18202A"/>
            </a:solidFill>
            <a:prstDash val="solid"/>
          </a:ln>
        </p:spPr>
      </p:sp>
      <p:sp>
        <p:nvSpPr>
          <p:cNvPr id="31" name="Text 29"/>
          <p:cNvSpPr/>
          <p:nvPr/>
        </p:nvSpPr>
        <p:spPr>
          <a:xfrm>
            <a:off x="4550817" y="4315172"/>
            <a:ext cx="318302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We ask</a:t>
            </a:r>
            <a:endParaRPr lang="en-US" sz="1200" dirty="0"/>
          </a:p>
        </p:txBody>
      </p:sp>
      <p:sp>
        <p:nvSpPr>
          <p:cNvPr id="32" name="Text 30"/>
          <p:cNvSpPr/>
          <p:nvPr/>
        </p:nvSpPr>
        <p:spPr>
          <a:xfrm>
            <a:off x="4550817" y="4564063"/>
            <a:ext cx="318302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Move openshell-e2b to supported with pause, resume and fork; publish OpenShell templates; agree which layer enforces what</a:t>
            </a:r>
            <a:endParaRPr lang="en-US" sz="1200" dirty="0"/>
          </a:p>
        </p:txBody>
      </p:sp>
      <p:sp>
        <p:nvSpPr>
          <p:cNvPr id="33" name="Shape 31"/>
          <p:cNvSpPr/>
          <p:nvPr/>
        </p:nvSpPr>
        <p:spPr>
          <a:xfrm>
            <a:off x="7964984" y="4181822"/>
            <a:ext cx="3407866" cy="1307951"/>
          </a:xfrm>
          <a:prstGeom prst="roundRect">
            <a:avLst>
              <a:gd name="adj" fmla="val 5340"/>
            </a:avLst>
          </a:prstGeom>
          <a:solidFill>
            <a:srgbClr val="FFFFFF"/>
          </a:solidFill>
          <a:ln w="12700">
            <a:solidFill>
              <a:srgbClr val="18202A"/>
            </a:solidFill>
            <a:prstDash val="solid"/>
          </a:ln>
        </p:spPr>
      </p:sp>
      <p:sp>
        <p:nvSpPr>
          <p:cNvPr id="34" name="Text 32"/>
          <p:cNvSpPr/>
          <p:nvPr/>
        </p:nvSpPr>
        <p:spPr>
          <a:xfrm>
            <a:off x="8123734" y="4315172"/>
            <a:ext cx="3183077"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90-day proof</a:t>
            </a:r>
            <a:endParaRPr lang="en-US" sz="1200" dirty="0"/>
          </a:p>
        </p:txBody>
      </p:sp>
      <p:sp>
        <p:nvSpPr>
          <p:cNvPr id="35" name="Text 33"/>
          <p:cNvSpPr/>
          <p:nvPr/>
        </p:nvSpPr>
        <p:spPr>
          <a:xfrm>
            <a:off x="8123734" y="4564063"/>
            <a:ext cx="3183077"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One policy enforced alike on Docker, Kubernetes and E2B; a Nemotron RL run at 5,000 to 10,000 sandboxes with cost per rollout</a:t>
            </a:r>
            <a:endParaRPr lang="en-US" sz="1200" dirty="0"/>
          </a:p>
        </p:txBody>
      </p:sp>
      <p:sp>
        <p:nvSpPr>
          <p:cNvPr id="36" name="Text 34"/>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5 · Sandbox providers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Daytona is RL-heavy and sells NVIDIA GPU sandboxes</a:t>
            </a:r>
            <a:endParaRPr lang="en-US" sz="2800" dirty="0"/>
          </a:p>
        </p:txBody>
      </p:sp>
      <p:sp>
        <p:nvSpPr>
          <p:cNvPr id="3" name="Shape 1"/>
          <p:cNvSpPr/>
          <p:nvPr/>
        </p:nvSpPr>
        <p:spPr>
          <a:xfrm>
            <a:off x="819150" y="1380480"/>
            <a:ext cx="3407817" cy="612080"/>
          </a:xfrm>
          <a:prstGeom prst="roundRect">
            <a:avLst>
              <a:gd name="adj" fmla="val 11412"/>
            </a:avLst>
          </a:prstGeom>
          <a:solidFill>
            <a:srgbClr val="FFFFFF"/>
          </a:solidFill>
          <a:ln w="12700">
            <a:solidFill>
              <a:srgbClr val="CDD2D8"/>
            </a:solidFill>
            <a:prstDash val="solid"/>
          </a:ln>
        </p:spPr>
      </p:sp>
      <p:sp>
        <p:nvSpPr>
          <p:cNvPr id="4" name="Text 2"/>
          <p:cNvSpPr/>
          <p:nvPr/>
        </p:nvSpPr>
        <p:spPr>
          <a:xfrm>
            <a:off x="977900" y="1532830"/>
            <a:ext cx="715218"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~50%</a:t>
            </a:r>
            <a:endParaRPr lang="en-US" sz="2200" dirty="0"/>
          </a:p>
        </p:txBody>
      </p:sp>
      <p:sp>
        <p:nvSpPr>
          <p:cNvPr id="5" name="Text 3"/>
          <p:cNvSpPr/>
          <p:nvPr/>
        </p:nvSpPr>
        <p:spPr>
          <a:xfrm>
            <a:off x="1743918" y="1488430"/>
            <a:ext cx="239402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of usage is RL, up from zero (May 2026)</a:t>
            </a:r>
            <a:endParaRPr lang="en-US" sz="1200" dirty="0"/>
          </a:p>
        </p:txBody>
      </p:sp>
      <p:sp>
        <p:nvSpPr>
          <p:cNvPr id="6" name="Shape 4"/>
          <p:cNvSpPr/>
          <p:nvPr/>
        </p:nvSpPr>
        <p:spPr>
          <a:xfrm>
            <a:off x="4392067" y="1380480"/>
            <a:ext cx="3407866" cy="612080"/>
          </a:xfrm>
          <a:prstGeom prst="roundRect">
            <a:avLst>
              <a:gd name="adj" fmla="val 11412"/>
            </a:avLst>
          </a:prstGeom>
          <a:solidFill>
            <a:srgbClr val="FFFFFF"/>
          </a:solidFill>
          <a:ln w="12700">
            <a:solidFill>
              <a:srgbClr val="CDD2D8"/>
            </a:solidFill>
            <a:prstDash val="solid"/>
          </a:ln>
        </p:spPr>
      </p:sp>
      <p:sp>
        <p:nvSpPr>
          <p:cNvPr id="7" name="Text 5"/>
          <p:cNvSpPr/>
          <p:nvPr/>
        </p:nvSpPr>
        <p:spPr>
          <a:xfrm>
            <a:off x="4550817" y="1532830"/>
            <a:ext cx="639465"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850k</a:t>
            </a:r>
            <a:endParaRPr lang="en-US" sz="2200" dirty="0"/>
          </a:p>
        </p:txBody>
      </p:sp>
      <p:sp>
        <p:nvSpPr>
          <p:cNvPr id="8" name="Text 6"/>
          <p:cNvSpPr/>
          <p:nvPr/>
        </p:nvSpPr>
        <p:spPr>
          <a:xfrm>
            <a:off x="5241082" y="1488430"/>
            <a:ext cx="2472105"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sandboxes a day at its largest customer</a:t>
            </a:r>
            <a:endParaRPr lang="en-US" sz="1200" dirty="0"/>
          </a:p>
        </p:txBody>
      </p:sp>
      <p:sp>
        <p:nvSpPr>
          <p:cNvPr id="9" name="Shape 7"/>
          <p:cNvSpPr/>
          <p:nvPr/>
        </p:nvSpPr>
        <p:spPr>
          <a:xfrm>
            <a:off x="7965033" y="1380480"/>
            <a:ext cx="3407817" cy="612080"/>
          </a:xfrm>
          <a:prstGeom prst="roundRect">
            <a:avLst>
              <a:gd name="adj" fmla="val 11412"/>
            </a:avLst>
          </a:prstGeom>
          <a:solidFill>
            <a:srgbClr val="FFFFFF"/>
          </a:solidFill>
          <a:ln w="12700">
            <a:solidFill>
              <a:srgbClr val="CDD2D8"/>
            </a:solidFill>
            <a:prstDash val="solid"/>
          </a:ln>
        </p:spPr>
      </p:sp>
      <p:sp>
        <p:nvSpPr>
          <p:cNvPr id="10" name="Text 8"/>
          <p:cNvSpPr/>
          <p:nvPr/>
        </p:nvSpPr>
        <p:spPr>
          <a:xfrm>
            <a:off x="8123783" y="1532830"/>
            <a:ext cx="730647"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$24M</a:t>
            </a:r>
            <a:endParaRPr lang="en-US" sz="2200" dirty="0"/>
          </a:p>
        </p:txBody>
      </p:sp>
      <p:sp>
        <p:nvSpPr>
          <p:cNvPr id="11" name="Text 9"/>
          <p:cNvSpPr/>
          <p:nvPr/>
        </p:nvSpPr>
        <p:spPr>
          <a:xfrm>
            <a:off x="8905230" y="1488430"/>
            <a:ext cx="237813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Series A led by FirstMark (Feb 2026)</a:t>
            </a:r>
            <a:endParaRPr lang="en-US" sz="1200" dirty="0"/>
          </a:p>
        </p:txBody>
      </p:sp>
      <p:sp>
        <p:nvSpPr>
          <p:cNvPr id="12" name="Shape 10"/>
          <p:cNvSpPr/>
          <p:nvPr/>
        </p:nvSpPr>
        <p:spPr>
          <a:xfrm>
            <a:off x="819150" y="2157661"/>
            <a:ext cx="3407817" cy="1859062"/>
          </a:xfrm>
          <a:prstGeom prst="roundRect">
            <a:avLst>
              <a:gd name="adj" fmla="val 3757"/>
            </a:avLst>
          </a:prstGeom>
          <a:solidFill>
            <a:srgbClr val="FFFFFF"/>
          </a:solidFill>
          <a:ln w="12700">
            <a:solidFill>
              <a:srgbClr val="CDD2D8"/>
            </a:solidFill>
            <a:prstDash val="solid"/>
          </a:ln>
        </p:spPr>
      </p:sp>
      <p:sp>
        <p:nvSpPr>
          <p:cNvPr id="13" name="Text 11"/>
          <p:cNvSpPr/>
          <p:nvPr/>
        </p:nvSpPr>
        <p:spPr>
          <a:xfrm>
            <a:off x="977900" y="2291011"/>
            <a:ext cx="3183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New in 2025 to 2026</a:t>
            </a:r>
            <a:endParaRPr lang="en-US" sz="1400" dirty="0"/>
          </a:p>
        </p:txBody>
      </p:sp>
      <p:sp>
        <p:nvSpPr>
          <p:cNvPr id="14" name="Text 12"/>
          <p:cNvSpPr/>
          <p:nvPr/>
        </p:nvSpPr>
        <p:spPr>
          <a:xfrm>
            <a:off x="977900" y="256783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Apr to Sep 2026: backend for OpenAI, Anthropic, Devin, Cursor</a:t>
            </a:r>
            <a:endParaRPr lang="en-US" sz="1200" dirty="0"/>
          </a:p>
        </p:txBody>
      </p:sp>
      <p:sp>
        <p:nvSpPr>
          <p:cNvPr id="15" name="Text 13"/>
          <p:cNvSpPr/>
          <p:nvPr/>
        </p:nvSpPr>
        <p:spPr>
          <a:xfrm>
            <a:off x="977900" y="302751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Jun 11, 2026: production code goes closed source, citing security</a:t>
            </a:r>
            <a:endParaRPr lang="en-US" sz="1200" dirty="0"/>
          </a:p>
        </p:txBody>
      </p:sp>
      <p:sp>
        <p:nvSpPr>
          <p:cNvPr id="16" name="Text 14"/>
          <p:cNvSpPr/>
          <p:nvPr/>
        </p:nvSpPr>
        <p:spPr>
          <a:xfrm>
            <a:off x="977900" y="3487192"/>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Jul 2026: GPU and Windows sandboxes; SOC 2 Type II</a:t>
            </a:r>
            <a:endParaRPr lang="en-US" sz="1200" dirty="0"/>
          </a:p>
        </p:txBody>
      </p:sp>
      <p:sp>
        <p:nvSpPr>
          <p:cNvPr id="17" name="Shape 15"/>
          <p:cNvSpPr/>
          <p:nvPr/>
        </p:nvSpPr>
        <p:spPr>
          <a:xfrm>
            <a:off x="4392067" y="2157661"/>
            <a:ext cx="3407817" cy="1859062"/>
          </a:xfrm>
          <a:prstGeom prst="roundRect">
            <a:avLst>
              <a:gd name="adj" fmla="val 3757"/>
            </a:avLst>
          </a:prstGeom>
          <a:solidFill>
            <a:srgbClr val="FFFFFF"/>
          </a:solidFill>
          <a:ln w="12700">
            <a:solidFill>
              <a:srgbClr val="CDD2D8"/>
            </a:solidFill>
            <a:prstDash val="solid"/>
          </a:ln>
        </p:spPr>
      </p:sp>
      <p:sp>
        <p:nvSpPr>
          <p:cNvPr id="18" name="Text 16"/>
          <p:cNvSpPr/>
          <p:nvPr/>
        </p:nvSpPr>
        <p:spPr>
          <a:xfrm>
            <a:off x="4550817" y="2291011"/>
            <a:ext cx="3183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How it runs</a:t>
            </a:r>
            <a:endParaRPr lang="en-US" sz="1400" dirty="0"/>
          </a:p>
        </p:txBody>
      </p:sp>
      <p:sp>
        <p:nvSpPr>
          <p:cNvPr id="19" name="Text 17"/>
          <p:cNvSpPr/>
          <p:nvPr/>
        </p:nvSpPr>
        <p:spPr>
          <a:xfrm>
            <a:off x="4550817" y="256783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Hardened Docker on shared-kernel bare metal by default</a:t>
            </a:r>
            <a:endParaRPr lang="en-US" sz="1200" dirty="0"/>
          </a:p>
        </p:txBody>
      </p:sp>
      <p:sp>
        <p:nvSpPr>
          <p:cNvPr id="20" name="Text 18"/>
          <p:cNvSpPr/>
          <p:nvPr/>
        </p:nvSpPr>
        <p:spPr>
          <a:xfrm>
            <a:off x="4550817" y="302751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Linux and Windows VMs; macOS through a partner; GPU passthrough</a:t>
            </a:r>
            <a:endParaRPr lang="en-US" sz="1200" dirty="0"/>
          </a:p>
        </p:txBody>
      </p:sp>
      <p:sp>
        <p:nvSpPr>
          <p:cNvPr id="21" name="Text 19"/>
          <p:cNvSpPr/>
          <p:nvPr/>
        </p:nvSpPr>
        <p:spPr>
          <a:xfrm>
            <a:off x="4550817" y="3487192"/>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April 2026: a credential exposure and the Copy Fail kernel bug</a:t>
            </a:r>
            <a:endParaRPr lang="en-US" sz="1200" dirty="0"/>
          </a:p>
        </p:txBody>
      </p:sp>
      <p:sp>
        <p:nvSpPr>
          <p:cNvPr id="22" name="Shape 20"/>
          <p:cNvSpPr/>
          <p:nvPr/>
        </p:nvSpPr>
        <p:spPr>
          <a:xfrm>
            <a:off x="7964984" y="2157661"/>
            <a:ext cx="3407866" cy="1859062"/>
          </a:xfrm>
          <a:prstGeom prst="roundRect">
            <a:avLst>
              <a:gd name="adj" fmla="val 3757"/>
            </a:avLst>
          </a:prstGeom>
          <a:solidFill>
            <a:srgbClr val="FFFFFF"/>
          </a:solidFill>
          <a:ln w="12700">
            <a:solidFill>
              <a:srgbClr val="CDD2D8"/>
            </a:solidFill>
            <a:prstDash val="solid"/>
          </a:ln>
        </p:spPr>
      </p:sp>
      <p:sp>
        <p:nvSpPr>
          <p:cNvPr id="23" name="Text 21"/>
          <p:cNvSpPr/>
          <p:nvPr/>
        </p:nvSpPr>
        <p:spPr>
          <a:xfrm>
            <a:off x="8123734" y="2291011"/>
            <a:ext cx="318307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NVIDIA today</a:t>
            </a:r>
            <a:endParaRPr lang="en-US" sz="1400" dirty="0"/>
          </a:p>
        </p:txBody>
      </p:sp>
      <p:sp>
        <p:nvSpPr>
          <p:cNvPr id="24" name="Text 22"/>
          <p:cNvSpPr/>
          <p:nvPr/>
        </p:nvSpPr>
        <p:spPr>
          <a:xfrm>
            <a:off x="8123734" y="2567831"/>
            <a:ext cx="318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Built-in NeMo Gym provider since v0.5.0 (Aug 6, 2026)</a:t>
            </a:r>
            <a:endParaRPr lang="en-US" sz="1200" dirty="0"/>
          </a:p>
        </p:txBody>
      </p:sp>
      <p:sp>
        <p:nvSpPr>
          <p:cNvPr id="25" name="Text 23"/>
          <p:cNvSpPr/>
          <p:nvPr/>
        </p:nvSpPr>
        <p:spPr>
          <a:xfrm>
            <a:off x="8123734" y="3027511"/>
            <a:ext cx="318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Sells NVIDIA B300 through RTX 4090 sandboxes, and AMD MI355X</a:t>
            </a:r>
            <a:endParaRPr lang="en-US" sz="1200" dirty="0"/>
          </a:p>
        </p:txBody>
      </p:sp>
      <p:sp>
        <p:nvSpPr>
          <p:cNvPr id="26" name="Text 24"/>
          <p:cNvSpPr/>
          <p:nvPr/>
        </p:nvSpPr>
        <p:spPr>
          <a:xfrm>
            <a:off x="8123734" y="3487192"/>
            <a:ext cx="318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No OpenShell, Nemotron, Inception or NVentures tie found</a:t>
            </a:r>
            <a:endParaRPr lang="en-US" sz="1200" dirty="0"/>
          </a:p>
        </p:txBody>
      </p:sp>
      <p:sp>
        <p:nvSpPr>
          <p:cNvPr id="27" name="Shape 25"/>
          <p:cNvSpPr/>
          <p:nvPr/>
        </p:nvSpPr>
        <p:spPr>
          <a:xfrm>
            <a:off x="819150" y="4181822"/>
            <a:ext cx="3407817" cy="1307951"/>
          </a:xfrm>
          <a:prstGeom prst="roundRect">
            <a:avLst>
              <a:gd name="adj" fmla="val 5340"/>
            </a:avLst>
          </a:prstGeom>
          <a:solidFill>
            <a:srgbClr val="FFFFFF"/>
          </a:solidFill>
          <a:ln w="12700">
            <a:solidFill>
              <a:srgbClr val="18202A"/>
            </a:solidFill>
            <a:prstDash val="solid"/>
          </a:ln>
        </p:spPr>
      </p:sp>
      <p:sp>
        <p:nvSpPr>
          <p:cNvPr id="28" name="Text 26"/>
          <p:cNvSpPr/>
          <p:nvPr/>
        </p:nvSpPr>
        <p:spPr>
          <a:xfrm>
            <a:off x="977900" y="4315172"/>
            <a:ext cx="318302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NVIDIA offers</a:t>
            </a:r>
            <a:endParaRPr lang="en-US" sz="1200" dirty="0"/>
          </a:p>
        </p:txBody>
      </p:sp>
      <p:sp>
        <p:nvSpPr>
          <p:cNvPr id="29" name="Text 27"/>
          <p:cNvSpPr/>
          <p:nvPr/>
        </p:nvSpPr>
        <p:spPr>
          <a:xfrm>
            <a:off x="977900" y="4564063"/>
            <a:ext cx="3183026"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OpenShell policy inside Daytona sandboxes, NeMo Gym and NeMo RL recipes with Nemotron, and intros to NVIDIA cloud partners</a:t>
            </a:r>
            <a:endParaRPr lang="en-US" sz="1200" dirty="0"/>
          </a:p>
        </p:txBody>
      </p:sp>
      <p:sp>
        <p:nvSpPr>
          <p:cNvPr id="30" name="Shape 28"/>
          <p:cNvSpPr/>
          <p:nvPr/>
        </p:nvSpPr>
        <p:spPr>
          <a:xfrm>
            <a:off x="4392067" y="4181822"/>
            <a:ext cx="3407817" cy="1307951"/>
          </a:xfrm>
          <a:prstGeom prst="roundRect">
            <a:avLst>
              <a:gd name="adj" fmla="val 5340"/>
            </a:avLst>
          </a:prstGeom>
          <a:solidFill>
            <a:srgbClr val="FFFFFF"/>
          </a:solidFill>
          <a:ln w="12700">
            <a:solidFill>
              <a:srgbClr val="18202A"/>
            </a:solidFill>
            <a:prstDash val="solid"/>
          </a:ln>
        </p:spPr>
      </p:sp>
      <p:sp>
        <p:nvSpPr>
          <p:cNvPr id="31" name="Text 29"/>
          <p:cNvSpPr/>
          <p:nvPr/>
        </p:nvSpPr>
        <p:spPr>
          <a:xfrm>
            <a:off x="4550817" y="4315172"/>
            <a:ext cx="318302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We ask</a:t>
            </a:r>
            <a:endParaRPr lang="en-US" sz="1200" dirty="0"/>
          </a:p>
        </p:txBody>
      </p:sp>
      <p:sp>
        <p:nvSpPr>
          <p:cNvPr id="32" name="Text 30"/>
          <p:cNvSpPr/>
          <p:nvPr/>
        </p:nvSpPr>
        <p:spPr>
          <a:xfrm>
            <a:off x="4550817" y="4564063"/>
            <a:ext cx="318302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An OpenShell base snapshot, OpenShell YAML accepted for network and file policy, RL burst capacity, and arm64 plans</a:t>
            </a:r>
            <a:endParaRPr lang="en-US" sz="1200" dirty="0"/>
          </a:p>
        </p:txBody>
      </p:sp>
      <p:sp>
        <p:nvSpPr>
          <p:cNvPr id="33" name="Shape 31"/>
          <p:cNvSpPr/>
          <p:nvPr/>
        </p:nvSpPr>
        <p:spPr>
          <a:xfrm>
            <a:off x="7964984" y="4181822"/>
            <a:ext cx="3407866" cy="1307951"/>
          </a:xfrm>
          <a:prstGeom prst="roundRect">
            <a:avLst>
              <a:gd name="adj" fmla="val 5340"/>
            </a:avLst>
          </a:prstGeom>
          <a:solidFill>
            <a:srgbClr val="FFFFFF"/>
          </a:solidFill>
          <a:ln w="12700">
            <a:solidFill>
              <a:srgbClr val="18202A"/>
            </a:solidFill>
            <a:prstDash val="solid"/>
          </a:ln>
        </p:spPr>
      </p:sp>
      <p:sp>
        <p:nvSpPr>
          <p:cNvPr id="34" name="Text 32"/>
          <p:cNvSpPr/>
          <p:nvPr/>
        </p:nvSpPr>
        <p:spPr>
          <a:xfrm>
            <a:off x="8123734" y="4315172"/>
            <a:ext cx="3183077"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90-day proof</a:t>
            </a:r>
            <a:endParaRPr lang="en-US" sz="1200" dirty="0"/>
          </a:p>
        </p:txBody>
      </p:sp>
      <p:sp>
        <p:nvSpPr>
          <p:cNvPr id="35" name="Text 33"/>
          <p:cNvSpPr/>
          <p:nvPr/>
        </p:nvSpPr>
        <p:spPr>
          <a:xfrm>
            <a:off x="8123734" y="4564063"/>
            <a:ext cx="3183077"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 Nemotron RL run at 10,000+ concurrent Daytona sandboxes via NeMo Gym, with rollouts per hour and cost per 1,000 rollouts</a:t>
            </a:r>
            <a:endParaRPr lang="en-US" sz="1200" dirty="0"/>
          </a:p>
        </p:txBody>
      </p:sp>
      <p:sp>
        <p:nvSpPr>
          <p:cNvPr id="36" name="Text 34"/>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5 · Sandbox providers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Vercel matters for distribution and tokens</a:t>
            </a:r>
            <a:endParaRPr lang="en-US" sz="2800" dirty="0"/>
          </a:p>
        </p:txBody>
      </p:sp>
      <p:sp>
        <p:nvSpPr>
          <p:cNvPr id="3" name="Shape 1"/>
          <p:cNvSpPr/>
          <p:nvPr/>
        </p:nvSpPr>
        <p:spPr>
          <a:xfrm>
            <a:off x="819150" y="1380480"/>
            <a:ext cx="3407817" cy="612080"/>
          </a:xfrm>
          <a:prstGeom prst="roundRect">
            <a:avLst>
              <a:gd name="adj" fmla="val 11412"/>
            </a:avLst>
          </a:prstGeom>
          <a:solidFill>
            <a:srgbClr val="FFFFFF"/>
          </a:solidFill>
          <a:ln w="12700">
            <a:solidFill>
              <a:srgbClr val="CDD2D8"/>
            </a:solidFill>
            <a:prstDash val="solid"/>
          </a:ln>
        </p:spPr>
      </p:sp>
      <p:sp>
        <p:nvSpPr>
          <p:cNvPr id="4" name="Text 2"/>
          <p:cNvSpPr/>
          <p:nvPr/>
        </p:nvSpPr>
        <p:spPr>
          <a:xfrm>
            <a:off x="977900" y="1532830"/>
            <a:ext cx="513556"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56%</a:t>
            </a:r>
            <a:endParaRPr lang="en-US" sz="2200" dirty="0"/>
          </a:p>
        </p:txBody>
      </p:sp>
      <p:sp>
        <p:nvSpPr>
          <p:cNvPr id="5" name="Text 3"/>
          <p:cNvSpPr/>
          <p:nvPr/>
        </p:nvSpPr>
        <p:spPr>
          <a:xfrm>
            <a:off x="1542256" y="1488430"/>
            <a:ext cx="2601739"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open-weight share of gateway tokens, Aug 2026</a:t>
            </a:r>
            <a:endParaRPr lang="en-US" sz="1200" dirty="0"/>
          </a:p>
        </p:txBody>
      </p:sp>
      <p:sp>
        <p:nvSpPr>
          <p:cNvPr id="6" name="Shape 4"/>
          <p:cNvSpPr/>
          <p:nvPr/>
        </p:nvSpPr>
        <p:spPr>
          <a:xfrm>
            <a:off x="4392067" y="1380480"/>
            <a:ext cx="3407866" cy="612080"/>
          </a:xfrm>
          <a:prstGeom prst="roundRect">
            <a:avLst>
              <a:gd name="adj" fmla="val 11412"/>
            </a:avLst>
          </a:prstGeom>
          <a:solidFill>
            <a:srgbClr val="FFFFFF"/>
          </a:solidFill>
          <a:ln w="12700">
            <a:solidFill>
              <a:srgbClr val="CDD2D8"/>
            </a:solidFill>
            <a:prstDash val="solid"/>
          </a:ln>
        </p:spPr>
      </p:sp>
      <p:sp>
        <p:nvSpPr>
          <p:cNvPr id="7" name="Text 5"/>
          <p:cNvSpPr/>
          <p:nvPr/>
        </p:nvSpPr>
        <p:spPr>
          <a:xfrm>
            <a:off x="4550817" y="1532830"/>
            <a:ext cx="879029"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$340M</a:t>
            </a:r>
            <a:endParaRPr lang="en-US" sz="2200" dirty="0"/>
          </a:p>
        </p:txBody>
      </p:sp>
      <p:sp>
        <p:nvSpPr>
          <p:cNvPr id="8" name="Text 6"/>
          <p:cNvSpPr/>
          <p:nvPr/>
        </p:nvSpPr>
        <p:spPr>
          <a:xfrm>
            <a:off x="5480645" y="1488430"/>
            <a:ext cx="2225354"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revenue run-rate, end of Feb 2026</a:t>
            </a:r>
            <a:endParaRPr lang="en-US" sz="1200" dirty="0"/>
          </a:p>
        </p:txBody>
      </p:sp>
      <p:sp>
        <p:nvSpPr>
          <p:cNvPr id="9" name="Shape 7"/>
          <p:cNvSpPr/>
          <p:nvPr/>
        </p:nvSpPr>
        <p:spPr>
          <a:xfrm>
            <a:off x="7965033" y="1380480"/>
            <a:ext cx="3407817" cy="612080"/>
          </a:xfrm>
          <a:prstGeom prst="roundRect">
            <a:avLst>
              <a:gd name="adj" fmla="val 11412"/>
            </a:avLst>
          </a:prstGeom>
          <a:solidFill>
            <a:srgbClr val="FFFFFF"/>
          </a:solidFill>
          <a:ln w="12700">
            <a:solidFill>
              <a:srgbClr val="CDD2D8"/>
            </a:solidFill>
            <a:prstDash val="solid"/>
          </a:ln>
        </p:spPr>
      </p:sp>
      <p:sp>
        <p:nvSpPr>
          <p:cNvPr id="10" name="Text 8"/>
          <p:cNvSpPr/>
          <p:nvPr/>
        </p:nvSpPr>
        <p:spPr>
          <a:xfrm>
            <a:off x="8123783" y="1532830"/>
            <a:ext cx="630734"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50%+</a:t>
            </a:r>
            <a:endParaRPr lang="en-US" sz="2200" dirty="0"/>
          </a:p>
        </p:txBody>
      </p:sp>
      <p:sp>
        <p:nvSpPr>
          <p:cNvPr id="11" name="Text 9"/>
          <p:cNvSpPr/>
          <p:nvPr/>
        </p:nvSpPr>
        <p:spPr>
          <a:xfrm>
            <a:off x="8805317" y="1488430"/>
            <a:ext cx="248104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of deployments triggered by agents (Jun 2026)</a:t>
            </a:r>
            <a:endParaRPr lang="en-US" sz="1200" dirty="0"/>
          </a:p>
        </p:txBody>
      </p:sp>
      <p:sp>
        <p:nvSpPr>
          <p:cNvPr id="12" name="Shape 10"/>
          <p:cNvSpPr/>
          <p:nvPr/>
        </p:nvSpPr>
        <p:spPr>
          <a:xfrm>
            <a:off x="819150" y="2157661"/>
            <a:ext cx="3407817" cy="1859062"/>
          </a:xfrm>
          <a:prstGeom prst="roundRect">
            <a:avLst>
              <a:gd name="adj" fmla="val 3757"/>
            </a:avLst>
          </a:prstGeom>
          <a:solidFill>
            <a:srgbClr val="FFFFFF"/>
          </a:solidFill>
          <a:ln w="12700">
            <a:solidFill>
              <a:srgbClr val="CDD2D8"/>
            </a:solidFill>
            <a:prstDash val="solid"/>
          </a:ln>
        </p:spPr>
      </p:sp>
      <p:sp>
        <p:nvSpPr>
          <p:cNvPr id="13" name="Text 11"/>
          <p:cNvSpPr/>
          <p:nvPr/>
        </p:nvSpPr>
        <p:spPr>
          <a:xfrm>
            <a:off x="977900" y="2291011"/>
            <a:ext cx="3183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New in 2025 to 2026</a:t>
            </a:r>
            <a:endParaRPr lang="en-US" sz="1400" dirty="0"/>
          </a:p>
        </p:txBody>
      </p:sp>
      <p:sp>
        <p:nvSpPr>
          <p:cNvPr id="14" name="Text 12"/>
          <p:cNvSpPr/>
          <p:nvPr/>
        </p:nvSpPr>
        <p:spPr>
          <a:xfrm>
            <a:off x="977900" y="256783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Jan 30, 2026: Vercel Sandbox GA on Firecracker microVMs</a:t>
            </a:r>
            <a:endParaRPr lang="en-US" sz="1200" dirty="0"/>
          </a:p>
        </p:txBody>
      </p:sp>
      <p:sp>
        <p:nvSpPr>
          <p:cNvPr id="15" name="Text 13"/>
          <p:cNvSpPr/>
          <p:nvPr/>
        </p:nvSpPr>
        <p:spPr>
          <a:xfrm>
            <a:off x="977900" y="302751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Jun 2026: AI SDK 7 adds a pluggable sandbox interface; eve framework</a:t>
            </a:r>
            <a:endParaRPr lang="en-US" sz="1200" dirty="0"/>
          </a:p>
        </p:txBody>
      </p:sp>
      <p:sp>
        <p:nvSpPr>
          <p:cNvPr id="16" name="Text 14"/>
          <p:cNvSpPr/>
          <p:nvPr/>
        </p:nvSpPr>
        <p:spPr>
          <a:xfrm>
            <a:off x="977900" y="3487192"/>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Aug to Sep 2026: credential-injecting firewall; 19 to 20 regions</a:t>
            </a:r>
            <a:endParaRPr lang="en-US" sz="1200" dirty="0"/>
          </a:p>
        </p:txBody>
      </p:sp>
      <p:sp>
        <p:nvSpPr>
          <p:cNvPr id="17" name="Shape 15"/>
          <p:cNvSpPr/>
          <p:nvPr/>
        </p:nvSpPr>
        <p:spPr>
          <a:xfrm>
            <a:off x="4392067" y="2157661"/>
            <a:ext cx="3407817" cy="1859062"/>
          </a:xfrm>
          <a:prstGeom prst="roundRect">
            <a:avLst>
              <a:gd name="adj" fmla="val 3757"/>
            </a:avLst>
          </a:prstGeom>
          <a:solidFill>
            <a:srgbClr val="FFFFFF"/>
          </a:solidFill>
          <a:ln w="12700">
            <a:solidFill>
              <a:srgbClr val="CDD2D8"/>
            </a:solidFill>
            <a:prstDash val="solid"/>
          </a:ln>
        </p:spPr>
      </p:sp>
      <p:sp>
        <p:nvSpPr>
          <p:cNvPr id="18" name="Text 16"/>
          <p:cNvSpPr/>
          <p:nvPr/>
        </p:nvSpPr>
        <p:spPr>
          <a:xfrm>
            <a:off x="4550817" y="2291011"/>
            <a:ext cx="3183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How it runs</a:t>
            </a:r>
            <a:endParaRPr lang="en-US" sz="1400" dirty="0"/>
          </a:p>
        </p:txBody>
      </p:sp>
      <p:sp>
        <p:nvSpPr>
          <p:cNvPr id="19" name="Text 17"/>
          <p:cNvSpPr/>
          <p:nvPr/>
        </p:nvSpPr>
        <p:spPr>
          <a:xfrm>
            <a:off x="4550817" y="256783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Firecracker microVMs on Vercel's Hive platform, running on AWS</a:t>
            </a:r>
            <a:endParaRPr lang="en-US" sz="1200" dirty="0"/>
          </a:p>
        </p:txBody>
      </p:sp>
      <p:sp>
        <p:nvSpPr>
          <p:cNvPr id="20" name="Text 18"/>
          <p:cNvSpPr/>
          <p:nvPr/>
        </p:nvSpPr>
        <p:spPr>
          <a:xfrm>
            <a:off x="4550817" y="302751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Up to 24-hour sessions; egress open unless a firewall is set</a:t>
            </a:r>
            <a:endParaRPr lang="en-US" sz="1200" dirty="0"/>
          </a:p>
        </p:txBody>
      </p:sp>
      <p:sp>
        <p:nvSpPr>
          <p:cNvPr id="21" name="Text 19"/>
          <p:cNvSpPr/>
          <p:nvPr/>
        </p:nvSpPr>
        <p:spPr>
          <a:xfrm>
            <a:off x="4550817" y="3487192"/>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CPU only, no self-host; BYOC on AWS in private beta</a:t>
            </a:r>
            <a:endParaRPr lang="en-US" sz="1200" dirty="0"/>
          </a:p>
        </p:txBody>
      </p:sp>
      <p:sp>
        <p:nvSpPr>
          <p:cNvPr id="22" name="Shape 20"/>
          <p:cNvSpPr/>
          <p:nvPr/>
        </p:nvSpPr>
        <p:spPr>
          <a:xfrm>
            <a:off x="7964984" y="2157661"/>
            <a:ext cx="3407866" cy="1859062"/>
          </a:xfrm>
          <a:prstGeom prst="roundRect">
            <a:avLst>
              <a:gd name="adj" fmla="val 3757"/>
            </a:avLst>
          </a:prstGeom>
          <a:solidFill>
            <a:srgbClr val="FFFFFF"/>
          </a:solidFill>
          <a:ln w="12700">
            <a:solidFill>
              <a:srgbClr val="CDD2D8"/>
            </a:solidFill>
            <a:prstDash val="solid"/>
          </a:ln>
        </p:spPr>
      </p:sp>
      <p:sp>
        <p:nvSpPr>
          <p:cNvPr id="23" name="Text 21"/>
          <p:cNvSpPr/>
          <p:nvPr/>
        </p:nvSpPr>
        <p:spPr>
          <a:xfrm>
            <a:off x="8123734" y="2291011"/>
            <a:ext cx="318307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NVIDIA today</a:t>
            </a:r>
            <a:endParaRPr lang="en-US" sz="1400" dirty="0"/>
          </a:p>
        </p:txBody>
      </p:sp>
      <p:sp>
        <p:nvSpPr>
          <p:cNvPr id="24" name="Text 22"/>
          <p:cNvSpPr/>
          <p:nvPr/>
        </p:nvSpPr>
        <p:spPr>
          <a:xfrm>
            <a:off x="8123734" y="2567831"/>
            <a:ext cx="318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Six Nemotron models on AI Gateway, all served by third parties</a:t>
            </a:r>
            <a:endParaRPr lang="en-US" sz="1200" dirty="0"/>
          </a:p>
        </p:txBody>
      </p:sp>
      <p:sp>
        <p:nvSpPr>
          <p:cNvPr id="25" name="Text 23"/>
          <p:cNvSpPr/>
          <p:nvPr/>
        </p:nvSpPr>
        <p:spPr>
          <a:xfrm>
            <a:off x="8123734" y="3027511"/>
            <a:ext cx="318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Two have a single provider each; none in the Feb top ten</a:t>
            </a:r>
            <a:endParaRPr lang="en-US" sz="1200" dirty="0"/>
          </a:p>
        </p:txBody>
      </p:sp>
      <p:sp>
        <p:nvSpPr>
          <p:cNvPr id="26" name="Text 24"/>
          <p:cNvSpPr/>
          <p:nvPr/>
        </p:nvSpPr>
        <p:spPr>
          <a:xfrm>
            <a:off x="8123734" y="3487192"/>
            <a:ext cx="318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No formal partnership; one joint hackathon in June 2025</a:t>
            </a:r>
            <a:endParaRPr lang="en-US" sz="1200" dirty="0"/>
          </a:p>
        </p:txBody>
      </p:sp>
      <p:sp>
        <p:nvSpPr>
          <p:cNvPr id="27" name="Shape 25"/>
          <p:cNvSpPr/>
          <p:nvPr/>
        </p:nvSpPr>
        <p:spPr>
          <a:xfrm>
            <a:off x="819150" y="4181822"/>
            <a:ext cx="3407817" cy="1307951"/>
          </a:xfrm>
          <a:prstGeom prst="roundRect">
            <a:avLst>
              <a:gd name="adj" fmla="val 5340"/>
            </a:avLst>
          </a:prstGeom>
          <a:solidFill>
            <a:srgbClr val="FFFFFF"/>
          </a:solidFill>
          <a:ln w="12700">
            <a:solidFill>
              <a:srgbClr val="18202A"/>
            </a:solidFill>
            <a:prstDash val="solid"/>
          </a:ln>
        </p:spPr>
      </p:sp>
      <p:sp>
        <p:nvSpPr>
          <p:cNvPr id="28" name="Text 26"/>
          <p:cNvSpPr/>
          <p:nvPr/>
        </p:nvSpPr>
        <p:spPr>
          <a:xfrm>
            <a:off x="977900" y="4315172"/>
            <a:ext cx="318302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NVIDIA offers</a:t>
            </a:r>
            <a:endParaRPr lang="en-US" sz="1200" dirty="0"/>
          </a:p>
        </p:txBody>
      </p:sp>
      <p:sp>
        <p:nvSpPr>
          <p:cNvPr id="29" name="Text 27"/>
          <p:cNvSpPr/>
          <p:nvPr/>
        </p:nvSpPr>
        <p:spPr>
          <a:xfrm>
            <a:off x="977900" y="4564063"/>
            <a:ext cx="3183026"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Nemotron with two or more Dynamo-backed providers per model, an NVIDIA provider for the AI SDK, and OpenShell as a sandbox backend</a:t>
            </a:r>
            <a:endParaRPr lang="en-US" sz="1200" dirty="0"/>
          </a:p>
        </p:txBody>
      </p:sp>
      <p:sp>
        <p:nvSpPr>
          <p:cNvPr id="30" name="Shape 28"/>
          <p:cNvSpPr/>
          <p:nvPr/>
        </p:nvSpPr>
        <p:spPr>
          <a:xfrm>
            <a:off x="4392067" y="4181822"/>
            <a:ext cx="3407817" cy="1307951"/>
          </a:xfrm>
          <a:prstGeom prst="roundRect">
            <a:avLst>
              <a:gd name="adj" fmla="val 5340"/>
            </a:avLst>
          </a:prstGeom>
          <a:solidFill>
            <a:srgbClr val="FFFFFF"/>
          </a:solidFill>
          <a:ln w="12700">
            <a:solidFill>
              <a:srgbClr val="18202A"/>
            </a:solidFill>
            <a:prstDash val="solid"/>
          </a:ln>
        </p:spPr>
      </p:sp>
      <p:sp>
        <p:nvSpPr>
          <p:cNvPr id="31" name="Text 29"/>
          <p:cNvSpPr/>
          <p:nvPr/>
        </p:nvSpPr>
        <p:spPr>
          <a:xfrm>
            <a:off x="4550817" y="4315172"/>
            <a:ext cx="318302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We ask</a:t>
            </a:r>
            <a:endParaRPr lang="en-US" sz="1200" dirty="0"/>
          </a:p>
        </p:txBody>
      </p:sp>
      <p:sp>
        <p:nvSpPr>
          <p:cNvPr id="32" name="Text 30"/>
          <p:cNvSpPr/>
          <p:nvPr/>
        </p:nvSpPr>
        <p:spPr>
          <a:xfrm>
            <a:off x="4550817" y="4564063"/>
            <a:ext cx="318302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Second providers for Nemotron 3 Super and Nano, a promotion slot, and confirmation the guest kernel supports Landlock</a:t>
            </a:r>
            <a:endParaRPr lang="en-US" sz="1200" dirty="0"/>
          </a:p>
        </p:txBody>
      </p:sp>
      <p:sp>
        <p:nvSpPr>
          <p:cNvPr id="33" name="Shape 31"/>
          <p:cNvSpPr/>
          <p:nvPr/>
        </p:nvSpPr>
        <p:spPr>
          <a:xfrm>
            <a:off x="7964984" y="4181822"/>
            <a:ext cx="3407866" cy="1307951"/>
          </a:xfrm>
          <a:prstGeom prst="roundRect">
            <a:avLst>
              <a:gd name="adj" fmla="val 5340"/>
            </a:avLst>
          </a:prstGeom>
          <a:solidFill>
            <a:srgbClr val="FFFFFF"/>
          </a:solidFill>
          <a:ln w="12700">
            <a:solidFill>
              <a:srgbClr val="18202A"/>
            </a:solidFill>
            <a:prstDash val="solid"/>
          </a:ln>
        </p:spPr>
      </p:sp>
      <p:sp>
        <p:nvSpPr>
          <p:cNvPr id="34" name="Text 32"/>
          <p:cNvSpPr/>
          <p:nvPr/>
        </p:nvSpPr>
        <p:spPr>
          <a:xfrm>
            <a:off x="8123734" y="4315172"/>
            <a:ext cx="3183077"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90-day proof</a:t>
            </a:r>
            <a:endParaRPr lang="en-US" sz="1200" dirty="0"/>
          </a:p>
        </p:txBody>
      </p:sp>
      <p:sp>
        <p:nvSpPr>
          <p:cNvPr id="35" name="Text 33"/>
          <p:cNvSpPr/>
          <p:nvPr/>
        </p:nvSpPr>
        <p:spPr>
          <a:xfrm>
            <a:off x="8123734" y="4564063"/>
            <a:ext cx="3183077"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All six Nemotron models with two providers and one in the weekly top ten; one OpenShell policy on DGX Spark and Vercel</a:t>
            </a:r>
            <a:endParaRPr lang="en-US" sz="1200" dirty="0"/>
          </a:p>
        </p:txBody>
      </p:sp>
      <p:sp>
        <p:nvSpPr>
          <p:cNvPr id="36" name="Text 34"/>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5 · Sandbox providers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Runloop sells enterprise devboxes and benchmarks</a:t>
            </a:r>
            <a:endParaRPr lang="en-US" sz="2800" dirty="0"/>
          </a:p>
        </p:txBody>
      </p:sp>
      <p:sp>
        <p:nvSpPr>
          <p:cNvPr id="3" name="Shape 1"/>
          <p:cNvSpPr/>
          <p:nvPr/>
        </p:nvSpPr>
        <p:spPr>
          <a:xfrm>
            <a:off x="819150" y="1380480"/>
            <a:ext cx="3407817" cy="612080"/>
          </a:xfrm>
          <a:prstGeom prst="roundRect">
            <a:avLst>
              <a:gd name="adj" fmla="val 11412"/>
            </a:avLst>
          </a:prstGeom>
          <a:solidFill>
            <a:srgbClr val="FFFFFF"/>
          </a:solidFill>
          <a:ln w="12700">
            <a:solidFill>
              <a:srgbClr val="CDD2D8"/>
            </a:solidFill>
            <a:prstDash val="solid"/>
          </a:ln>
        </p:spPr>
      </p:sp>
      <p:sp>
        <p:nvSpPr>
          <p:cNvPr id="4" name="Text 2"/>
          <p:cNvSpPr/>
          <p:nvPr/>
        </p:nvSpPr>
        <p:spPr>
          <a:xfrm>
            <a:off x="977900" y="1532830"/>
            <a:ext cx="495598"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$7M</a:t>
            </a:r>
            <a:endParaRPr lang="en-US" sz="2200" dirty="0"/>
          </a:p>
        </p:txBody>
      </p:sp>
      <p:sp>
        <p:nvSpPr>
          <p:cNvPr id="5" name="Text 3"/>
          <p:cNvSpPr/>
          <p:nvPr/>
        </p:nvSpPr>
        <p:spPr>
          <a:xfrm>
            <a:off x="1524298" y="1488430"/>
            <a:ext cx="262023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seed led by The General Partnership (Jul 2025)</a:t>
            </a:r>
            <a:endParaRPr lang="en-US" sz="1200" dirty="0"/>
          </a:p>
        </p:txBody>
      </p:sp>
      <p:sp>
        <p:nvSpPr>
          <p:cNvPr id="6" name="Shape 4"/>
          <p:cNvSpPr/>
          <p:nvPr/>
        </p:nvSpPr>
        <p:spPr>
          <a:xfrm>
            <a:off x="4392067" y="1380480"/>
            <a:ext cx="3407866" cy="612080"/>
          </a:xfrm>
          <a:prstGeom prst="roundRect">
            <a:avLst>
              <a:gd name="adj" fmla="val 11412"/>
            </a:avLst>
          </a:prstGeom>
          <a:solidFill>
            <a:srgbClr val="FFFFFF"/>
          </a:solidFill>
          <a:ln w="12700">
            <a:solidFill>
              <a:srgbClr val="CDD2D8"/>
            </a:solidFill>
            <a:prstDash val="solid"/>
          </a:ln>
        </p:spPr>
      </p:sp>
      <p:sp>
        <p:nvSpPr>
          <p:cNvPr id="7" name="Text 5"/>
          <p:cNvSpPr/>
          <p:nvPr/>
        </p:nvSpPr>
        <p:spPr>
          <a:xfrm>
            <a:off x="4550817" y="1532830"/>
            <a:ext cx="971153"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10,000+</a:t>
            </a:r>
            <a:endParaRPr lang="en-US" sz="2200" dirty="0"/>
          </a:p>
        </p:txBody>
      </p:sp>
      <p:sp>
        <p:nvSpPr>
          <p:cNvPr id="8" name="Text 6"/>
          <p:cNvSpPr/>
          <p:nvPr/>
        </p:nvSpPr>
        <p:spPr>
          <a:xfrm>
            <a:off x="5572770" y="1488430"/>
            <a:ext cx="213046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concurrent devboxes, one customer</a:t>
            </a:r>
            <a:endParaRPr lang="en-US" sz="1200" dirty="0"/>
          </a:p>
        </p:txBody>
      </p:sp>
      <p:sp>
        <p:nvSpPr>
          <p:cNvPr id="9" name="Shape 7"/>
          <p:cNvSpPr/>
          <p:nvPr/>
        </p:nvSpPr>
        <p:spPr>
          <a:xfrm>
            <a:off x="7965033" y="1380480"/>
            <a:ext cx="3407817" cy="612080"/>
          </a:xfrm>
          <a:prstGeom prst="roundRect">
            <a:avLst>
              <a:gd name="adj" fmla="val 11412"/>
            </a:avLst>
          </a:prstGeom>
          <a:solidFill>
            <a:srgbClr val="FFFFFF"/>
          </a:solidFill>
          <a:ln w="12700">
            <a:solidFill>
              <a:srgbClr val="CDD2D8"/>
            </a:solidFill>
            <a:prstDash val="solid"/>
          </a:ln>
        </p:spPr>
      </p:sp>
      <p:sp>
        <p:nvSpPr>
          <p:cNvPr id="10" name="Text 8"/>
          <p:cNvSpPr/>
          <p:nvPr/>
        </p:nvSpPr>
        <p:spPr>
          <a:xfrm>
            <a:off x="8123783" y="1532830"/>
            <a:ext cx="993378"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Gartner</a:t>
            </a:r>
            <a:endParaRPr lang="en-US" sz="2200" dirty="0"/>
          </a:p>
        </p:txBody>
      </p:sp>
      <p:sp>
        <p:nvSpPr>
          <p:cNvPr id="11" name="Text 9"/>
          <p:cNvSpPr/>
          <p:nvPr/>
        </p:nvSpPr>
        <p:spPr>
          <a:xfrm>
            <a:off x="9167961" y="1488430"/>
            <a:ext cx="210752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Market Guide vendor, May 2026</a:t>
            </a:r>
            <a:endParaRPr lang="en-US" sz="1200" dirty="0"/>
          </a:p>
        </p:txBody>
      </p:sp>
      <p:sp>
        <p:nvSpPr>
          <p:cNvPr id="12" name="Shape 10"/>
          <p:cNvSpPr/>
          <p:nvPr/>
        </p:nvSpPr>
        <p:spPr>
          <a:xfrm>
            <a:off x="819150" y="2157661"/>
            <a:ext cx="3407817" cy="1859062"/>
          </a:xfrm>
          <a:prstGeom prst="roundRect">
            <a:avLst>
              <a:gd name="adj" fmla="val 3757"/>
            </a:avLst>
          </a:prstGeom>
          <a:solidFill>
            <a:srgbClr val="FFFFFF"/>
          </a:solidFill>
          <a:ln w="12700">
            <a:solidFill>
              <a:srgbClr val="CDD2D8"/>
            </a:solidFill>
            <a:prstDash val="solid"/>
          </a:ln>
        </p:spPr>
      </p:sp>
      <p:sp>
        <p:nvSpPr>
          <p:cNvPr id="13" name="Text 11"/>
          <p:cNvSpPr/>
          <p:nvPr/>
        </p:nvSpPr>
        <p:spPr>
          <a:xfrm>
            <a:off x="977900" y="2291011"/>
            <a:ext cx="3183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New in 2025 to 2026</a:t>
            </a:r>
            <a:endParaRPr lang="en-US" sz="1400" dirty="0"/>
          </a:p>
        </p:txBody>
      </p:sp>
      <p:sp>
        <p:nvSpPr>
          <p:cNvPr id="14" name="Text 12"/>
          <p:cNvSpPr/>
          <p:nvPr/>
        </p:nvSpPr>
        <p:spPr>
          <a:xfrm>
            <a:off x="977900" y="256783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Nov 2025: Deploy to VPC on AWS. Jan 2026: network policies</a:t>
            </a:r>
            <a:endParaRPr lang="en-US" sz="1200" dirty="0"/>
          </a:p>
        </p:txBody>
      </p:sp>
      <p:sp>
        <p:nvSpPr>
          <p:cNvPr id="15" name="Text 13"/>
          <p:cNvSpPr/>
          <p:nvPr/>
        </p:nvSpPr>
        <p:spPr>
          <a:xfrm>
            <a:off x="977900" y="302751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Mar to Apr 2026: MCP Hub, Agent API, Weights and Biases benchmarks</a:t>
            </a:r>
            <a:endParaRPr lang="en-US" sz="1200" dirty="0"/>
          </a:p>
        </p:txBody>
      </p:sp>
      <p:sp>
        <p:nvSpPr>
          <p:cNvPr id="16" name="Text 14"/>
          <p:cNvSpPr/>
          <p:nvPr/>
        </p:nvSpPr>
        <p:spPr>
          <a:xfrm>
            <a:off x="977900" y="3487192"/>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Apr 2026: one of seven OpenAI Agents SDK sandbox providers</a:t>
            </a:r>
            <a:endParaRPr lang="en-US" sz="1200" dirty="0"/>
          </a:p>
        </p:txBody>
      </p:sp>
      <p:sp>
        <p:nvSpPr>
          <p:cNvPr id="17" name="Shape 15"/>
          <p:cNvSpPr/>
          <p:nvPr/>
        </p:nvSpPr>
        <p:spPr>
          <a:xfrm>
            <a:off x="4392067" y="2157661"/>
            <a:ext cx="3407817" cy="1859062"/>
          </a:xfrm>
          <a:prstGeom prst="roundRect">
            <a:avLst>
              <a:gd name="adj" fmla="val 3757"/>
            </a:avLst>
          </a:prstGeom>
          <a:solidFill>
            <a:srgbClr val="FFFFFF"/>
          </a:solidFill>
          <a:ln w="12700">
            <a:solidFill>
              <a:srgbClr val="CDD2D8"/>
            </a:solidFill>
            <a:prstDash val="solid"/>
          </a:ln>
        </p:spPr>
      </p:sp>
      <p:sp>
        <p:nvSpPr>
          <p:cNvPr id="18" name="Text 16"/>
          <p:cNvSpPr/>
          <p:nvPr/>
        </p:nvSpPr>
        <p:spPr>
          <a:xfrm>
            <a:off x="4550817" y="2291011"/>
            <a:ext cx="3183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How it runs</a:t>
            </a:r>
            <a:endParaRPr lang="en-US" sz="1400" dirty="0"/>
          </a:p>
        </p:txBody>
      </p:sp>
      <p:sp>
        <p:nvSpPr>
          <p:cNvPr id="19" name="Text 17"/>
          <p:cNvSpPr/>
          <p:nvPr/>
        </p:nvSpPr>
        <p:spPr>
          <a:xfrm>
            <a:off x="4550817" y="256783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MicroVM plus container on a custom bare-metal hypervisor</a:t>
            </a:r>
            <a:endParaRPr lang="en-US" sz="1200" dirty="0"/>
          </a:p>
        </p:txBody>
      </p:sp>
      <p:sp>
        <p:nvSpPr>
          <p:cNvPr id="20" name="Text 18"/>
          <p:cNvSpPr/>
          <p:nvPr/>
        </p:nvSpPr>
        <p:spPr>
          <a:xfrm>
            <a:off x="4550817" y="302751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x86 and arm64 devboxes up to 16 vCPU; suspend keeps disk only</a:t>
            </a:r>
            <a:endParaRPr lang="en-US" sz="1200" dirty="0"/>
          </a:p>
        </p:txBody>
      </p:sp>
      <p:sp>
        <p:nvSpPr>
          <p:cNvPr id="21" name="Text 19"/>
          <p:cNvSpPr/>
          <p:nvPr/>
        </p:nvSpPr>
        <p:spPr>
          <a:xfrm>
            <a:off x="4550817" y="3487192"/>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Agent Gateways keep real API keys off the devbox</a:t>
            </a:r>
            <a:endParaRPr lang="en-US" sz="1200" dirty="0"/>
          </a:p>
        </p:txBody>
      </p:sp>
      <p:sp>
        <p:nvSpPr>
          <p:cNvPr id="22" name="Shape 20"/>
          <p:cNvSpPr/>
          <p:nvPr/>
        </p:nvSpPr>
        <p:spPr>
          <a:xfrm>
            <a:off x="7964984" y="2157661"/>
            <a:ext cx="3407866" cy="1859062"/>
          </a:xfrm>
          <a:prstGeom prst="roundRect">
            <a:avLst>
              <a:gd name="adj" fmla="val 3757"/>
            </a:avLst>
          </a:prstGeom>
          <a:solidFill>
            <a:srgbClr val="FFFFFF"/>
          </a:solidFill>
          <a:ln w="12700">
            <a:solidFill>
              <a:srgbClr val="CDD2D8"/>
            </a:solidFill>
            <a:prstDash val="solid"/>
          </a:ln>
        </p:spPr>
      </p:sp>
      <p:sp>
        <p:nvSpPr>
          <p:cNvPr id="23" name="Text 21"/>
          <p:cNvSpPr/>
          <p:nvPr/>
        </p:nvSpPr>
        <p:spPr>
          <a:xfrm>
            <a:off x="8123734" y="2291011"/>
            <a:ext cx="318307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NVIDIA today</a:t>
            </a:r>
            <a:endParaRPr lang="en-US" sz="1400" dirty="0"/>
          </a:p>
        </p:txBody>
      </p:sp>
      <p:sp>
        <p:nvSpPr>
          <p:cNvPr id="24" name="Text 22"/>
          <p:cNvSpPr/>
          <p:nvPr/>
        </p:nvSpPr>
        <p:spPr>
          <a:xfrm>
            <a:off x="8123734" y="2567831"/>
            <a:ext cx="3183077"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No NVIDIA tie found</a:t>
            </a:r>
            <a:endParaRPr lang="en-US" sz="1200" dirty="0"/>
          </a:p>
        </p:txBody>
      </p:sp>
      <p:sp>
        <p:nvSpPr>
          <p:cNvPr id="25" name="Text 23"/>
          <p:cNvSpPr/>
          <p:nvPr/>
        </p:nvSpPr>
        <p:spPr>
          <a:xfrm>
            <a:off x="8123734" y="2829421"/>
            <a:ext cx="324276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Not in NeMo Gym's or Harbor's provider lists</a:t>
            </a:r>
            <a:endParaRPr lang="en-US" sz="1200" dirty="0"/>
          </a:p>
        </p:txBody>
      </p:sp>
      <p:sp>
        <p:nvSpPr>
          <p:cNvPr id="26" name="Text 24"/>
          <p:cNvSpPr/>
          <p:nvPr/>
        </p:nvSpPr>
        <p:spPr>
          <a:xfrm>
            <a:off x="8123734" y="3091011"/>
            <a:ext cx="3183077"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Its own security layer overlaps OpenShell's</a:t>
            </a:r>
            <a:endParaRPr lang="en-US" sz="1200" dirty="0"/>
          </a:p>
        </p:txBody>
      </p:sp>
      <p:sp>
        <p:nvSpPr>
          <p:cNvPr id="27" name="Shape 25"/>
          <p:cNvSpPr/>
          <p:nvPr/>
        </p:nvSpPr>
        <p:spPr>
          <a:xfrm>
            <a:off x="819150" y="4181822"/>
            <a:ext cx="3407817" cy="1109861"/>
          </a:xfrm>
          <a:prstGeom prst="roundRect">
            <a:avLst>
              <a:gd name="adj" fmla="val 6294"/>
            </a:avLst>
          </a:prstGeom>
          <a:solidFill>
            <a:srgbClr val="FFFFFF"/>
          </a:solidFill>
          <a:ln w="12700">
            <a:solidFill>
              <a:srgbClr val="18202A"/>
            </a:solidFill>
            <a:prstDash val="solid"/>
          </a:ln>
        </p:spPr>
      </p:sp>
      <p:sp>
        <p:nvSpPr>
          <p:cNvPr id="28" name="Text 26"/>
          <p:cNvSpPr/>
          <p:nvPr/>
        </p:nvSpPr>
        <p:spPr>
          <a:xfrm>
            <a:off x="977900" y="4315172"/>
            <a:ext cx="318302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NVIDIA offers</a:t>
            </a:r>
            <a:endParaRPr lang="en-US" sz="1200" dirty="0"/>
          </a:p>
        </p:txBody>
      </p:sp>
      <p:sp>
        <p:nvSpPr>
          <p:cNvPr id="29" name="Text 27"/>
          <p:cNvSpPr/>
          <p:nvPr/>
        </p:nvSpPr>
        <p:spPr>
          <a:xfrm>
            <a:off x="977900" y="4564063"/>
            <a:ext cx="318302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Nemotron checkpoints and NIM endpoints for public benchmark runs, NeMo Gym provider support, and an OpenShell blueprint</a:t>
            </a:r>
            <a:endParaRPr lang="en-US" sz="1200" dirty="0"/>
          </a:p>
        </p:txBody>
      </p:sp>
      <p:sp>
        <p:nvSpPr>
          <p:cNvPr id="30" name="Shape 28"/>
          <p:cNvSpPr/>
          <p:nvPr/>
        </p:nvSpPr>
        <p:spPr>
          <a:xfrm>
            <a:off x="4392067" y="4181822"/>
            <a:ext cx="3407817" cy="1109861"/>
          </a:xfrm>
          <a:prstGeom prst="roundRect">
            <a:avLst>
              <a:gd name="adj" fmla="val 6294"/>
            </a:avLst>
          </a:prstGeom>
          <a:solidFill>
            <a:srgbClr val="FFFFFF"/>
          </a:solidFill>
          <a:ln w="12700">
            <a:solidFill>
              <a:srgbClr val="18202A"/>
            </a:solidFill>
            <a:prstDash val="solid"/>
          </a:ln>
        </p:spPr>
      </p:sp>
      <p:sp>
        <p:nvSpPr>
          <p:cNvPr id="31" name="Text 29"/>
          <p:cNvSpPr/>
          <p:nvPr/>
        </p:nvSpPr>
        <p:spPr>
          <a:xfrm>
            <a:off x="4550817" y="4315172"/>
            <a:ext cx="318302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We ask</a:t>
            </a:r>
            <a:endParaRPr lang="en-US" sz="1200" dirty="0"/>
          </a:p>
        </p:txBody>
      </p:sp>
      <p:sp>
        <p:nvSpPr>
          <p:cNvPr id="32" name="Text 30"/>
          <p:cNvSpPr/>
          <p:nvPr/>
        </p:nvSpPr>
        <p:spPr>
          <a:xfrm>
            <a:off x="4550817" y="4564063"/>
            <a:ext cx="318302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Nemotron as a first-class option in its benchmarks, a contributed NeMo Gym provider, and a burst tier for RL rollouts</a:t>
            </a:r>
            <a:endParaRPr lang="en-US" sz="1200" dirty="0"/>
          </a:p>
        </p:txBody>
      </p:sp>
      <p:sp>
        <p:nvSpPr>
          <p:cNvPr id="33" name="Shape 31"/>
          <p:cNvSpPr/>
          <p:nvPr/>
        </p:nvSpPr>
        <p:spPr>
          <a:xfrm>
            <a:off x="7964984" y="4181822"/>
            <a:ext cx="3407866" cy="1109861"/>
          </a:xfrm>
          <a:prstGeom prst="roundRect">
            <a:avLst>
              <a:gd name="adj" fmla="val 6294"/>
            </a:avLst>
          </a:prstGeom>
          <a:solidFill>
            <a:srgbClr val="FFFFFF"/>
          </a:solidFill>
          <a:ln w="12700">
            <a:solidFill>
              <a:srgbClr val="18202A"/>
            </a:solidFill>
            <a:prstDash val="solid"/>
          </a:ln>
        </p:spPr>
      </p:sp>
      <p:sp>
        <p:nvSpPr>
          <p:cNvPr id="34" name="Text 32"/>
          <p:cNvSpPr/>
          <p:nvPr/>
        </p:nvSpPr>
        <p:spPr>
          <a:xfrm>
            <a:off x="8123734" y="4315172"/>
            <a:ext cx="3183077"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90-day proof</a:t>
            </a:r>
            <a:endParaRPr lang="en-US" sz="1200" dirty="0"/>
          </a:p>
        </p:txBody>
      </p:sp>
      <p:sp>
        <p:nvSpPr>
          <p:cNvPr id="35" name="Text 33"/>
          <p:cNvSpPr/>
          <p:nvPr/>
        </p:nvSpPr>
        <p:spPr>
          <a:xfrm>
            <a:off x="8123734" y="4564063"/>
            <a:ext cx="3183077"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Public Nemotron results on SWE-bench Verified and Terminal-Bench 2, and a NeMo RL run on 1,000+ devboxes</a:t>
            </a:r>
            <a:endParaRPr lang="en-US" sz="1200" dirty="0"/>
          </a:p>
        </p:txBody>
      </p:sp>
      <p:sp>
        <p:nvSpPr>
          <p:cNvPr id="36" name="Text 34"/>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5 · Sandbox providers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Cua owns the computer-use layer OpenShell lacks</a:t>
            </a:r>
            <a:endParaRPr lang="en-US" sz="2800" dirty="0"/>
          </a:p>
        </p:txBody>
      </p:sp>
      <p:sp>
        <p:nvSpPr>
          <p:cNvPr id="3" name="Shape 1"/>
          <p:cNvSpPr/>
          <p:nvPr/>
        </p:nvSpPr>
        <p:spPr>
          <a:xfrm>
            <a:off x="819150" y="1380480"/>
            <a:ext cx="3407817" cy="612080"/>
          </a:xfrm>
          <a:prstGeom prst="roundRect">
            <a:avLst>
              <a:gd name="adj" fmla="val 11412"/>
            </a:avLst>
          </a:prstGeom>
          <a:solidFill>
            <a:srgbClr val="FFFFFF"/>
          </a:solidFill>
          <a:ln w="12700">
            <a:solidFill>
              <a:srgbClr val="CDD2D8"/>
            </a:solidFill>
            <a:prstDash val="solid"/>
          </a:ln>
        </p:spPr>
      </p:sp>
      <p:sp>
        <p:nvSpPr>
          <p:cNvPr id="4" name="Text 2"/>
          <p:cNvSpPr/>
          <p:nvPr/>
        </p:nvSpPr>
        <p:spPr>
          <a:xfrm>
            <a:off x="977900" y="1532830"/>
            <a:ext cx="794296"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23.1k</a:t>
            </a:r>
            <a:endParaRPr lang="en-US" sz="2200" dirty="0"/>
          </a:p>
        </p:txBody>
      </p:sp>
      <p:sp>
        <p:nvSpPr>
          <p:cNvPr id="5" name="Text 3"/>
          <p:cNvSpPr/>
          <p:nvPr/>
        </p:nvSpPr>
        <p:spPr>
          <a:xfrm>
            <a:off x="1822996" y="1587450"/>
            <a:ext cx="206549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GitHub stars, MIT license</a:t>
            </a:r>
            <a:endParaRPr lang="en-US" sz="1200" dirty="0"/>
          </a:p>
        </p:txBody>
      </p:sp>
      <p:sp>
        <p:nvSpPr>
          <p:cNvPr id="6" name="Shape 4"/>
          <p:cNvSpPr/>
          <p:nvPr/>
        </p:nvSpPr>
        <p:spPr>
          <a:xfrm>
            <a:off x="4392067" y="1380480"/>
            <a:ext cx="3407866" cy="612080"/>
          </a:xfrm>
          <a:prstGeom prst="roundRect">
            <a:avLst>
              <a:gd name="adj" fmla="val 11412"/>
            </a:avLst>
          </a:prstGeom>
          <a:solidFill>
            <a:srgbClr val="FFFFFF"/>
          </a:solidFill>
          <a:ln w="12700">
            <a:solidFill>
              <a:srgbClr val="CDD2D8"/>
            </a:solidFill>
            <a:prstDash val="solid"/>
          </a:ln>
        </p:spPr>
      </p:sp>
      <p:sp>
        <p:nvSpPr>
          <p:cNvPr id="7" name="Text 5"/>
          <p:cNvSpPr/>
          <p:nvPr/>
        </p:nvSpPr>
        <p:spPr>
          <a:xfrm>
            <a:off x="4550817" y="1532830"/>
            <a:ext cx="1078409"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~$500K</a:t>
            </a:r>
            <a:endParaRPr lang="en-US" sz="2200" dirty="0"/>
          </a:p>
        </p:txBody>
      </p:sp>
      <p:sp>
        <p:nvSpPr>
          <p:cNvPr id="8" name="Text 6"/>
          <p:cNvSpPr/>
          <p:nvPr/>
        </p:nvSpPr>
        <p:spPr>
          <a:xfrm>
            <a:off x="5680025" y="1587450"/>
            <a:ext cx="2086511"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raised, Y Combinator X25</a:t>
            </a:r>
            <a:endParaRPr lang="en-US" sz="1200" dirty="0"/>
          </a:p>
        </p:txBody>
      </p:sp>
      <p:sp>
        <p:nvSpPr>
          <p:cNvPr id="9" name="Shape 7"/>
          <p:cNvSpPr/>
          <p:nvPr/>
        </p:nvSpPr>
        <p:spPr>
          <a:xfrm>
            <a:off x="7965033" y="1380480"/>
            <a:ext cx="3407817" cy="612080"/>
          </a:xfrm>
          <a:prstGeom prst="roundRect">
            <a:avLst>
              <a:gd name="adj" fmla="val 11412"/>
            </a:avLst>
          </a:prstGeom>
          <a:solidFill>
            <a:srgbClr val="FFFFFF"/>
          </a:solidFill>
          <a:ln w="12700">
            <a:solidFill>
              <a:srgbClr val="CDD2D8"/>
            </a:solidFill>
            <a:prstDash val="solid"/>
          </a:ln>
        </p:spPr>
      </p:sp>
      <p:sp>
        <p:nvSpPr>
          <p:cNvPr id="10" name="Text 8"/>
          <p:cNvSpPr/>
          <p:nvPr/>
        </p:nvSpPr>
        <p:spPr>
          <a:xfrm>
            <a:off x="8123783" y="1532830"/>
            <a:ext cx="755600" cy="332730"/>
          </a:xfrm>
          <a:prstGeom prst="rect">
            <a:avLst/>
          </a:prstGeom>
          <a:noFill/>
          <a:ln/>
        </p:spPr>
        <p:txBody>
          <a:bodyPr wrap="none" lIns="0" tIns="0" rIns="0" bIns="0" rtlCol="0" anchor="t">
            <a:normAutofit/>
          </a:bodyPr>
          <a:lstStyle/>
          <a:p>
            <a:pPr algn="l" indent="0" marL="0">
              <a:lnSpc>
                <a:spcPts val="2420"/>
              </a:lnSpc>
              <a:buNone/>
            </a:pPr>
            <a:r>
              <a:rPr lang="en-US" sz="2200" b="1" dirty="0">
                <a:solidFill>
                  <a:srgbClr val="18202A"/>
                </a:solidFill>
                <a:latin typeface="IBM Plex Sans" pitchFamily="34" charset="0"/>
                <a:ea typeface="IBM Plex Sans" pitchFamily="34" charset="-122"/>
                <a:cs typeface="IBM Plex Sans" pitchFamily="34" charset="-120"/>
              </a:rPr>
              <a:t>4 OSes</a:t>
            </a:r>
            <a:endParaRPr lang="en-US" sz="2200" dirty="0"/>
          </a:p>
        </p:txBody>
      </p:sp>
      <p:sp>
        <p:nvSpPr>
          <p:cNvPr id="11" name="Text 9"/>
          <p:cNvSpPr/>
          <p:nvPr/>
        </p:nvSpPr>
        <p:spPr>
          <a:xfrm>
            <a:off x="8930184" y="1488430"/>
            <a:ext cx="2352434"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Linux, Windows, macOS, Android desktops</a:t>
            </a:r>
            <a:endParaRPr lang="en-US" sz="1200" dirty="0"/>
          </a:p>
        </p:txBody>
      </p:sp>
      <p:sp>
        <p:nvSpPr>
          <p:cNvPr id="12" name="Shape 10"/>
          <p:cNvSpPr/>
          <p:nvPr/>
        </p:nvSpPr>
        <p:spPr>
          <a:xfrm>
            <a:off x="819150" y="2157661"/>
            <a:ext cx="3407817" cy="1859062"/>
          </a:xfrm>
          <a:prstGeom prst="roundRect">
            <a:avLst>
              <a:gd name="adj" fmla="val 3757"/>
            </a:avLst>
          </a:prstGeom>
          <a:solidFill>
            <a:srgbClr val="FFFFFF"/>
          </a:solidFill>
          <a:ln w="12700">
            <a:solidFill>
              <a:srgbClr val="CDD2D8"/>
            </a:solidFill>
            <a:prstDash val="solid"/>
          </a:ln>
        </p:spPr>
      </p:sp>
      <p:sp>
        <p:nvSpPr>
          <p:cNvPr id="13" name="Text 11"/>
          <p:cNvSpPr/>
          <p:nvPr/>
        </p:nvSpPr>
        <p:spPr>
          <a:xfrm>
            <a:off x="977900" y="2291011"/>
            <a:ext cx="3183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New in 2025 to 2026</a:t>
            </a:r>
            <a:endParaRPr lang="en-US" sz="1400" dirty="0"/>
          </a:p>
        </p:txBody>
      </p:sp>
      <p:sp>
        <p:nvSpPr>
          <p:cNvPr id="14" name="Text 12"/>
          <p:cNvSpPr/>
          <p:nvPr/>
        </p:nvSpPr>
        <p:spPr>
          <a:xfrm>
            <a:off x="977900" y="256783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Nov 2025: Windows cloud sandboxes GA; macOS preview</a:t>
            </a:r>
            <a:endParaRPr lang="en-US" sz="1200" dirty="0"/>
          </a:p>
        </p:txBody>
      </p:sp>
      <p:sp>
        <p:nvSpPr>
          <p:cNvPr id="15" name="Text 13"/>
          <p:cNvSpPr/>
          <p:nvPr/>
        </p:nvSpPr>
        <p:spPr>
          <a:xfrm>
            <a:off x="977900" y="302751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Apr to Jun 2026: background drivers for macOS, Windows, Linux</a:t>
            </a:r>
            <a:endParaRPr lang="en-US" sz="1200" dirty="0"/>
          </a:p>
        </p:txBody>
      </p:sp>
      <p:sp>
        <p:nvSpPr>
          <p:cNvPr id="16" name="Text 14"/>
          <p:cNvSpPr/>
          <p:nvPr/>
        </p:nvSpPr>
        <p:spPr>
          <a:xfrm>
            <a:off x="977900" y="3487192"/>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Aug 2026: Chromium control; Fleets warm pools; Cua-Bench 130+ tasks</a:t>
            </a:r>
            <a:endParaRPr lang="en-US" sz="1200" dirty="0"/>
          </a:p>
        </p:txBody>
      </p:sp>
      <p:sp>
        <p:nvSpPr>
          <p:cNvPr id="17" name="Shape 15"/>
          <p:cNvSpPr/>
          <p:nvPr/>
        </p:nvSpPr>
        <p:spPr>
          <a:xfrm>
            <a:off x="4392067" y="2157661"/>
            <a:ext cx="3407817" cy="1859062"/>
          </a:xfrm>
          <a:prstGeom prst="roundRect">
            <a:avLst>
              <a:gd name="adj" fmla="val 3757"/>
            </a:avLst>
          </a:prstGeom>
          <a:solidFill>
            <a:srgbClr val="FFFFFF"/>
          </a:solidFill>
          <a:ln w="12700">
            <a:solidFill>
              <a:srgbClr val="CDD2D8"/>
            </a:solidFill>
            <a:prstDash val="solid"/>
          </a:ln>
        </p:spPr>
      </p:sp>
      <p:sp>
        <p:nvSpPr>
          <p:cNvPr id="18" name="Text 16"/>
          <p:cNvSpPr/>
          <p:nvPr/>
        </p:nvSpPr>
        <p:spPr>
          <a:xfrm>
            <a:off x="4550817" y="2291011"/>
            <a:ext cx="3183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How it runs</a:t>
            </a:r>
            <a:endParaRPr lang="en-US" sz="1400" dirty="0"/>
          </a:p>
        </p:txBody>
      </p:sp>
      <p:sp>
        <p:nvSpPr>
          <p:cNvPr id="19" name="Text 17"/>
          <p:cNvSpPr/>
          <p:nvPr/>
        </p:nvSpPr>
        <p:spPr>
          <a:xfrm>
            <a:off x="4550817" y="2567831"/>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Linux desktops in gVisor; Windows and Android in KubeVirt VMs</a:t>
            </a:r>
            <a:endParaRPr lang="en-US" sz="1200" dirty="0"/>
          </a:p>
        </p:txBody>
      </p:sp>
      <p:sp>
        <p:nvSpPr>
          <p:cNvPr id="20" name="Text 18"/>
          <p:cNvSpPr/>
          <p:nvPr/>
        </p:nvSpPr>
        <p:spPr>
          <a:xfrm>
            <a:off x="4550817" y="3027511"/>
            <a:ext cx="318302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macOS on bare-metal Apple Silicon</a:t>
            </a:r>
            <a:endParaRPr lang="en-US" sz="1200" dirty="0"/>
          </a:p>
        </p:txBody>
      </p:sp>
      <p:sp>
        <p:nvSpPr>
          <p:cNvPr id="21" name="Text 19"/>
          <p:cNvSpPr/>
          <p:nvPr/>
        </p:nvSpPr>
        <p:spPr>
          <a:xfrm>
            <a:off x="4550817" y="3289102"/>
            <a:ext cx="318302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No GPU desktops or documented egress controls; SOC 2 Type I</a:t>
            </a:r>
            <a:endParaRPr lang="en-US" sz="1200" dirty="0"/>
          </a:p>
        </p:txBody>
      </p:sp>
      <p:sp>
        <p:nvSpPr>
          <p:cNvPr id="22" name="Shape 20"/>
          <p:cNvSpPr/>
          <p:nvPr/>
        </p:nvSpPr>
        <p:spPr>
          <a:xfrm>
            <a:off x="7964984" y="2157661"/>
            <a:ext cx="3407866" cy="1859062"/>
          </a:xfrm>
          <a:prstGeom prst="roundRect">
            <a:avLst>
              <a:gd name="adj" fmla="val 3757"/>
            </a:avLst>
          </a:prstGeom>
          <a:solidFill>
            <a:srgbClr val="FFFFFF"/>
          </a:solidFill>
          <a:ln w="12700">
            <a:solidFill>
              <a:srgbClr val="CDD2D8"/>
            </a:solidFill>
            <a:prstDash val="solid"/>
          </a:ln>
        </p:spPr>
      </p:sp>
      <p:sp>
        <p:nvSpPr>
          <p:cNvPr id="23" name="Text 21"/>
          <p:cNvSpPr/>
          <p:nvPr/>
        </p:nvSpPr>
        <p:spPr>
          <a:xfrm>
            <a:off x="8123734" y="2291011"/>
            <a:ext cx="318307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NVIDIA today</a:t>
            </a:r>
            <a:endParaRPr lang="en-US" sz="1400" dirty="0"/>
          </a:p>
        </p:txBody>
      </p:sp>
      <p:sp>
        <p:nvSpPr>
          <p:cNvPr id="24" name="Text 22"/>
          <p:cNvSpPr/>
          <p:nvPr/>
        </p:nvSpPr>
        <p:spPr>
          <a:xfrm>
            <a:off x="8123734" y="2567831"/>
            <a:ext cx="318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No NVIDIA tie verified; its router uses Anthropic, Bedrock, Foundry</a:t>
            </a:r>
            <a:endParaRPr lang="en-US" sz="1200" dirty="0"/>
          </a:p>
        </p:txBody>
      </p:sp>
      <p:sp>
        <p:nvSpPr>
          <p:cNvPr id="25" name="Text 23"/>
          <p:cNvSpPr/>
          <p:nvPr/>
        </p:nvSpPr>
        <p:spPr>
          <a:xfrm>
            <a:off x="8123734" y="3027511"/>
            <a:ext cx="3183077"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Not a NeMo Gym provider</a:t>
            </a:r>
            <a:endParaRPr lang="en-US" sz="1200" dirty="0"/>
          </a:p>
        </p:txBody>
      </p:sp>
      <p:sp>
        <p:nvSpPr>
          <p:cNvPr id="26" name="Text 24"/>
          <p:cNvSpPr/>
          <p:nvPr/>
        </p:nvSpPr>
        <p:spPr>
          <a:xfrm>
            <a:off x="8123734" y="3289102"/>
            <a:ext cx="318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Close to the OpenClaw community that NemoClaw builds on</a:t>
            </a:r>
            <a:endParaRPr lang="en-US" sz="1200" dirty="0"/>
          </a:p>
        </p:txBody>
      </p:sp>
      <p:sp>
        <p:nvSpPr>
          <p:cNvPr id="27" name="Shape 25"/>
          <p:cNvSpPr/>
          <p:nvPr/>
        </p:nvSpPr>
        <p:spPr>
          <a:xfrm>
            <a:off x="819150" y="4181822"/>
            <a:ext cx="3407817" cy="1307951"/>
          </a:xfrm>
          <a:prstGeom prst="roundRect">
            <a:avLst>
              <a:gd name="adj" fmla="val 5340"/>
            </a:avLst>
          </a:prstGeom>
          <a:solidFill>
            <a:srgbClr val="FFFFFF"/>
          </a:solidFill>
          <a:ln w="12700">
            <a:solidFill>
              <a:srgbClr val="18202A"/>
            </a:solidFill>
            <a:prstDash val="solid"/>
          </a:ln>
        </p:spPr>
      </p:sp>
      <p:sp>
        <p:nvSpPr>
          <p:cNvPr id="28" name="Text 26"/>
          <p:cNvSpPr/>
          <p:nvPr/>
        </p:nvSpPr>
        <p:spPr>
          <a:xfrm>
            <a:off x="977900" y="4315172"/>
            <a:ext cx="318302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NVIDIA offers</a:t>
            </a:r>
            <a:endParaRPr lang="en-US" sz="1200" dirty="0"/>
          </a:p>
        </p:txBody>
      </p:sp>
      <p:sp>
        <p:nvSpPr>
          <p:cNvPr id="29" name="Text 27"/>
          <p:cNvSpPr/>
          <p:nvPr/>
        </p:nvSpPr>
        <p:spPr>
          <a:xfrm>
            <a:off x="977900" y="4564063"/>
            <a:ext cx="3183026"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Design work on an OpenShell backend for desktops, Cua-Bench in NeMo Gym, Nemotron Omni for computer use, and Inception</a:t>
            </a:r>
            <a:endParaRPr lang="en-US" sz="1200" dirty="0"/>
          </a:p>
        </p:txBody>
      </p:sp>
      <p:sp>
        <p:nvSpPr>
          <p:cNvPr id="30" name="Shape 28"/>
          <p:cNvSpPr/>
          <p:nvPr/>
        </p:nvSpPr>
        <p:spPr>
          <a:xfrm>
            <a:off x="4392067" y="4181822"/>
            <a:ext cx="3407817" cy="1307951"/>
          </a:xfrm>
          <a:prstGeom prst="roundRect">
            <a:avLst>
              <a:gd name="adj" fmla="val 5340"/>
            </a:avLst>
          </a:prstGeom>
          <a:solidFill>
            <a:srgbClr val="FFFFFF"/>
          </a:solidFill>
          <a:ln w="12700">
            <a:solidFill>
              <a:srgbClr val="18202A"/>
            </a:solidFill>
            <a:prstDash val="solid"/>
          </a:ln>
        </p:spPr>
      </p:sp>
      <p:sp>
        <p:nvSpPr>
          <p:cNvPr id="31" name="Text 29"/>
          <p:cNvSpPr/>
          <p:nvPr/>
        </p:nvSpPr>
        <p:spPr>
          <a:xfrm>
            <a:off x="4550817" y="4315172"/>
            <a:ext cx="318302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We ask</a:t>
            </a:r>
            <a:endParaRPr lang="en-US" sz="1200" dirty="0"/>
          </a:p>
        </p:txBody>
      </p:sp>
      <p:sp>
        <p:nvSpPr>
          <p:cNvPr id="32" name="Text 30"/>
          <p:cNvSpPr/>
          <p:nvPr/>
        </p:nvSpPr>
        <p:spPr>
          <a:xfrm>
            <a:off x="4550817" y="4564063"/>
            <a:ext cx="318302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An OpenShell isolation backend for Cua Sandbox, driver actions as OpenShell audit events, and Nemotron Omni in its router</a:t>
            </a:r>
            <a:endParaRPr lang="en-US" sz="1200" dirty="0"/>
          </a:p>
        </p:txBody>
      </p:sp>
      <p:sp>
        <p:nvSpPr>
          <p:cNvPr id="33" name="Shape 31"/>
          <p:cNvSpPr/>
          <p:nvPr/>
        </p:nvSpPr>
        <p:spPr>
          <a:xfrm>
            <a:off x="7964984" y="4181822"/>
            <a:ext cx="3407866" cy="1307951"/>
          </a:xfrm>
          <a:prstGeom prst="roundRect">
            <a:avLst>
              <a:gd name="adj" fmla="val 5340"/>
            </a:avLst>
          </a:prstGeom>
          <a:solidFill>
            <a:srgbClr val="FFFFFF"/>
          </a:solidFill>
          <a:ln w="12700">
            <a:solidFill>
              <a:srgbClr val="18202A"/>
            </a:solidFill>
            <a:prstDash val="solid"/>
          </a:ln>
        </p:spPr>
      </p:sp>
      <p:sp>
        <p:nvSpPr>
          <p:cNvPr id="34" name="Text 32"/>
          <p:cNvSpPr/>
          <p:nvPr/>
        </p:nvSpPr>
        <p:spPr>
          <a:xfrm>
            <a:off x="8123734" y="4315172"/>
            <a:ext cx="3183077"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90-day proof</a:t>
            </a:r>
            <a:endParaRPr lang="en-US" sz="1200" dirty="0"/>
          </a:p>
        </p:txBody>
      </p:sp>
      <p:sp>
        <p:nvSpPr>
          <p:cNvPr id="35" name="Text 33"/>
          <p:cNvSpPr/>
          <p:nvPr/>
        </p:nvSpPr>
        <p:spPr>
          <a:xfrm>
            <a:off x="8123734" y="4564063"/>
            <a:ext cx="3183077"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An OpenShell-governed Linux desktop and Windows VM running a Nemotron Omni agent, with an egress block and full audit</a:t>
            </a:r>
            <a:endParaRPr lang="en-US" sz="1200" dirty="0"/>
          </a:p>
        </p:txBody>
      </p:sp>
      <p:sp>
        <p:nvSpPr>
          <p:cNvPr id="36" name="Text 34"/>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5 · Sandbox providers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What each company ships next</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386830"/>
          <a:ext cx="10553700" cy="3491954"/>
        </p:xfrm>
        <a:graphic>
          <a:graphicData uri="http://schemas.openxmlformats.org/drawingml/2006/table">
            <a:tbl>
              <a:tblPr/>
              <a:tblGrid>
                <a:gridCol w="1918855"/>
                <a:gridCol w="2878282"/>
                <a:gridCol w="2878282"/>
                <a:gridCol w="2878282"/>
              </a:tblGrid>
              <a:tr h="317450">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Shipped in 2026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Next, Q4 2026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2027 signals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r>
              <a:tr h="317450">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OpenShell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0.1.x and safety platform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RFC 0016 conformance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Multi-tenancy; no 1.0 date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Automation Anywhere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EnterpriseClaw preview (May)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EnterpriseClaw and AAI Code GA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Not published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UiPath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Delegate; coding agents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Test Cloud exploration (Oct)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Decision Ledger, new pricing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Kore.ai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Artemis; agent management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Artemis beyond Azure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More process automation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Uniphore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Rackspace cloud; Marketing AI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Nemotron for high-volume paths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Delivery through SIs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E2B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Forking; Embed; Agents SDK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Private Cloud, in development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GPUs and Windows, promised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Daytona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GPU and Windows sandboxes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Not published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Not published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Vercel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Sandbox GA; AI SDK 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BYOC on AWS, private beta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IPO readiness, per its CEO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Runloop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Agent API; MCP Hub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Not published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Not published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Cua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Drivers on 3 OSes; Fleets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macOS fleets at scale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Not published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sp>
        <p:nvSpPr>
          <p:cNvPr id="4" name="Text 1"/>
          <p:cNvSpPr/>
          <p:nvPr/>
        </p:nvSpPr>
        <p:spPr>
          <a:xfrm>
            <a:off x="812800" y="5031184"/>
            <a:ext cx="1088339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Dates to plan around: EnterpriseClaw GA (Q4), GTC DC (Nov 30 to Dec 3), EU AI Act high-risk rules (Dec 2, 2027).</a:t>
            </a:r>
            <a:endParaRPr lang="en-US" sz="1200" dirty="0"/>
          </a:p>
        </p:txBody>
      </p:sp>
      <p:sp>
        <p:nvSpPr>
          <p:cNvPr id="5" name="Text 2"/>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6 · Where to invest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What NVIDIA brings to each partner</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12230"/>
          <a:ext cx="10553700" cy="3570684"/>
        </p:xfrm>
        <a:graphic>
          <a:graphicData uri="http://schemas.openxmlformats.org/drawingml/2006/table">
            <a:tbl>
              <a:tblPr/>
              <a:tblGrid>
                <a:gridCol w="1420690"/>
                <a:gridCol w="1014779"/>
                <a:gridCol w="1014779"/>
                <a:gridCol w="1014779"/>
                <a:gridCol w="1014779"/>
                <a:gridCol w="1014779"/>
                <a:gridCol w="1014779"/>
                <a:gridCol w="1014779"/>
                <a:gridCol w="1014779"/>
                <a:gridCol w="1014779"/>
              </a:tblGrid>
              <a:tr h="515541">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OpenShell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NemoClaw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Nemotron, NIM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NeMo Gym, RL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Dynamo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Vera, Grace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BlueField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GPU capacity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Inception, NVentures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r>
              <a:tr h="515541">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Automation Anywhere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UiPath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Kore.ai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Uniphore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E2B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Daytona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Vercel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Runloop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Cua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sp>
        <p:nvSpPr>
          <p:cNvPr id="4" name="Text 1"/>
          <p:cNvSpPr/>
          <p:nvPr/>
        </p:nvSpPr>
        <p:spPr>
          <a:xfrm>
            <a:off x="812800" y="5160714"/>
            <a:ext cx="1088339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 the offer we lead with ○ a supporting offer. OpenShell leads at six partners, Nemotron and NIM at seven, NeMo Gym and RL at five.</a:t>
            </a:r>
            <a:endParaRPr lang="en-US" sz="1200" dirty="0"/>
          </a:p>
        </p:txBody>
      </p:sp>
      <p:sp>
        <p:nvSpPr>
          <p:cNvPr id="5" name="Text 2"/>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6 · Where to invest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Partner priority in three waves</a:t>
            </a:r>
            <a:endParaRPr lang="en-US" sz="2800" dirty="0"/>
          </a:p>
        </p:txBody>
      </p:sp>
      <p:sp>
        <p:nvSpPr>
          <p:cNvPr id="3" name="Shape 1"/>
          <p:cNvSpPr/>
          <p:nvPr/>
        </p:nvSpPr>
        <p:spPr>
          <a:xfrm>
            <a:off x="819150" y="1405880"/>
            <a:ext cx="6845300" cy="3959473"/>
          </a:xfrm>
          <a:prstGeom prst="roundRect">
            <a:avLst>
              <a:gd name="adj" fmla="val 1764"/>
            </a:avLst>
          </a:prstGeom>
          <a:solidFill>
            <a:srgbClr val="FFFFFF"/>
          </a:solidFill>
          <a:ln w="12700">
            <a:solidFill>
              <a:srgbClr val="CDD2D8"/>
            </a:solidFill>
            <a:prstDash val="solid"/>
          </a:ln>
        </p:spPr>
      </p:sp>
      <p:sp>
        <p:nvSpPr>
          <p:cNvPr id="4" name="Text 2"/>
          <p:cNvSpPr/>
          <p:nvPr/>
        </p:nvSpPr>
        <p:spPr>
          <a:xfrm>
            <a:off x="1028700" y="1590030"/>
            <a:ext cx="661898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Wave 1 · start now, with engineering support</a:t>
            </a:r>
            <a:endParaRPr lang="en-US" sz="1200" dirty="0"/>
          </a:p>
        </p:txBody>
      </p:sp>
      <p:sp>
        <p:nvSpPr>
          <p:cNvPr id="5" name="Text 3"/>
          <p:cNvSpPr/>
          <p:nvPr/>
        </p:nvSpPr>
        <p:spPr>
          <a:xfrm>
            <a:off x="1028700" y="1851620"/>
            <a:ext cx="157480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Automation Anywhere</a:t>
            </a:r>
            <a:endParaRPr lang="en-US" sz="1200" dirty="0"/>
          </a:p>
        </p:txBody>
      </p:sp>
      <p:sp>
        <p:nvSpPr>
          <p:cNvPr id="6" name="Shape 4"/>
          <p:cNvSpPr/>
          <p:nvPr/>
        </p:nvSpPr>
        <p:spPr>
          <a:xfrm>
            <a:off x="2654300" y="1960811"/>
            <a:ext cx="3822700" cy="177800"/>
          </a:xfrm>
          <a:prstGeom prst="roundRect">
            <a:avLst>
              <a:gd name="adj" fmla="val 14286"/>
            </a:avLst>
          </a:prstGeom>
          <a:solidFill>
            <a:srgbClr val="18202A"/>
          </a:solidFill>
          <a:ln/>
        </p:spPr>
      </p:sp>
      <p:sp>
        <p:nvSpPr>
          <p:cNvPr id="7" name="Text 5"/>
          <p:cNvSpPr/>
          <p:nvPr/>
        </p:nvSpPr>
        <p:spPr>
          <a:xfrm>
            <a:off x="6578600" y="1950641"/>
            <a:ext cx="383858"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4.30</a:t>
            </a:r>
            <a:endParaRPr lang="en-US" sz="1200" dirty="0"/>
          </a:p>
        </p:txBody>
      </p:sp>
      <p:sp>
        <p:nvSpPr>
          <p:cNvPr id="8" name="Text 6"/>
          <p:cNvSpPr/>
          <p:nvPr/>
        </p:nvSpPr>
        <p:spPr>
          <a:xfrm>
            <a:off x="1028700" y="2311301"/>
            <a:ext cx="157480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E2B</a:t>
            </a:r>
            <a:endParaRPr lang="en-US" sz="1200" dirty="0"/>
          </a:p>
        </p:txBody>
      </p:sp>
      <p:sp>
        <p:nvSpPr>
          <p:cNvPr id="9" name="Shape 7"/>
          <p:cNvSpPr/>
          <p:nvPr/>
        </p:nvSpPr>
        <p:spPr>
          <a:xfrm>
            <a:off x="2654300" y="2321421"/>
            <a:ext cx="3511550" cy="177800"/>
          </a:xfrm>
          <a:prstGeom prst="roundRect">
            <a:avLst>
              <a:gd name="adj" fmla="val 14286"/>
            </a:avLst>
          </a:prstGeom>
          <a:solidFill>
            <a:srgbClr val="18202A"/>
          </a:solidFill>
          <a:ln/>
        </p:spPr>
      </p:sp>
      <p:sp>
        <p:nvSpPr>
          <p:cNvPr id="10" name="Text 8"/>
          <p:cNvSpPr/>
          <p:nvPr/>
        </p:nvSpPr>
        <p:spPr>
          <a:xfrm>
            <a:off x="6267450" y="2311301"/>
            <a:ext cx="383858"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3.95</a:t>
            </a:r>
            <a:endParaRPr lang="en-US" sz="1200" dirty="0"/>
          </a:p>
        </p:txBody>
      </p:sp>
      <p:sp>
        <p:nvSpPr>
          <p:cNvPr id="11" name="Text 9"/>
          <p:cNvSpPr/>
          <p:nvPr/>
        </p:nvSpPr>
        <p:spPr>
          <a:xfrm>
            <a:off x="1028700" y="2572891"/>
            <a:ext cx="157480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Daytona</a:t>
            </a:r>
            <a:endParaRPr lang="en-US" sz="1200" dirty="0"/>
          </a:p>
        </p:txBody>
      </p:sp>
      <p:sp>
        <p:nvSpPr>
          <p:cNvPr id="12" name="Shape 10"/>
          <p:cNvSpPr/>
          <p:nvPr/>
        </p:nvSpPr>
        <p:spPr>
          <a:xfrm>
            <a:off x="2654300" y="2583011"/>
            <a:ext cx="3511550" cy="177800"/>
          </a:xfrm>
          <a:prstGeom prst="roundRect">
            <a:avLst>
              <a:gd name="adj" fmla="val 14286"/>
            </a:avLst>
          </a:prstGeom>
          <a:solidFill>
            <a:srgbClr val="18202A"/>
          </a:solidFill>
          <a:ln/>
        </p:spPr>
      </p:sp>
      <p:sp>
        <p:nvSpPr>
          <p:cNvPr id="13" name="Text 11"/>
          <p:cNvSpPr/>
          <p:nvPr/>
        </p:nvSpPr>
        <p:spPr>
          <a:xfrm>
            <a:off x="6267450" y="2572891"/>
            <a:ext cx="383858"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3.95</a:t>
            </a:r>
            <a:endParaRPr lang="en-US" sz="1200" dirty="0"/>
          </a:p>
        </p:txBody>
      </p:sp>
      <p:sp>
        <p:nvSpPr>
          <p:cNvPr id="14" name="Text 12"/>
          <p:cNvSpPr/>
          <p:nvPr/>
        </p:nvSpPr>
        <p:spPr>
          <a:xfrm>
            <a:off x="1028700" y="2834481"/>
            <a:ext cx="157480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UiPath</a:t>
            </a:r>
            <a:endParaRPr lang="en-US" sz="1200" dirty="0"/>
          </a:p>
        </p:txBody>
      </p:sp>
      <p:sp>
        <p:nvSpPr>
          <p:cNvPr id="15" name="Shape 13"/>
          <p:cNvSpPr/>
          <p:nvPr/>
        </p:nvSpPr>
        <p:spPr>
          <a:xfrm>
            <a:off x="2654300" y="2844602"/>
            <a:ext cx="3467100" cy="177800"/>
          </a:xfrm>
          <a:prstGeom prst="roundRect">
            <a:avLst>
              <a:gd name="adj" fmla="val 14286"/>
            </a:avLst>
          </a:prstGeom>
          <a:solidFill>
            <a:srgbClr val="18202A"/>
          </a:solidFill>
          <a:ln/>
        </p:spPr>
      </p:sp>
      <p:sp>
        <p:nvSpPr>
          <p:cNvPr id="16" name="Text 14"/>
          <p:cNvSpPr/>
          <p:nvPr/>
        </p:nvSpPr>
        <p:spPr>
          <a:xfrm>
            <a:off x="6223000" y="2834481"/>
            <a:ext cx="383858"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3.90</a:t>
            </a:r>
            <a:endParaRPr lang="en-US" sz="1200" dirty="0"/>
          </a:p>
        </p:txBody>
      </p:sp>
      <p:sp>
        <p:nvSpPr>
          <p:cNvPr id="17" name="Text 15"/>
          <p:cNvSpPr/>
          <p:nvPr/>
        </p:nvSpPr>
        <p:spPr>
          <a:xfrm>
            <a:off x="1028700" y="3172271"/>
            <a:ext cx="661898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Wave 2 · start light, led by models</a:t>
            </a:r>
            <a:endParaRPr lang="en-US" sz="1200" dirty="0"/>
          </a:p>
        </p:txBody>
      </p:sp>
      <p:sp>
        <p:nvSpPr>
          <p:cNvPr id="18" name="Text 16"/>
          <p:cNvSpPr/>
          <p:nvPr/>
        </p:nvSpPr>
        <p:spPr>
          <a:xfrm>
            <a:off x="1028700" y="3433862"/>
            <a:ext cx="15748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Vercel</a:t>
            </a:r>
            <a:endParaRPr lang="en-US" sz="1200" dirty="0"/>
          </a:p>
        </p:txBody>
      </p:sp>
      <p:sp>
        <p:nvSpPr>
          <p:cNvPr id="19" name="Shape 17"/>
          <p:cNvSpPr/>
          <p:nvPr/>
        </p:nvSpPr>
        <p:spPr>
          <a:xfrm>
            <a:off x="2654300" y="3443982"/>
            <a:ext cx="3200400" cy="177800"/>
          </a:xfrm>
          <a:prstGeom prst="roundRect">
            <a:avLst>
              <a:gd name="adj" fmla="val 14286"/>
            </a:avLst>
          </a:prstGeom>
          <a:solidFill>
            <a:srgbClr val="6B7480"/>
          </a:solidFill>
          <a:ln/>
        </p:spPr>
      </p:sp>
      <p:sp>
        <p:nvSpPr>
          <p:cNvPr id="20" name="Text 18"/>
          <p:cNvSpPr/>
          <p:nvPr/>
        </p:nvSpPr>
        <p:spPr>
          <a:xfrm>
            <a:off x="5956300" y="3433862"/>
            <a:ext cx="37897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3.60</a:t>
            </a:r>
            <a:endParaRPr lang="en-US" sz="1200" dirty="0"/>
          </a:p>
        </p:txBody>
      </p:sp>
      <p:sp>
        <p:nvSpPr>
          <p:cNvPr id="21" name="Text 19"/>
          <p:cNvSpPr/>
          <p:nvPr/>
        </p:nvSpPr>
        <p:spPr>
          <a:xfrm>
            <a:off x="1028700" y="3695452"/>
            <a:ext cx="15748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Kore.ai</a:t>
            </a:r>
            <a:endParaRPr lang="en-US" sz="1200" dirty="0"/>
          </a:p>
        </p:txBody>
      </p:sp>
      <p:sp>
        <p:nvSpPr>
          <p:cNvPr id="22" name="Shape 20"/>
          <p:cNvSpPr/>
          <p:nvPr/>
        </p:nvSpPr>
        <p:spPr>
          <a:xfrm>
            <a:off x="2654300" y="3705572"/>
            <a:ext cx="3155950" cy="177800"/>
          </a:xfrm>
          <a:prstGeom prst="roundRect">
            <a:avLst>
              <a:gd name="adj" fmla="val 14286"/>
            </a:avLst>
          </a:prstGeom>
          <a:solidFill>
            <a:srgbClr val="6B7480"/>
          </a:solidFill>
          <a:ln/>
        </p:spPr>
      </p:sp>
      <p:sp>
        <p:nvSpPr>
          <p:cNvPr id="23" name="Text 21"/>
          <p:cNvSpPr/>
          <p:nvPr/>
        </p:nvSpPr>
        <p:spPr>
          <a:xfrm>
            <a:off x="5911850" y="3695452"/>
            <a:ext cx="37897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3.55</a:t>
            </a:r>
            <a:endParaRPr lang="en-US" sz="1200" dirty="0"/>
          </a:p>
        </p:txBody>
      </p:sp>
      <p:sp>
        <p:nvSpPr>
          <p:cNvPr id="24" name="Text 22"/>
          <p:cNvSpPr/>
          <p:nvPr/>
        </p:nvSpPr>
        <p:spPr>
          <a:xfrm>
            <a:off x="1028700" y="3957042"/>
            <a:ext cx="15748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Uniphore</a:t>
            </a:r>
            <a:endParaRPr lang="en-US" sz="1200" dirty="0"/>
          </a:p>
        </p:txBody>
      </p:sp>
      <p:sp>
        <p:nvSpPr>
          <p:cNvPr id="25" name="Shape 23"/>
          <p:cNvSpPr/>
          <p:nvPr/>
        </p:nvSpPr>
        <p:spPr>
          <a:xfrm>
            <a:off x="2654300" y="3967163"/>
            <a:ext cx="3067050" cy="177800"/>
          </a:xfrm>
          <a:prstGeom prst="roundRect">
            <a:avLst>
              <a:gd name="adj" fmla="val 14286"/>
            </a:avLst>
          </a:prstGeom>
          <a:solidFill>
            <a:srgbClr val="6B7480"/>
          </a:solidFill>
          <a:ln/>
        </p:spPr>
      </p:sp>
      <p:sp>
        <p:nvSpPr>
          <p:cNvPr id="26" name="Text 24"/>
          <p:cNvSpPr/>
          <p:nvPr/>
        </p:nvSpPr>
        <p:spPr>
          <a:xfrm>
            <a:off x="5822950" y="3957042"/>
            <a:ext cx="37897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3.45</a:t>
            </a:r>
            <a:endParaRPr lang="en-US" sz="1200" dirty="0"/>
          </a:p>
        </p:txBody>
      </p:sp>
      <p:sp>
        <p:nvSpPr>
          <p:cNvPr id="27" name="Text 25"/>
          <p:cNvSpPr/>
          <p:nvPr/>
        </p:nvSpPr>
        <p:spPr>
          <a:xfrm>
            <a:off x="1028700" y="4294832"/>
            <a:ext cx="661898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Option bets · low cost</a:t>
            </a:r>
            <a:endParaRPr lang="en-US" sz="1200" dirty="0"/>
          </a:p>
        </p:txBody>
      </p:sp>
      <p:sp>
        <p:nvSpPr>
          <p:cNvPr id="28" name="Text 26"/>
          <p:cNvSpPr/>
          <p:nvPr/>
        </p:nvSpPr>
        <p:spPr>
          <a:xfrm>
            <a:off x="1028700" y="4556423"/>
            <a:ext cx="15748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Runloop</a:t>
            </a:r>
            <a:endParaRPr lang="en-US" sz="1200" dirty="0"/>
          </a:p>
        </p:txBody>
      </p:sp>
      <p:sp>
        <p:nvSpPr>
          <p:cNvPr id="29" name="Shape 27"/>
          <p:cNvSpPr/>
          <p:nvPr/>
        </p:nvSpPr>
        <p:spPr>
          <a:xfrm>
            <a:off x="2654300" y="4566543"/>
            <a:ext cx="2266950" cy="177800"/>
          </a:xfrm>
          <a:prstGeom prst="roundRect">
            <a:avLst>
              <a:gd name="adj" fmla="val 14286"/>
            </a:avLst>
          </a:prstGeom>
          <a:solidFill>
            <a:srgbClr val="B8BFC7"/>
          </a:solidFill>
          <a:ln/>
        </p:spPr>
      </p:sp>
      <p:sp>
        <p:nvSpPr>
          <p:cNvPr id="30" name="Text 28"/>
          <p:cNvSpPr/>
          <p:nvPr/>
        </p:nvSpPr>
        <p:spPr>
          <a:xfrm>
            <a:off x="5022850" y="4556423"/>
            <a:ext cx="37897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2.55</a:t>
            </a:r>
            <a:endParaRPr lang="en-US" sz="1200" dirty="0"/>
          </a:p>
        </p:txBody>
      </p:sp>
      <p:sp>
        <p:nvSpPr>
          <p:cNvPr id="31" name="Text 29"/>
          <p:cNvSpPr/>
          <p:nvPr/>
        </p:nvSpPr>
        <p:spPr>
          <a:xfrm>
            <a:off x="1028700" y="4818013"/>
            <a:ext cx="15748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Cua</a:t>
            </a:r>
            <a:endParaRPr lang="en-US" sz="1200" dirty="0"/>
          </a:p>
        </p:txBody>
      </p:sp>
      <p:sp>
        <p:nvSpPr>
          <p:cNvPr id="32" name="Shape 30"/>
          <p:cNvSpPr/>
          <p:nvPr/>
        </p:nvSpPr>
        <p:spPr>
          <a:xfrm>
            <a:off x="2654300" y="4828133"/>
            <a:ext cx="1689100" cy="177800"/>
          </a:xfrm>
          <a:prstGeom prst="roundRect">
            <a:avLst>
              <a:gd name="adj" fmla="val 14286"/>
            </a:avLst>
          </a:prstGeom>
          <a:solidFill>
            <a:srgbClr val="B8BFC7"/>
          </a:solidFill>
          <a:ln/>
        </p:spPr>
      </p:sp>
      <p:sp>
        <p:nvSpPr>
          <p:cNvPr id="33" name="Text 31"/>
          <p:cNvSpPr/>
          <p:nvPr/>
        </p:nvSpPr>
        <p:spPr>
          <a:xfrm>
            <a:off x="4445000" y="4818013"/>
            <a:ext cx="37897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1.90</a:t>
            </a:r>
            <a:endParaRPr lang="en-US" sz="1200" dirty="0"/>
          </a:p>
        </p:txBody>
      </p:sp>
      <p:sp>
        <p:nvSpPr>
          <p:cNvPr id="34" name="Shape 32"/>
          <p:cNvSpPr/>
          <p:nvPr/>
        </p:nvSpPr>
        <p:spPr>
          <a:xfrm>
            <a:off x="7829550" y="1405880"/>
            <a:ext cx="3543300" cy="1775271"/>
          </a:xfrm>
          <a:prstGeom prst="roundRect">
            <a:avLst>
              <a:gd name="adj" fmla="val 3935"/>
            </a:avLst>
          </a:prstGeom>
          <a:solidFill>
            <a:srgbClr val="FFFFFF"/>
          </a:solidFill>
          <a:ln w="12700">
            <a:solidFill>
              <a:srgbClr val="CDD2D8"/>
            </a:solidFill>
            <a:prstDash val="solid"/>
          </a:ln>
        </p:spPr>
      </p:sp>
      <p:sp>
        <p:nvSpPr>
          <p:cNvPr id="35" name="Text 33"/>
          <p:cNvSpPr/>
          <p:nvPr/>
        </p:nvSpPr>
        <p:spPr>
          <a:xfrm>
            <a:off x="8013700" y="1564630"/>
            <a:ext cx="327025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Weighted score, out of 5</a:t>
            </a:r>
            <a:endParaRPr lang="en-US" sz="1400" dirty="0"/>
          </a:p>
        </p:txBody>
      </p:sp>
      <p:sp>
        <p:nvSpPr>
          <p:cNvPr id="36" name="Text 34"/>
          <p:cNvSpPr/>
          <p:nvPr/>
        </p:nvSpPr>
        <p:spPr>
          <a:xfrm>
            <a:off x="8013700" y="1828750"/>
            <a:ext cx="32702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NVIDIA pull-through 30%</a:t>
            </a:r>
            <a:endParaRPr lang="en-US" sz="1200" dirty="0"/>
          </a:p>
        </p:txBody>
      </p:sp>
      <p:sp>
        <p:nvSpPr>
          <p:cNvPr id="37" name="Text 35"/>
          <p:cNvSpPr/>
          <p:nvPr/>
        </p:nvSpPr>
        <p:spPr>
          <a:xfrm>
            <a:off x="8013700" y="2077641"/>
            <a:ext cx="32702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OpenShell fit 25%</a:t>
            </a:r>
            <a:endParaRPr lang="en-US" sz="1200" dirty="0"/>
          </a:p>
        </p:txBody>
      </p:sp>
      <p:sp>
        <p:nvSpPr>
          <p:cNvPr id="38" name="Text 36"/>
          <p:cNvSpPr/>
          <p:nvPr/>
        </p:nvSpPr>
        <p:spPr>
          <a:xfrm>
            <a:off x="8013700" y="2326531"/>
            <a:ext cx="32702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Reach 20%</a:t>
            </a:r>
            <a:endParaRPr lang="en-US" sz="1200" dirty="0"/>
          </a:p>
        </p:txBody>
      </p:sp>
      <p:sp>
        <p:nvSpPr>
          <p:cNvPr id="39" name="Text 37"/>
          <p:cNvSpPr/>
          <p:nvPr/>
        </p:nvSpPr>
        <p:spPr>
          <a:xfrm>
            <a:off x="8013700" y="2575421"/>
            <a:ext cx="32702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Readiness and timing 15%</a:t>
            </a:r>
            <a:endParaRPr lang="en-US" sz="1200" dirty="0"/>
          </a:p>
        </p:txBody>
      </p:sp>
      <p:sp>
        <p:nvSpPr>
          <p:cNvPr id="40" name="Text 38"/>
          <p:cNvSpPr/>
          <p:nvPr/>
        </p:nvSpPr>
        <p:spPr>
          <a:xfrm>
            <a:off x="8013700" y="2824311"/>
            <a:ext cx="32702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Execution risk 10%</a:t>
            </a:r>
            <a:endParaRPr lang="en-US" sz="1200" dirty="0"/>
          </a:p>
        </p:txBody>
      </p:sp>
      <p:sp>
        <p:nvSpPr>
          <p:cNvPr id="41" name="Shape 39"/>
          <p:cNvSpPr/>
          <p:nvPr/>
        </p:nvSpPr>
        <p:spPr>
          <a:xfrm>
            <a:off x="7829550" y="3295452"/>
            <a:ext cx="3543300" cy="977801"/>
          </a:xfrm>
          <a:prstGeom prst="roundRect">
            <a:avLst>
              <a:gd name="adj" fmla="val 7144"/>
            </a:avLst>
          </a:prstGeom>
          <a:solidFill>
            <a:srgbClr val="FFFFFF"/>
          </a:solidFill>
          <a:ln w="12700">
            <a:solidFill>
              <a:srgbClr val="CDD2D8"/>
            </a:solidFill>
            <a:prstDash val="solid"/>
          </a:ln>
        </p:spPr>
      </p:sp>
      <p:sp>
        <p:nvSpPr>
          <p:cNvPr id="42" name="Text 40"/>
          <p:cNvSpPr/>
          <p:nvPr/>
        </p:nvSpPr>
        <p:spPr>
          <a:xfrm>
            <a:off x="8013700" y="3454202"/>
            <a:ext cx="327025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Stable</a:t>
            </a:r>
            <a:endParaRPr lang="en-US" sz="1400" dirty="0"/>
          </a:p>
        </p:txBody>
      </p:sp>
      <p:sp>
        <p:nvSpPr>
          <p:cNvPr id="43" name="Text 41"/>
          <p:cNvSpPr/>
          <p:nvPr/>
        </p:nvSpPr>
        <p:spPr>
          <a:xfrm>
            <a:off x="8013700" y="3718322"/>
            <a:ext cx="327025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The same four lead under equal, OpenShell-first and revenue-first weights.</a:t>
            </a:r>
            <a:endParaRPr lang="en-US" sz="1200" dirty="0"/>
          </a:p>
        </p:txBody>
      </p:sp>
      <p:sp>
        <p:nvSpPr>
          <p:cNvPr id="44" name="Shape 42"/>
          <p:cNvSpPr/>
          <p:nvPr/>
        </p:nvSpPr>
        <p:spPr>
          <a:xfrm>
            <a:off x="7829550" y="4387552"/>
            <a:ext cx="3543300" cy="977801"/>
          </a:xfrm>
          <a:prstGeom prst="roundRect">
            <a:avLst>
              <a:gd name="adj" fmla="val 7144"/>
            </a:avLst>
          </a:prstGeom>
          <a:solidFill>
            <a:srgbClr val="FFFFFF"/>
          </a:solidFill>
          <a:ln w="12700">
            <a:solidFill>
              <a:srgbClr val="8C96A1"/>
            </a:solidFill>
            <a:prstDash val="dash"/>
          </a:ln>
        </p:spPr>
      </p:sp>
      <p:sp>
        <p:nvSpPr>
          <p:cNvPr id="45" name="Text 43"/>
          <p:cNvSpPr/>
          <p:nvPr/>
        </p:nvSpPr>
        <p:spPr>
          <a:xfrm>
            <a:off x="8013700" y="4546302"/>
            <a:ext cx="327025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Outside the score</a:t>
            </a:r>
            <a:endParaRPr lang="en-US" sz="1400" dirty="0"/>
          </a:p>
        </p:txBody>
      </p:sp>
      <p:sp>
        <p:nvSpPr>
          <p:cNvPr id="46" name="Text 44"/>
          <p:cNvSpPr/>
          <p:nvPr/>
        </p:nvSpPr>
        <p:spPr>
          <a:xfrm>
            <a:off x="8013700" y="4810423"/>
            <a:ext cx="327025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Cua ranks last but is the only path to governed computer use.</a:t>
            </a:r>
            <a:endParaRPr lang="en-US" sz="1200" dirty="0"/>
          </a:p>
        </p:txBody>
      </p:sp>
      <p:sp>
        <p:nvSpPr>
          <p:cNvPr id="47" name="Text 45"/>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6 · Where to invest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A 90-day plan that lands at GTC Washington, D.C.</a:t>
            </a:r>
            <a:endParaRPr lang="en-US" sz="2800" dirty="0"/>
          </a:p>
        </p:txBody>
      </p:sp>
      <p:sp>
        <p:nvSpPr>
          <p:cNvPr id="3" name="Shape 1"/>
          <p:cNvSpPr/>
          <p:nvPr/>
        </p:nvSpPr>
        <p:spPr>
          <a:xfrm>
            <a:off x="819150" y="1380480"/>
            <a:ext cx="3407817" cy="3090813"/>
          </a:xfrm>
          <a:prstGeom prst="roundRect">
            <a:avLst>
              <a:gd name="adj" fmla="val 2260"/>
            </a:avLst>
          </a:prstGeom>
          <a:solidFill>
            <a:srgbClr val="FFFFFF"/>
          </a:solidFill>
          <a:ln w="12700">
            <a:solidFill>
              <a:srgbClr val="CDD2D8"/>
            </a:solidFill>
            <a:prstDash val="solid"/>
          </a:ln>
        </p:spPr>
      </p:sp>
      <p:sp>
        <p:nvSpPr>
          <p:cNvPr id="4" name="Text 2"/>
          <p:cNvSpPr/>
          <p:nvPr/>
        </p:nvSpPr>
        <p:spPr>
          <a:xfrm>
            <a:off x="1003300" y="1539230"/>
            <a:ext cx="313070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Days 1 to 30 · October</a:t>
            </a:r>
            <a:endParaRPr lang="en-US" sz="1200" dirty="0"/>
          </a:p>
        </p:txBody>
      </p:sp>
      <p:sp>
        <p:nvSpPr>
          <p:cNvPr id="5" name="Text 3"/>
          <p:cNvSpPr/>
          <p:nvPr/>
        </p:nvSpPr>
        <p:spPr>
          <a:xfrm>
            <a:off x="1003300" y="1800820"/>
            <a:ext cx="313070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Signed scopes</a:t>
            </a:r>
            <a:endParaRPr lang="en-US" sz="1400" dirty="0"/>
          </a:p>
        </p:txBody>
      </p:sp>
      <p:sp>
        <p:nvSpPr>
          <p:cNvPr id="6" name="Text 4"/>
          <p:cNvSpPr/>
          <p:nvPr/>
        </p:nvSpPr>
        <p:spPr>
          <a:xfrm>
            <a:off x="1003300" y="2077641"/>
            <a:ext cx="313070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AA: OpenShell 0.1.x as the GA default; a design partner named</a:t>
            </a:r>
            <a:endParaRPr lang="en-US" sz="1200" dirty="0"/>
          </a:p>
        </p:txBody>
      </p:sp>
      <p:sp>
        <p:nvSpPr>
          <p:cNvPr id="7" name="Text 5"/>
          <p:cNvSpPr/>
          <p:nvPr/>
        </p:nvSpPr>
        <p:spPr>
          <a:xfrm>
            <a:off x="1003300" y="2537321"/>
            <a:ext cx="313070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E2B: driver from demo to supported, scoped and staffed</a:t>
            </a:r>
            <a:endParaRPr lang="en-US" sz="1200" dirty="0"/>
          </a:p>
        </p:txBody>
      </p:sp>
      <p:sp>
        <p:nvSpPr>
          <p:cNvPr id="8" name="Text 6"/>
          <p:cNvSpPr/>
          <p:nvPr/>
        </p:nvSpPr>
        <p:spPr>
          <a:xfrm>
            <a:off x="1003300" y="2997002"/>
            <a:ext cx="313070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Daytona: OpenShell snapshot scoped; RL burst quota reserved</a:t>
            </a:r>
            <a:endParaRPr lang="en-US" sz="1200" dirty="0"/>
          </a:p>
        </p:txBody>
      </p:sp>
      <p:sp>
        <p:nvSpPr>
          <p:cNvPr id="9" name="Text 7"/>
          <p:cNvSpPr/>
          <p:nvPr/>
        </p:nvSpPr>
        <p:spPr>
          <a:xfrm>
            <a:off x="1003300" y="3456682"/>
            <a:ext cx="313070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UiPath: runtime deep-dive; Nemotron NIM evaluation plan</a:t>
            </a:r>
            <a:endParaRPr lang="en-US" sz="1200" dirty="0"/>
          </a:p>
        </p:txBody>
      </p:sp>
      <p:sp>
        <p:nvSpPr>
          <p:cNvPr id="10" name="Text 8"/>
          <p:cNvSpPr/>
          <p:nvPr/>
        </p:nvSpPr>
        <p:spPr>
          <a:xfrm>
            <a:off x="1003300" y="3916362"/>
            <a:ext cx="313070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Wave 2: Vercel providers, Uniphore LoRA guidance, Kore.ai session</a:t>
            </a:r>
            <a:endParaRPr lang="en-US" sz="1200" dirty="0"/>
          </a:p>
        </p:txBody>
      </p:sp>
      <p:sp>
        <p:nvSpPr>
          <p:cNvPr id="11" name="Shape 9"/>
          <p:cNvSpPr/>
          <p:nvPr/>
        </p:nvSpPr>
        <p:spPr>
          <a:xfrm>
            <a:off x="4392067" y="1380480"/>
            <a:ext cx="3407817" cy="3090813"/>
          </a:xfrm>
          <a:prstGeom prst="roundRect">
            <a:avLst>
              <a:gd name="adj" fmla="val 2260"/>
            </a:avLst>
          </a:prstGeom>
          <a:solidFill>
            <a:srgbClr val="FFFFFF"/>
          </a:solidFill>
          <a:ln w="12700">
            <a:solidFill>
              <a:srgbClr val="CDD2D8"/>
            </a:solidFill>
            <a:prstDash val="solid"/>
          </a:ln>
        </p:spPr>
      </p:sp>
      <p:sp>
        <p:nvSpPr>
          <p:cNvPr id="12" name="Text 10"/>
          <p:cNvSpPr/>
          <p:nvPr/>
        </p:nvSpPr>
        <p:spPr>
          <a:xfrm>
            <a:off x="4576217" y="1539230"/>
            <a:ext cx="313070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Days 31 to 60 · November</a:t>
            </a:r>
            <a:endParaRPr lang="en-US" sz="1200" dirty="0"/>
          </a:p>
        </p:txBody>
      </p:sp>
      <p:sp>
        <p:nvSpPr>
          <p:cNvPr id="13" name="Text 11"/>
          <p:cNvSpPr/>
          <p:nvPr/>
        </p:nvSpPr>
        <p:spPr>
          <a:xfrm>
            <a:off x="4576217" y="1800820"/>
            <a:ext cx="313070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Measured proofs</a:t>
            </a:r>
            <a:endParaRPr lang="en-US" sz="1400" dirty="0"/>
          </a:p>
        </p:txBody>
      </p:sp>
      <p:sp>
        <p:nvSpPr>
          <p:cNvPr id="14" name="Text 12"/>
          <p:cNvSpPr/>
          <p:nvPr/>
        </p:nvSpPr>
        <p:spPr>
          <a:xfrm>
            <a:off x="4576217" y="2077641"/>
            <a:ext cx="313070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1,000 OpenShell-wrapped E2B sandboxes on one shared policy</a:t>
            </a:r>
            <a:endParaRPr lang="en-US" sz="1200" dirty="0"/>
          </a:p>
        </p:txBody>
      </p:sp>
      <p:sp>
        <p:nvSpPr>
          <p:cNvPr id="15" name="Text 13"/>
          <p:cNvSpPr/>
          <p:nvPr/>
        </p:nvSpPr>
        <p:spPr>
          <a:xfrm>
            <a:off x="4576217" y="2537321"/>
            <a:ext cx="313070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Nemotron RL run at 10,000 sandboxes on E2B or Daytona</a:t>
            </a:r>
            <a:endParaRPr lang="en-US" sz="1200" dirty="0"/>
          </a:p>
        </p:txBody>
      </p:sp>
      <p:sp>
        <p:nvSpPr>
          <p:cNvPr id="16" name="Text 14"/>
          <p:cNvSpPr/>
          <p:nvPr/>
        </p:nvSpPr>
        <p:spPr>
          <a:xfrm>
            <a:off x="4576217" y="2997002"/>
            <a:ext cx="313070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EnterpriseClaw on OpenShell live at a design partner</a:t>
            </a:r>
            <a:endParaRPr lang="en-US" sz="1200" dirty="0"/>
          </a:p>
        </p:txBody>
      </p:sp>
      <p:sp>
        <p:nvSpPr>
          <p:cNvPr id="17" name="Text 15"/>
          <p:cNvSpPr/>
          <p:nvPr/>
        </p:nvSpPr>
        <p:spPr>
          <a:xfrm>
            <a:off x="4576217" y="3456682"/>
            <a:ext cx="313070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UiPath coded agent inside OpenShell on Automation Suite</a:t>
            </a:r>
            <a:endParaRPr lang="en-US" sz="1200" dirty="0"/>
          </a:p>
        </p:txBody>
      </p:sp>
      <p:sp>
        <p:nvSpPr>
          <p:cNvPr id="18" name="Text 16"/>
          <p:cNvSpPr/>
          <p:nvPr/>
        </p:nvSpPr>
        <p:spPr>
          <a:xfrm>
            <a:off x="4576217" y="3916362"/>
            <a:ext cx="313070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Vera or Grace density test against a named x86 baseline</a:t>
            </a:r>
            <a:endParaRPr lang="en-US" sz="1200" dirty="0"/>
          </a:p>
        </p:txBody>
      </p:sp>
      <p:sp>
        <p:nvSpPr>
          <p:cNvPr id="19" name="Shape 17"/>
          <p:cNvSpPr/>
          <p:nvPr/>
        </p:nvSpPr>
        <p:spPr>
          <a:xfrm>
            <a:off x="7964984" y="1380480"/>
            <a:ext cx="3407866" cy="3090813"/>
          </a:xfrm>
          <a:prstGeom prst="roundRect">
            <a:avLst>
              <a:gd name="adj" fmla="val 2260"/>
            </a:avLst>
          </a:prstGeom>
          <a:solidFill>
            <a:srgbClr val="FFFFFF"/>
          </a:solidFill>
          <a:ln w="12700">
            <a:solidFill>
              <a:srgbClr val="CDD2D8"/>
            </a:solidFill>
            <a:prstDash val="solid"/>
          </a:ln>
        </p:spPr>
      </p:sp>
      <p:sp>
        <p:nvSpPr>
          <p:cNvPr id="20" name="Text 18"/>
          <p:cNvSpPr/>
          <p:nvPr/>
        </p:nvSpPr>
        <p:spPr>
          <a:xfrm>
            <a:off x="8149134" y="1539230"/>
            <a:ext cx="3130753"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Days 61 to 90 · December</a:t>
            </a:r>
            <a:endParaRPr lang="en-US" sz="1200" dirty="0"/>
          </a:p>
        </p:txBody>
      </p:sp>
      <p:sp>
        <p:nvSpPr>
          <p:cNvPr id="21" name="Text 19"/>
          <p:cNvSpPr/>
          <p:nvPr/>
        </p:nvSpPr>
        <p:spPr>
          <a:xfrm>
            <a:off x="8149134" y="1800820"/>
            <a:ext cx="313075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Public results</a:t>
            </a:r>
            <a:endParaRPr lang="en-US" sz="1400" dirty="0"/>
          </a:p>
        </p:txBody>
      </p:sp>
      <p:sp>
        <p:nvSpPr>
          <p:cNvPr id="22" name="Text 20"/>
          <p:cNvSpPr/>
          <p:nvPr/>
        </p:nvSpPr>
        <p:spPr>
          <a:xfrm>
            <a:off x="8149134" y="2077641"/>
            <a:ext cx="313075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GTC DC: EnterpriseClaw GA on OpenShell, certified drivers, RL results</a:t>
            </a:r>
            <a:endParaRPr lang="en-US" sz="1200" dirty="0"/>
          </a:p>
        </p:txBody>
      </p:sp>
      <p:sp>
        <p:nvSpPr>
          <p:cNvPr id="23" name="Text 21"/>
          <p:cNvSpPr/>
          <p:nvPr/>
        </p:nvSpPr>
        <p:spPr>
          <a:xfrm>
            <a:off x="8149134" y="2537321"/>
            <a:ext cx="313075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Regulated pilots at Automation Anywhere and UiPath</a:t>
            </a:r>
            <a:endParaRPr lang="en-US" sz="1200" dirty="0"/>
          </a:p>
        </p:txBody>
      </p:sp>
      <p:sp>
        <p:nvSpPr>
          <p:cNvPr id="24" name="Text 22"/>
          <p:cNvSpPr/>
          <p:nvPr/>
        </p:nvSpPr>
        <p:spPr>
          <a:xfrm>
            <a:off x="8149134" y="2997002"/>
            <a:ext cx="313075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Uniphore pilot on Rackspace; an OpenShell-on-Vercel reference</a:t>
            </a:r>
            <a:endParaRPr lang="en-US" sz="1200" dirty="0"/>
          </a:p>
        </p:txBody>
      </p:sp>
      <p:sp>
        <p:nvSpPr>
          <p:cNvPr id="25" name="Text 23"/>
          <p:cNvSpPr/>
          <p:nvPr/>
        </p:nvSpPr>
        <p:spPr>
          <a:xfrm>
            <a:off x="8149134" y="3456682"/>
            <a:ext cx="313075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Agent runtime row of the ecosystem map updated</a:t>
            </a:r>
            <a:endParaRPr lang="en-US" sz="1200" dirty="0"/>
          </a:p>
        </p:txBody>
      </p:sp>
      <p:sp>
        <p:nvSpPr>
          <p:cNvPr id="26" name="Shape 24"/>
          <p:cNvSpPr/>
          <p:nvPr/>
        </p:nvSpPr>
        <p:spPr>
          <a:xfrm>
            <a:off x="819150" y="4636393"/>
            <a:ext cx="1663700" cy="1079401"/>
          </a:xfrm>
          <a:prstGeom prst="roundRect">
            <a:avLst>
              <a:gd name="adj" fmla="val 6471"/>
            </a:avLst>
          </a:prstGeom>
          <a:solidFill>
            <a:srgbClr val="FFFFFF"/>
          </a:solidFill>
          <a:ln w="12700">
            <a:solidFill>
              <a:srgbClr val="CDD2D8"/>
            </a:solidFill>
            <a:prstDash val="solid"/>
          </a:ln>
        </p:spPr>
      </p:sp>
      <p:sp>
        <p:nvSpPr>
          <p:cNvPr id="27" name="Text 25"/>
          <p:cNvSpPr/>
          <p:nvPr/>
        </p:nvSpPr>
        <p:spPr>
          <a:xfrm>
            <a:off x="952500" y="4744343"/>
            <a:ext cx="14478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02A"/>
                </a:solidFill>
                <a:latin typeface="IBM Plex Sans" pitchFamily="34" charset="0"/>
                <a:ea typeface="IBM Plex Sans" pitchFamily="34" charset="-122"/>
                <a:cs typeface="IBM Plex Sans" pitchFamily="34" charset="-120"/>
              </a:rPr>
              <a:t>1 → 3</a:t>
            </a:r>
            <a:endParaRPr lang="en-US" sz="1600" dirty="0"/>
          </a:p>
        </p:txBody>
      </p:sp>
      <p:sp>
        <p:nvSpPr>
          <p:cNvPr id="28" name="Text 26"/>
          <p:cNvSpPr/>
          <p:nvPr/>
        </p:nvSpPr>
        <p:spPr>
          <a:xfrm>
            <a:off x="952500" y="5013573"/>
            <a:ext cx="144780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partners shipping OpenShell</a:t>
            </a:r>
            <a:endParaRPr lang="en-US" sz="1200" dirty="0"/>
          </a:p>
        </p:txBody>
      </p:sp>
      <p:sp>
        <p:nvSpPr>
          <p:cNvPr id="29" name="Shape 27"/>
          <p:cNvSpPr/>
          <p:nvPr/>
        </p:nvSpPr>
        <p:spPr>
          <a:xfrm>
            <a:off x="2597150" y="4636393"/>
            <a:ext cx="1663700" cy="1079401"/>
          </a:xfrm>
          <a:prstGeom prst="roundRect">
            <a:avLst>
              <a:gd name="adj" fmla="val 6471"/>
            </a:avLst>
          </a:prstGeom>
          <a:solidFill>
            <a:srgbClr val="FFFFFF"/>
          </a:solidFill>
          <a:ln w="12700">
            <a:solidFill>
              <a:srgbClr val="CDD2D8"/>
            </a:solidFill>
            <a:prstDash val="solid"/>
          </a:ln>
        </p:spPr>
      </p:sp>
      <p:sp>
        <p:nvSpPr>
          <p:cNvPr id="30" name="Text 28"/>
          <p:cNvSpPr/>
          <p:nvPr/>
        </p:nvSpPr>
        <p:spPr>
          <a:xfrm>
            <a:off x="2730500" y="4744343"/>
            <a:ext cx="14478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02A"/>
                </a:solidFill>
                <a:latin typeface="IBM Plex Sans" pitchFamily="34" charset="0"/>
                <a:ea typeface="IBM Plex Sans" pitchFamily="34" charset="-122"/>
                <a:cs typeface="IBM Plex Sans" pitchFamily="34" charset="-120"/>
              </a:rPr>
              <a:t>0 → 4</a:t>
            </a:r>
            <a:endParaRPr lang="en-US" sz="1600" dirty="0"/>
          </a:p>
        </p:txBody>
      </p:sp>
      <p:sp>
        <p:nvSpPr>
          <p:cNvPr id="31" name="Text 29"/>
          <p:cNvSpPr/>
          <p:nvPr/>
        </p:nvSpPr>
        <p:spPr>
          <a:xfrm>
            <a:off x="2730500" y="5013573"/>
            <a:ext cx="144780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of the nine named in NVIDIA news</a:t>
            </a:r>
            <a:endParaRPr lang="en-US" sz="1200" dirty="0"/>
          </a:p>
        </p:txBody>
      </p:sp>
      <p:sp>
        <p:nvSpPr>
          <p:cNvPr id="32" name="Shape 30"/>
          <p:cNvSpPr/>
          <p:nvPr/>
        </p:nvSpPr>
        <p:spPr>
          <a:xfrm>
            <a:off x="4375150" y="4636393"/>
            <a:ext cx="1663700" cy="1079401"/>
          </a:xfrm>
          <a:prstGeom prst="roundRect">
            <a:avLst>
              <a:gd name="adj" fmla="val 6471"/>
            </a:avLst>
          </a:prstGeom>
          <a:solidFill>
            <a:srgbClr val="FFFFFF"/>
          </a:solidFill>
          <a:ln w="12700">
            <a:solidFill>
              <a:srgbClr val="CDD2D8"/>
            </a:solidFill>
            <a:prstDash val="solid"/>
          </a:ln>
        </p:spPr>
      </p:sp>
      <p:sp>
        <p:nvSpPr>
          <p:cNvPr id="33" name="Text 31"/>
          <p:cNvSpPr/>
          <p:nvPr/>
        </p:nvSpPr>
        <p:spPr>
          <a:xfrm>
            <a:off x="4508500" y="4744343"/>
            <a:ext cx="14478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02A"/>
                </a:solidFill>
                <a:latin typeface="IBM Plex Sans" pitchFamily="34" charset="0"/>
                <a:ea typeface="IBM Plex Sans" pitchFamily="34" charset="-122"/>
                <a:cs typeface="IBM Plex Sans" pitchFamily="34" charset="-120"/>
              </a:rPr>
              <a:t>1.7% → 2x</a:t>
            </a:r>
            <a:endParaRPr lang="en-US" sz="1600" dirty="0"/>
          </a:p>
        </p:txBody>
      </p:sp>
      <p:sp>
        <p:nvSpPr>
          <p:cNvPr id="34" name="Text 32"/>
          <p:cNvSpPr/>
          <p:nvPr/>
        </p:nvSpPr>
        <p:spPr>
          <a:xfrm>
            <a:off x="4508500" y="5013573"/>
            <a:ext cx="144780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NVIDIA share of provider profiles</a:t>
            </a:r>
            <a:endParaRPr lang="en-US" sz="1200" dirty="0"/>
          </a:p>
        </p:txBody>
      </p:sp>
      <p:sp>
        <p:nvSpPr>
          <p:cNvPr id="35" name="Shape 33"/>
          <p:cNvSpPr/>
          <p:nvPr/>
        </p:nvSpPr>
        <p:spPr>
          <a:xfrm>
            <a:off x="6153150" y="4636393"/>
            <a:ext cx="1663700" cy="1079401"/>
          </a:xfrm>
          <a:prstGeom prst="roundRect">
            <a:avLst>
              <a:gd name="adj" fmla="val 6471"/>
            </a:avLst>
          </a:prstGeom>
          <a:solidFill>
            <a:srgbClr val="FFFFFF"/>
          </a:solidFill>
          <a:ln w="12700">
            <a:solidFill>
              <a:srgbClr val="CDD2D8"/>
            </a:solidFill>
            <a:prstDash val="solid"/>
          </a:ln>
        </p:spPr>
      </p:sp>
      <p:sp>
        <p:nvSpPr>
          <p:cNvPr id="36" name="Text 34"/>
          <p:cNvSpPr/>
          <p:nvPr/>
        </p:nvSpPr>
        <p:spPr>
          <a:xfrm>
            <a:off x="6286500" y="4744343"/>
            <a:ext cx="14478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02A"/>
                </a:solidFill>
                <a:latin typeface="IBM Plex Sans" pitchFamily="34" charset="0"/>
                <a:ea typeface="IBM Plex Sans" pitchFamily="34" charset="-122"/>
                <a:cs typeface="IBM Plex Sans" pitchFamily="34" charset="-120"/>
              </a:rPr>
              <a:t>0 → 10k</a:t>
            </a:r>
            <a:endParaRPr lang="en-US" sz="1600" dirty="0"/>
          </a:p>
        </p:txBody>
      </p:sp>
      <p:sp>
        <p:nvSpPr>
          <p:cNvPr id="37" name="Text 35"/>
          <p:cNvSpPr/>
          <p:nvPr/>
        </p:nvSpPr>
        <p:spPr>
          <a:xfrm>
            <a:off x="6286500" y="5013573"/>
            <a:ext cx="144780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sandboxes in a Nemotron RL run</a:t>
            </a:r>
            <a:endParaRPr lang="en-US" sz="1200" dirty="0"/>
          </a:p>
        </p:txBody>
      </p:sp>
      <p:sp>
        <p:nvSpPr>
          <p:cNvPr id="38" name="Shape 36"/>
          <p:cNvSpPr/>
          <p:nvPr/>
        </p:nvSpPr>
        <p:spPr>
          <a:xfrm>
            <a:off x="7931150" y="4636393"/>
            <a:ext cx="1663700" cy="1079401"/>
          </a:xfrm>
          <a:prstGeom prst="roundRect">
            <a:avLst>
              <a:gd name="adj" fmla="val 6471"/>
            </a:avLst>
          </a:prstGeom>
          <a:solidFill>
            <a:srgbClr val="FFFFFF"/>
          </a:solidFill>
          <a:ln w="12700">
            <a:solidFill>
              <a:srgbClr val="CDD2D8"/>
            </a:solidFill>
            <a:prstDash val="solid"/>
          </a:ln>
        </p:spPr>
      </p:sp>
      <p:sp>
        <p:nvSpPr>
          <p:cNvPr id="39" name="Text 37"/>
          <p:cNvSpPr/>
          <p:nvPr/>
        </p:nvSpPr>
        <p:spPr>
          <a:xfrm>
            <a:off x="8064500" y="4744343"/>
            <a:ext cx="14478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02A"/>
                </a:solidFill>
                <a:latin typeface="IBM Plex Sans" pitchFamily="34" charset="0"/>
                <a:ea typeface="IBM Plex Sans" pitchFamily="34" charset="-122"/>
                <a:cs typeface="IBM Plex Sans" pitchFamily="34" charset="-120"/>
              </a:rPr>
              <a:t>4 → 6</a:t>
            </a:r>
            <a:endParaRPr lang="en-US" sz="1600" dirty="0"/>
          </a:p>
        </p:txBody>
      </p:sp>
      <p:sp>
        <p:nvSpPr>
          <p:cNvPr id="40" name="Text 38"/>
          <p:cNvSpPr/>
          <p:nvPr/>
        </p:nvSpPr>
        <p:spPr>
          <a:xfrm>
            <a:off x="8064500" y="5013573"/>
            <a:ext cx="144780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Nemotron models with two Vercel providers</a:t>
            </a:r>
            <a:endParaRPr lang="en-US" sz="1200" dirty="0"/>
          </a:p>
        </p:txBody>
      </p:sp>
      <p:sp>
        <p:nvSpPr>
          <p:cNvPr id="41" name="Shape 39"/>
          <p:cNvSpPr/>
          <p:nvPr/>
        </p:nvSpPr>
        <p:spPr>
          <a:xfrm>
            <a:off x="9709150" y="4636393"/>
            <a:ext cx="1663700" cy="1079401"/>
          </a:xfrm>
          <a:prstGeom prst="roundRect">
            <a:avLst>
              <a:gd name="adj" fmla="val 6471"/>
            </a:avLst>
          </a:prstGeom>
          <a:solidFill>
            <a:srgbClr val="FFFFFF"/>
          </a:solidFill>
          <a:ln w="12700">
            <a:solidFill>
              <a:srgbClr val="CDD2D8"/>
            </a:solidFill>
            <a:prstDash val="solid"/>
          </a:ln>
        </p:spPr>
      </p:sp>
      <p:sp>
        <p:nvSpPr>
          <p:cNvPr id="42" name="Text 40"/>
          <p:cNvSpPr/>
          <p:nvPr/>
        </p:nvSpPr>
        <p:spPr>
          <a:xfrm>
            <a:off x="9842500" y="4744343"/>
            <a:ext cx="14478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02A"/>
                </a:solidFill>
                <a:latin typeface="IBM Plex Sans" pitchFamily="34" charset="0"/>
                <a:ea typeface="IBM Plex Sans" pitchFamily="34" charset="-122"/>
                <a:cs typeface="IBM Plex Sans" pitchFamily="34" charset="-120"/>
              </a:rPr>
              <a:t>0 → 1</a:t>
            </a:r>
            <a:endParaRPr lang="en-US" sz="1600" dirty="0"/>
          </a:p>
        </p:txBody>
      </p:sp>
      <p:sp>
        <p:nvSpPr>
          <p:cNvPr id="43" name="Text 41"/>
          <p:cNvSpPr/>
          <p:nvPr/>
        </p:nvSpPr>
        <p:spPr>
          <a:xfrm>
            <a:off x="9842500" y="5013573"/>
            <a:ext cx="144780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Vera density benchmark with a partner</a:t>
            </a:r>
            <a:endParaRPr lang="en-US" sz="1200" dirty="0"/>
          </a:p>
        </p:txBody>
      </p:sp>
      <p:sp>
        <p:nvSpPr>
          <p:cNvPr id="44" name="Text 42"/>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6 · Where to invest</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What partners need from OpenShell 1.0</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12230"/>
          <a:ext cx="10553700" cy="2539603"/>
        </p:xfrm>
        <a:graphic>
          <a:graphicData uri="http://schemas.openxmlformats.org/drawingml/2006/table">
            <a:tbl>
              <a:tblPr/>
              <a:tblGrid>
                <a:gridCol w="3588258"/>
                <a:gridCol w="2955036"/>
                <a:gridCol w="4010406"/>
              </a:tblGrid>
              <a:tr h="317450">
                <a:tc>
                  <a:txBody>
                    <a:bodyPr/>
                    <a:lstStyle/>
                    <a:p>
                      <a:pPr indent="0" marL="0">
                        <a:lnSpc>
                          <a:spcPts val="1680"/>
                        </a:lnSpc>
                        <a:buNone/>
                      </a:pPr>
                      <a:r>
                        <a:rPr lang="en-US" sz="1200" b="1" dirty="0">
                          <a:solidFill>
                            <a:srgbClr val="18202A"/>
                          </a:solidFill>
                          <a:latin typeface="IBM Plex Sans" pitchFamily="34" charset="0"/>
                          <a:ea typeface="IBM Plex Sans" pitchFamily="34" charset="-122"/>
                          <a:cs typeface="IBM Plex Sans" pitchFamily="34" charset="-120"/>
                        </a:rPr>
                        <a:t>Need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b="1" dirty="0">
                          <a:solidFill>
                            <a:srgbClr val="18202A"/>
                          </a:solidFill>
                          <a:latin typeface="IBM Plex Sans" pitchFamily="34" charset="0"/>
                          <a:ea typeface="IBM Plex Sans" pitchFamily="34" charset="-122"/>
                          <a:cs typeface="IBM Plex Sans" pitchFamily="34" charset="-120"/>
                        </a:rPr>
                        <a:t>Who needs 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b="1" dirty="0">
                          <a:solidFill>
                            <a:srgbClr val="18202A"/>
                          </a:solidFill>
                          <a:latin typeface="IBM Plex Sans" pitchFamily="34" charset="0"/>
                          <a:ea typeface="IBM Plex Sans" pitchFamily="34" charset="-122"/>
                          <a:cs typeface="IBM Plex Sans" pitchFamily="34" charset="-120"/>
                        </a:rPr>
                        <a:t>Status on October 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Stable driver protocol and certification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E2B, Daytona, Blaxel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Protocol 1.0 in 0.1.x; tests opened Sep 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Native Windows and VM-class desktops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AA, UiPath, Cua, Daytona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Windows via WSL 2 is experimental; no GUI support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Fleet gateways and multi-tenancy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Automation Anywhere, SAP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README says single-player mode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Agent identity and vault credentials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Automation Anywhere, UiPath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 first-class agent identity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Audit export to SIEM tools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AA, Kore.ai, regulated buyers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OCSF over OTLP tracked in an open issue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Air-gapped install, telemetry off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Red Hat, AA, sovereign buyers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Telemetry is on by default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Long-term support and a 1.0 date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Every partner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 1.0 date; 0.0.x cannot upgrade in place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sp>
        <p:nvSpPr>
          <p:cNvPr id="4" name="Text 1"/>
          <p:cNvSpPr/>
          <p:nvPr/>
        </p:nvSpPr>
        <p:spPr>
          <a:xfrm>
            <a:off x="812800" y="4129633"/>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8202A"/>
                </a:solidFill>
                <a:latin typeface="IBM Plex Sans" pitchFamily="34" charset="0"/>
                <a:ea typeface="IBM Plex Sans" pitchFamily="34" charset="-122"/>
                <a:cs typeface="IBM Plex Sans" pitchFamily="34" charset="-120"/>
              </a:rPr>
              <a:t>We should hand the OpenShell team one partner-backed 1.0 list, with a name next to every need.</a:t>
            </a:r>
            <a:endParaRPr lang="en-US" sz="1400" dirty="0"/>
          </a:p>
        </p:txBody>
      </p:sp>
      <p:sp>
        <p:nvSpPr>
          <p:cNvPr id="5" name="Text 2"/>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6 · Where to invest</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Risks and mitigations</a:t>
            </a:r>
            <a:endParaRPr lang="en-US" sz="2800" dirty="0"/>
          </a:p>
        </p:txBody>
      </p:sp>
      <p:sp>
        <p:nvSpPr>
          <p:cNvPr id="3" name="Shape 1"/>
          <p:cNvSpPr/>
          <p:nvPr/>
        </p:nvSpPr>
        <p:spPr>
          <a:xfrm>
            <a:off x="819150" y="1405880"/>
            <a:ext cx="3407817" cy="1450181"/>
          </a:xfrm>
          <a:prstGeom prst="roundRect">
            <a:avLst>
              <a:gd name="adj" fmla="val 4817"/>
            </a:avLst>
          </a:prstGeom>
          <a:solidFill>
            <a:srgbClr val="FFFFFF"/>
          </a:solidFill>
          <a:ln w="12700">
            <a:solidFill>
              <a:srgbClr val="CDD2D8"/>
            </a:solidFill>
            <a:prstDash val="solid"/>
          </a:ln>
        </p:spPr>
      </p:sp>
      <p:sp>
        <p:nvSpPr>
          <p:cNvPr id="4" name="Text 2"/>
          <p:cNvSpPr/>
          <p:nvPr/>
        </p:nvSpPr>
        <p:spPr>
          <a:xfrm>
            <a:off x="1003300" y="1564630"/>
            <a:ext cx="313070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Maturity and API churn</a:t>
            </a:r>
            <a:endParaRPr lang="en-US" sz="1400" dirty="0"/>
          </a:p>
        </p:txBody>
      </p:sp>
      <p:sp>
        <p:nvSpPr>
          <p:cNvPr id="5" name="Text 3"/>
          <p:cNvSpPr/>
          <p:nvPr/>
        </p:nvSpPr>
        <p:spPr>
          <a:xfrm>
            <a:off x="1003300" y="1841450"/>
            <a:ext cx="313070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Alpha label, no in-place upgrade from 0.0.x, an 18% failure spike in July</a:t>
            </a:r>
            <a:endParaRPr lang="en-US" sz="1200" dirty="0"/>
          </a:p>
        </p:txBody>
      </p:sp>
      <p:sp>
        <p:nvSpPr>
          <p:cNvPr id="6" name="Text 4"/>
          <p:cNvSpPr/>
          <p:nvPr/>
        </p:nvSpPr>
        <p:spPr>
          <a:xfrm>
            <a:off x="1003300" y="2301131"/>
            <a:ext cx="3130702"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Do:</a:t>
            </a:r>
            <a:r>
              <a:rPr lang="en-US" sz="1200" dirty="0">
                <a:solidFill>
                  <a:srgbClr val="18202A"/>
                </a:solidFill>
                <a:latin typeface="IBM Plex Sans" pitchFamily="34" charset="0"/>
                <a:ea typeface="IBM Plex Sans" pitchFamily="34" charset="-122"/>
                <a:cs typeface="IBM Plex Sans" pitchFamily="34" charset="-120"/>
              </a:rPr>
              <a:t> get a 1.0 date, a support branch and one consistent label</a:t>
            </a:r>
            <a:endParaRPr lang="en-US" sz="1200" dirty="0"/>
          </a:p>
        </p:txBody>
      </p:sp>
      <p:sp>
        <p:nvSpPr>
          <p:cNvPr id="7" name="Shape 5"/>
          <p:cNvSpPr/>
          <p:nvPr/>
        </p:nvSpPr>
        <p:spPr>
          <a:xfrm>
            <a:off x="4392067" y="1405880"/>
            <a:ext cx="3407817" cy="1450181"/>
          </a:xfrm>
          <a:prstGeom prst="roundRect">
            <a:avLst>
              <a:gd name="adj" fmla="val 4817"/>
            </a:avLst>
          </a:prstGeom>
          <a:solidFill>
            <a:srgbClr val="FFFFFF"/>
          </a:solidFill>
          <a:ln w="12700">
            <a:solidFill>
              <a:srgbClr val="CDD2D8"/>
            </a:solidFill>
            <a:prstDash val="solid"/>
          </a:ln>
        </p:spPr>
      </p:sp>
      <p:sp>
        <p:nvSpPr>
          <p:cNvPr id="8" name="Text 6"/>
          <p:cNvSpPr/>
          <p:nvPr/>
        </p:nvSpPr>
        <p:spPr>
          <a:xfrm>
            <a:off x="4576217" y="1564630"/>
            <a:ext cx="313070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Channel conflict</a:t>
            </a:r>
            <a:endParaRPr lang="en-US" sz="1400" dirty="0"/>
          </a:p>
        </p:txBody>
      </p:sp>
      <p:sp>
        <p:nvSpPr>
          <p:cNvPr id="9" name="Text 7"/>
          <p:cNvSpPr/>
          <p:nvPr/>
        </p:nvSpPr>
        <p:spPr>
          <a:xfrm>
            <a:off x="4576217" y="1841450"/>
            <a:ext cx="313070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NeMo Gym lists OpenShell as a peer; a site sells it as a free E2B alternative</a:t>
            </a:r>
            <a:endParaRPr lang="en-US" sz="1200" dirty="0"/>
          </a:p>
        </p:txBody>
      </p:sp>
      <p:sp>
        <p:nvSpPr>
          <p:cNvPr id="10" name="Text 8"/>
          <p:cNvSpPr/>
          <p:nvPr/>
        </p:nvSpPr>
        <p:spPr>
          <a:xfrm>
            <a:off x="4576217" y="2301131"/>
            <a:ext cx="3130702"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Do:</a:t>
            </a:r>
            <a:r>
              <a:rPr lang="en-US" sz="1200" dirty="0">
                <a:solidFill>
                  <a:srgbClr val="18202A"/>
                </a:solidFill>
                <a:latin typeface="IBM Plex Sans" pitchFamily="34" charset="0"/>
                <a:ea typeface="IBM Plex Sans" pitchFamily="34" charset="-122"/>
                <a:cs typeface="IBM Plex Sans" pitchFamily="34" charset="-120"/>
              </a:rPr>
              <a:t> say policy over any sandbox, certify drivers, host nothing</a:t>
            </a:r>
            <a:endParaRPr lang="en-US" sz="1200" dirty="0"/>
          </a:p>
        </p:txBody>
      </p:sp>
      <p:sp>
        <p:nvSpPr>
          <p:cNvPr id="11" name="Shape 9"/>
          <p:cNvSpPr/>
          <p:nvPr/>
        </p:nvSpPr>
        <p:spPr>
          <a:xfrm>
            <a:off x="7964984" y="1405880"/>
            <a:ext cx="3407866" cy="1450181"/>
          </a:xfrm>
          <a:prstGeom prst="roundRect">
            <a:avLst>
              <a:gd name="adj" fmla="val 4817"/>
            </a:avLst>
          </a:prstGeom>
          <a:solidFill>
            <a:srgbClr val="FFFFFF"/>
          </a:solidFill>
          <a:ln w="12700">
            <a:solidFill>
              <a:srgbClr val="CDD2D8"/>
            </a:solidFill>
            <a:prstDash val="solid"/>
          </a:ln>
        </p:spPr>
      </p:sp>
      <p:sp>
        <p:nvSpPr>
          <p:cNvPr id="12" name="Text 10"/>
          <p:cNvSpPr/>
          <p:nvPr/>
        </p:nvSpPr>
        <p:spPr>
          <a:xfrm>
            <a:off x="8149134" y="1564630"/>
            <a:ext cx="313075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Weak inference pull-through</a:t>
            </a:r>
            <a:endParaRPr lang="en-US" sz="1400" dirty="0"/>
          </a:p>
        </p:txBody>
      </p:sp>
      <p:sp>
        <p:nvSpPr>
          <p:cNvPr id="13" name="Text 11"/>
          <p:cNvSpPr/>
          <p:nvPr/>
        </p:nvSpPr>
        <p:spPr>
          <a:xfrm>
            <a:off x="8149134" y="1841450"/>
            <a:ext cx="313075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The router is gone and NVIDIA was about 1.7% of provider profiles</a:t>
            </a:r>
            <a:endParaRPr lang="en-US" sz="1200" dirty="0"/>
          </a:p>
        </p:txBody>
      </p:sp>
      <p:sp>
        <p:nvSpPr>
          <p:cNvPr id="14" name="Text 12"/>
          <p:cNvSpPr/>
          <p:nvPr/>
        </p:nvSpPr>
        <p:spPr>
          <a:xfrm>
            <a:off x="8149134" y="2301131"/>
            <a:ext cx="3130753"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Do:</a:t>
            </a:r>
            <a:r>
              <a:rPr lang="en-US" sz="1200" dirty="0">
                <a:solidFill>
                  <a:srgbClr val="18202A"/>
                </a:solidFill>
                <a:latin typeface="IBM Plex Sans" pitchFamily="34" charset="0"/>
                <a:ea typeface="IBM Plex Sans" pitchFamily="34" charset="-122"/>
                <a:cs typeface="IBM Plex Sans" pitchFamily="34" charset="-120"/>
              </a:rPr>
              <a:t> Nemotron defaults in templates and gateways; track the share</a:t>
            </a:r>
            <a:endParaRPr lang="en-US" sz="1200" dirty="0"/>
          </a:p>
        </p:txBody>
      </p:sp>
      <p:sp>
        <p:nvSpPr>
          <p:cNvPr id="15" name="Shape 13"/>
          <p:cNvSpPr/>
          <p:nvPr/>
        </p:nvSpPr>
        <p:spPr>
          <a:xfrm>
            <a:off x="819150" y="3021161"/>
            <a:ext cx="3407817" cy="1450181"/>
          </a:xfrm>
          <a:prstGeom prst="roundRect">
            <a:avLst>
              <a:gd name="adj" fmla="val 4817"/>
            </a:avLst>
          </a:prstGeom>
          <a:solidFill>
            <a:srgbClr val="FFFFFF"/>
          </a:solidFill>
          <a:ln w="12700">
            <a:solidFill>
              <a:srgbClr val="CDD2D8"/>
            </a:solidFill>
            <a:prstDash val="solid"/>
          </a:ln>
        </p:spPr>
      </p:sp>
      <p:sp>
        <p:nvSpPr>
          <p:cNvPr id="16" name="Text 14"/>
          <p:cNvSpPr/>
          <p:nvPr/>
        </p:nvSpPr>
        <p:spPr>
          <a:xfrm>
            <a:off x="1003300" y="3179911"/>
            <a:ext cx="313070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A standards race</a:t>
            </a:r>
            <a:endParaRPr lang="en-US" sz="1400" dirty="0"/>
          </a:p>
        </p:txBody>
      </p:sp>
      <p:sp>
        <p:nvSpPr>
          <p:cNvPr id="17" name="Text 15"/>
          <p:cNvSpPr/>
          <p:nvPr/>
        </p:nvSpPr>
        <p:spPr>
          <a:xfrm>
            <a:off x="1003300" y="3456732"/>
            <a:ext cx="313070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Docker's CNCF spec, Kubernetes agent-sandbox, AgentCore Policy, Anthropic</a:t>
            </a:r>
            <a:endParaRPr lang="en-US" sz="1200" dirty="0"/>
          </a:p>
        </p:txBody>
      </p:sp>
      <p:sp>
        <p:nvSpPr>
          <p:cNvPr id="18" name="Text 16"/>
          <p:cNvSpPr/>
          <p:nvPr/>
        </p:nvSpPr>
        <p:spPr>
          <a:xfrm>
            <a:off x="1003300" y="3916412"/>
            <a:ext cx="3130702"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Do:</a:t>
            </a:r>
            <a:r>
              <a:rPr lang="en-US" sz="1200" dirty="0">
                <a:solidFill>
                  <a:srgbClr val="18202A"/>
                </a:solidFill>
                <a:latin typeface="IBM Plex Sans" pitchFamily="34" charset="0"/>
                <a:ea typeface="IBM Plex Sans" pitchFamily="34" charset="-122"/>
                <a:cs typeface="IBM Plex Sans" pitchFamily="34" charset="-120"/>
              </a:rPr>
              <a:t> interoperate with agent-sandbox; govern through the alliance</a:t>
            </a:r>
            <a:endParaRPr lang="en-US" sz="1200" dirty="0"/>
          </a:p>
        </p:txBody>
      </p:sp>
      <p:sp>
        <p:nvSpPr>
          <p:cNvPr id="19" name="Shape 17"/>
          <p:cNvSpPr/>
          <p:nvPr/>
        </p:nvSpPr>
        <p:spPr>
          <a:xfrm>
            <a:off x="4392067" y="3021161"/>
            <a:ext cx="3407817" cy="1450181"/>
          </a:xfrm>
          <a:prstGeom prst="roundRect">
            <a:avLst>
              <a:gd name="adj" fmla="val 4817"/>
            </a:avLst>
          </a:prstGeom>
          <a:solidFill>
            <a:srgbClr val="FFFFFF"/>
          </a:solidFill>
          <a:ln w="12700">
            <a:solidFill>
              <a:srgbClr val="CDD2D8"/>
            </a:solidFill>
            <a:prstDash val="solid"/>
          </a:ln>
        </p:spPr>
      </p:sp>
      <p:sp>
        <p:nvSpPr>
          <p:cNvPr id="20" name="Text 18"/>
          <p:cNvSpPr/>
          <p:nvPr/>
        </p:nvSpPr>
        <p:spPr>
          <a:xfrm>
            <a:off x="4576217" y="3179911"/>
            <a:ext cx="313070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Desktop and identity gaps</a:t>
            </a:r>
            <a:endParaRPr lang="en-US" sz="1400" dirty="0"/>
          </a:p>
        </p:txBody>
      </p:sp>
      <p:sp>
        <p:nvSpPr>
          <p:cNvPr id="21" name="Text 19"/>
          <p:cNvSpPr/>
          <p:nvPr/>
        </p:nvSpPr>
        <p:spPr>
          <a:xfrm>
            <a:off x="4576217" y="3456732"/>
            <a:ext cx="313070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No GUI support, a barely used Windows driver, no agent identity</a:t>
            </a:r>
            <a:endParaRPr lang="en-US" sz="1200" dirty="0"/>
          </a:p>
        </p:txBody>
      </p:sp>
      <p:sp>
        <p:nvSpPr>
          <p:cNvPr id="22" name="Text 20"/>
          <p:cNvSpPr/>
          <p:nvPr/>
        </p:nvSpPr>
        <p:spPr>
          <a:xfrm>
            <a:off x="4576217" y="3916412"/>
            <a:ext cx="3130702"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Do:</a:t>
            </a:r>
            <a:r>
              <a:rPr lang="en-US" sz="1200" dirty="0">
                <a:solidFill>
                  <a:srgbClr val="18202A"/>
                </a:solidFill>
                <a:latin typeface="IBM Plex Sans" pitchFamily="34" charset="0"/>
                <a:ea typeface="IBM Plex Sans" pitchFamily="34" charset="-122"/>
                <a:cs typeface="IBM Plex Sans" pitchFamily="34" charset="-120"/>
              </a:rPr>
              <a:t> decide on a VM-class backend, with Cua and Daytona as designers</a:t>
            </a:r>
            <a:endParaRPr lang="en-US" sz="1200" dirty="0"/>
          </a:p>
        </p:txBody>
      </p:sp>
      <p:sp>
        <p:nvSpPr>
          <p:cNvPr id="23" name="Shape 21"/>
          <p:cNvSpPr/>
          <p:nvPr/>
        </p:nvSpPr>
        <p:spPr>
          <a:xfrm>
            <a:off x="7964984" y="3021161"/>
            <a:ext cx="3407866" cy="1450181"/>
          </a:xfrm>
          <a:prstGeom prst="roundRect">
            <a:avLst>
              <a:gd name="adj" fmla="val 4817"/>
            </a:avLst>
          </a:prstGeom>
          <a:solidFill>
            <a:srgbClr val="FFFFFF"/>
          </a:solidFill>
          <a:ln w="12700">
            <a:solidFill>
              <a:srgbClr val="CDD2D8"/>
            </a:solidFill>
            <a:prstDash val="solid"/>
          </a:ln>
        </p:spPr>
      </p:sp>
      <p:sp>
        <p:nvSpPr>
          <p:cNvPr id="24" name="Text 22"/>
          <p:cNvSpPr/>
          <p:nvPr/>
        </p:nvSpPr>
        <p:spPr>
          <a:xfrm>
            <a:off x="8149134" y="3179911"/>
            <a:ext cx="313075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Claims and fragile partners</a:t>
            </a:r>
            <a:endParaRPr lang="en-US" sz="1400" dirty="0"/>
          </a:p>
        </p:txBody>
      </p:sp>
      <p:sp>
        <p:nvSpPr>
          <p:cNvPr id="25" name="Text 23"/>
          <p:cNvSpPr/>
          <p:nvPr/>
        </p:nvSpPr>
        <p:spPr>
          <a:xfrm>
            <a:off x="8149134" y="3456732"/>
            <a:ext cx="313075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Vera's 1.8x names no baseline; small partners; Daytona's April incidents</a:t>
            </a:r>
            <a:endParaRPr lang="en-US" sz="1200" dirty="0"/>
          </a:p>
        </p:txBody>
      </p:sp>
      <p:sp>
        <p:nvSpPr>
          <p:cNvPr id="26" name="Text 24"/>
          <p:cNvSpPr/>
          <p:nvPr/>
        </p:nvSpPr>
        <p:spPr>
          <a:xfrm>
            <a:off x="8149134" y="3916412"/>
            <a:ext cx="3130753"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8202A"/>
                </a:solidFill>
                <a:latin typeface="IBM Plex Sans" pitchFamily="34" charset="0"/>
                <a:ea typeface="IBM Plex Sans" pitchFamily="34" charset="-122"/>
                <a:cs typeface="IBM Plex Sans" pitchFamily="34" charset="-120"/>
              </a:rPr>
              <a:t>Do:</a:t>
            </a:r>
            <a:r>
              <a:rPr lang="en-US" sz="1200" dirty="0">
                <a:solidFill>
                  <a:srgbClr val="18202A"/>
                </a:solidFill>
                <a:latin typeface="IBM Plex Sans" pitchFamily="34" charset="0"/>
                <a:ea typeface="IBM Plex Sans" pitchFamily="34" charset="-122"/>
                <a:cs typeface="IBM Plex Sans" pitchFamily="34" charset="-120"/>
              </a:rPr>
              <a:t> publish benchmarks with named baselines; stage commitments</a:t>
            </a:r>
            <a:endParaRPr lang="en-US" sz="1200" dirty="0"/>
          </a:p>
        </p:txBody>
      </p:sp>
      <p:sp>
        <p:nvSpPr>
          <p:cNvPr id="27" name="Text 25"/>
          <p:cNvSpPr/>
          <p:nvPr/>
        </p:nvSpPr>
        <p:spPr>
          <a:xfrm>
            <a:off x="812800" y="4655493"/>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8202A"/>
                </a:solidFill>
                <a:latin typeface="IBM Plex Sans" pitchFamily="34" charset="0"/>
                <a:ea typeface="IBM Plex Sans" pitchFamily="34" charset="-122"/>
                <a:cs typeface="IBM Plex Sans" pitchFamily="34" charset="-120"/>
              </a:rPr>
              <a:t>The two that can stop the plan are maturity and channel conflict. Both are fixable with a 1.0 date and clear messaging.</a:t>
            </a:r>
            <a:endParaRPr lang="en-US" sz="1400" dirty="0"/>
          </a:p>
        </p:txBody>
      </p:sp>
      <p:sp>
        <p:nvSpPr>
          <p:cNvPr id="28" name="Text 26"/>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6 · Where to invest</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Decisions to take together</a:t>
            </a:r>
            <a:endParaRPr lang="en-US" sz="2800" dirty="0"/>
          </a:p>
        </p:txBody>
      </p:sp>
      <p:sp>
        <p:nvSpPr>
          <p:cNvPr id="3" name="Shape 1"/>
          <p:cNvSpPr/>
          <p:nvPr/>
        </p:nvSpPr>
        <p:spPr>
          <a:xfrm>
            <a:off x="819150" y="1405880"/>
            <a:ext cx="3407817" cy="1696541"/>
          </a:xfrm>
          <a:prstGeom prst="roundRect">
            <a:avLst>
              <a:gd name="adj" fmla="val 4117"/>
            </a:avLst>
          </a:prstGeom>
          <a:solidFill>
            <a:srgbClr val="FFFFFF"/>
          </a:solidFill>
          <a:ln w="12700">
            <a:solidFill>
              <a:srgbClr val="CDD2D8"/>
            </a:solidFill>
            <a:prstDash val="solid"/>
          </a:ln>
        </p:spPr>
      </p:sp>
      <p:sp>
        <p:nvSpPr>
          <p:cNvPr id="4" name="Text 2"/>
          <p:cNvSpPr/>
          <p:nvPr/>
        </p:nvSpPr>
        <p:spPr>
          <a:xfrm>
            <a:off x="1003300" y="1564630"/>
            <a:ext cx="313070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1 · Positioning</a:t>
            </a:r>
            <a:endParaRPr lang="en-US" sz="1200" dirty="0"/>
          </a:p>
        </p:txBody>
      </p:sp>
      <p:sp>
        <p:nvSpPr>
          <p:cNvPr id="5" name="Text 3"/>
          <p:cNvSpPr/>
          <p:nvPr/>
        </p:nvSpPr>
        <p:spPr>
          <a:xfrm>
            <a:off x="1003300" y="1826220"/>
            <a:ext cx="3130702"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Adopt "OpenShell policy, any sandbox compute" and rule out a hosted OpenShell service</a:t>
            </a:r>
            <a:endParaRPr lang="en-US" sz="1200" dirty="0"/>
          </a:p>
        </p:txBody>
      </p:sp>
      <p:sp>
        <p:nvSpPr>
          <p:cNvPr id="6" name="Text 4"/>
          <p:cNvSpPr/>
          <p:nvPr/>
        </p:nvSpPr>
        <p:spPr>
          <a:xfrm>
            <a:off x="1003300" y="2547491"/>
            <a:ext cx="313070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Why now: conflict signals are public; conformance work opened Sep 30</a:t>
            </a:r>
            <a:endParaRPr lang="en-US" sz="1200" dirty="0"/>
          </a:p>
        </p:txBody>
      </p:sp>
      <p:sp>
        <p:nvSpPr>
          <p:cNvPr id="7" name="Shape 5"/>
          <p:cNvSpPr/>
          <p:nvPr/>
        </p:nvSpPr>
        <p:spPr>
          <a:xfrm>
            <a:off x="4392067" y="1405880"/>
            <a:ext cx="3407817" cy="1696541"/>
          </a:xfrm>
          <a:prstGeom prst="roundRect">
            <a:avLst>
              <a:gd name="adj" fmla="val 4117"/>
            </a:avLst>
          </a:prstGeom>
          <a:solidFill>
            <a:srgbClr val="FFFFFF"/>
          </a:solidFill>
          <a:ln w="12700">
            <a:solidFill>
              <a:srgbClr val="CDD2D8"/>
            </a:solidFill>
            <a:prstDash val="solid"/>
          </a:ln>
        </p:spPr>
      </p:sp>
      <p:sp>
        <p:nvSpPr>
          <p:cNvPr id="8" name="Text 6"/>
          <p:cNvSpPr/>
          <p:nvPr/>
        </p:nvSpPr>
        <p:spPr>
          <a:xfrm>
            <a:off x="4576217" y="1564630"/>
            <a:ext cx="313070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2 · Wave 1</a:t>
            </a:r>
            <a:endParaRPr lang="en-US" sz="1200" dirty="0"/>
          </a:p>
        </p:txBody>
      </p:sp>
      <p:sp>
        <p:nvSpPr>
          <p:cNvPr id="9" name="Text 7"/>
          <p:cNvSpPr/>
          <p:nvPr/>
        </p:nvSpPr>
        <p:spPr>
          <a:xfrm>
            <a:off x="4576217" y="1826220"/>
            <a:ext cx="3130702"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Fund an integration pod for Automation Anywhere, E2B, Daytona and UiPath; keep wave 2 light</a:t>
            </a:r>
            <a:endParaRPr lang="en-US" sz="1200" dirty="0"/>
          </a:p>
        </p:txBody>
      </p:sp>
      <p:sp>
        <p:nvSpPr>
          <p:cNvPr id="10" name="Text 8"/>
          <p:cNvSpPr/>
          <p:nvPr/>
        </p:nvSpPr>
        <p:spPr>
          <a:xfrm>
            <a:off x="4576217" y="2547491"/>
            <a:ext cx="313070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Why now: EnterpriseClaw GA lands in Q4; GTC DC is 60 days out</a:t>
            </a:r>
            <a:endParaRPr lang="en-US" sz="1200" dirty="0"/>
          </a:p>
        </p:txBody>
      </p:sp>
      <p:sp>
        <p:nvSpPr>
          <p:cNvPr id="11" name="Shape 9"/>
          <p:cNvSpPr/>
          <p:nvPr/>
        </p:nvSpPr>
        <p:spPr>
          <a:xfrm>
            <a:off x="7964984" y="1405880"/>
            <a:ext cx="3407866" cy="1696541"/>
          </a:xfrm>
          <a:prstGeom prst="roundRect">
            <a:avLst>
              <a:gd name="adj" fmla="val 4117"/>
            </a:avLst>
          </a:prstGeom>
          <a:solidFill>
            <a:srgbClr val="FFFFFF"/>
          </a:solidFill>
          <a:ln w="12700">
            <a:solidFill>
              <a:srgbClr val="CDD2D8"/>
            </a:solidFill>
            <a:prstDash val="solid"/>
          </a:ln>
        </p:spPr>
      </p:sp>
      <p:sp>
        <p:nvSpPr>
          <p:cNvPr id="12" name="Text 10"/>
          <p:cNvSpPr/>
          <p:nvPr/>
        </p:nvSpPr>
        <p:spPr>
          <a:xfrm>
            <a:off x="8149134" y="1564630"/>
            <a:ext cx="3130753"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3 · Model pull-through</a:t>
            </a:r>
            <a:endParaRPr lang="en-US" sz="1200" dirty="0"/>
          </a:p>
        </p:txBody>
      </p:sp>
      <p:sp>
        <p:nvSpPr>
          <p:cNvPr id="13" name="Text 11"/>
          <p:cNvSpPr/>
          <p:nvPr/>
        </p:nvSpPr>
        <p:spPr>
          <a:xfrm>
            <a:off x="8149134" y="1826220"/>
            <a:ext cx="3130753"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Nemotron defaults in NemoClaw and partner templates, NVIDIA providers on gateways, share tracked</a:t>
            </a:r>
            <a:endParaRPr lang="en-US" sz="1200" dirty="0"/>
          </a:p>
        </p:txBody>
      </p:sp>
      <p:sp>
        <p:nvSpPr>
          <p:cNvPr id="14" name="Text 12"/>
          <p:cNvSpPr/>
          <p:nvPr/>
        </p:nvSpPr>
        <p:spPr>
          <a:xfrm>
            <a:off x="8149134" y="2547491"/>
            <a:ext cx="313075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Why now: the router went away Sep 25; NemoClaw began migrating Oct 1</a:t>
            </a:r>
            <a:endParaRPr lang="en-US" sz="1200" dirty="0"/>
          </a:p>
        </p:txBody>
      </p:sp>
      <p:sp>
        <p:nvSpPr>
          <p:cNvPr id="15" name="Shape 13"/>
          <p:cNvSpPr/>
          <p:nvPr/>
        </p:nvSpPr>
        <p:spPr>
          <a:xfrm>
            <a:off x="819150" y="3267521"/>
            <a:ext cx="3407817" cy="1696541"/>
          </a:xfrm>
          <a:prstGeom prst="roundRect">
            <a:avLst>
              <a:gd name="adj" fmla="val 4117"/>
            </a:avLst>
          </a:prstGeom>
          <a:solidFill>
            <a:srgbClr val="FFFFFF"/>
          </a:solidFill>
          <a:ln w="12700">
            <a:solidFill>
              <a:srgbClr val="CDD2D8"/>
            </a:solidFill>
            <a:prstDash val="solid"/>
          </a:ln>
        </p:spPr>
      </p:sp>
      <p:sp>
        <p:nvSpPr>
          <p:cNvPr id="16" name="Text 14"/>
          <p:cNvSpPr/>
          <p:nvPr/>
        </p:nvSpPr>
        <p:spPr>
          <a:xfrm>
            <a:off x="1003300" y="3426271"/>
            <a:ext cx="313070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4 · Computer use</a:t>
            </a:r>
            <a:endParaRPr lang="en-US" sz="1200" dirty="0"/>
          </a:p>
        </p:txBody>
      </p:sp>
      <p:sp>
        <p:nvSpPr>
          <p:cNvPr id="17" name="Text 15"/>
          <p:cNvSpPr/>
          <p:nvPr/>
        </p:nvSpPr>
        <p:spPr>
          <a:xfrm>
            <a:off x="1003300" y="3687862"/>
            <a:ext cx="3130702"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Ask the OpenShell team if a VM-class desktop backend is on the 1.0 path; if yes, recruit Cua and Daytona</a:t>
            </a:r>
            <a:endParaRPr lang="en-US" sz="1200" dirty="0"/>
          </a:p>
        </p:txBody>
      </p:sp>
      <p:sp>
        <p:nvSpPr>
          <p:cNvPr id="18" name="Text 16"/>
          <p:cNvSpPr/>
          <p:nvPr/>
        </p:nvSpPr>
        <p:spPr>
          <a:xfrm>
            <a:off x="1003300" y="4409132"/>
            <a:ext cx="313070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Why now: the least contained surface at all four platforms</a:t>
            </a:r>
            <a:endParaRPr lang="en-US" sz="1200" dirty="0"/>
          </a:p>
        </p:txBody>
      </p:sp>
      <p:sp>
        <p:nvSpPr>
          <p:cNvPr id="19" name="Shape 17"/>
          <p:cNvSpPr/>
          <p:nvPr/>
        </p:nvSpPr>
        <p:spPr>
          <a:xfrm>
            <a:off x="4392067" y="3267521"/>
            <a:ext cx="3407817" cy="1696541"/>
          </a:xfrm>
          <a:prstGeom prst="roundRect">
            <a:avLst>
              <a:gd name="adj" fmla="val 4117"/>
            </a:avLst>
          </a:prstGeom>
          <a:solidFill>
            <a:srgbClr val="FFFFFF"/>
          </a:solidFill>
          <a:ln w="12700">
            <a:solidFill>
              <a:srgbClr val="CDD2D8"/>
            </a:solidFill>
            <a:prstDash val="solid"/>
          </a:ln>
        </p:spPr>
      </p:sp>
      <p:sp>
        <p:nvSpPr>
          <p:cNvPr id="20" name="Text 18"/>
          <p:cNvSpPr/>
          <p:nvPr/>
        </p:nvSpPr>
        <p:spPr>
          <a:xfrm>
            <a:off x="4576217" y="3426271"/>
            <a:ext cx="313070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5 · Capital programs</a:t>
            </a:r>
            <a:endParaRPr lang="en-US" sz="1200" dirty="0"/>
          </a:p>
        </p:txBody>
      </p:sp>
      <p:sp>
        <p:nvSpPr>
          <p:cNvPr id="21" name="Text 19"/>
          <p:cNvSpPr/>
          <p:nvPr/>
        </p:nvSpPr>
        <p:spPr>
          <a:xfrm>
            <a:off x="4576217" y="3687862"/>
            <a:ext cx="3130702"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Check Inception status for E2B, Daytona, Runloop and Cua, and open NVentures reviews</a:t>
            </a:r>
            <a:endParaRPr lang="en-US" sz="1200" dirty="0"/>
          </a:p>
        </p:txBody>
      </p:sp>
      <p:sp>
        <p:nvSpPr>
          <p:cNvPr id="22" name="Text 20"/>
          <p:cNvSpPr/>
          <p:nvPr/>
        </p:nvSpPr>
        <p:spPr>
          <a:xfrm>
            <a:off x="4576217" y="4409132"/>
            <a:ext cx="313070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Why now: inference clouds are buying sandbox vendors, as Baseten did with Blaxel</a:t>
            </a:r>
            <a:endParaRPr lang="en-US" sz="1200" dirty="0"/>
          </a:p>
        </p:txBody>
      </p:sp>
      <p:sp>
        <p:nvSpPr>
          <p:cNvPr id="23" name="Shape 21"/>
          <p:cNvSpPr/>
          <p:nvPr/>
        </p:nvSpPr>
        <p:spPr>
          <a:xfrm>
            <a:off x="7964984" y="3267521"/>
            <a:ext cx="3407866" cy="1696541"/>
          </a:xfrm>
          <a:prstGeom prst="roundRect">
            <a:avLst>
              <a:gd name="adj" fmla="val 4117"/>
            </a:avLst>
          </a:prstGeom>
          <a:solidFill>
            <a:srgbClr val="FFFFFF"/>
          </a:solidFill>
          <a:ln w="12700">
            <a:solidFill>
              <a:srgbClr val="CDD2D8"/>
            </a:solidFill>
            <a:prstDash val="solid"/>
          </a:ln>
        </p:spPr>
      </p:sp>
      <p:sp>
        <p:nvSpPr>
          <p:cNvPr id="24" name="Text 22"/>
          <p:cNvSpPr/>
          <p:nvPr/>
        </p:nvSpPr>
        <p:spPr>
          <a:xfrm>
            <a:off x="8149134" y="3426271"/>
            <a:ext cx="3130753"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7A12"/>
                </a:solidFill>
                <a:latin typeface="IBM Plex Mono" pitchFamily="49" charset="0"/>
                <a:ea typeface="IBM Plex Mono" pitchFamily="49" charset="-122"/>
                <a:cs typeface="IBM Plex Mono" pitchFamily="49" charset="-120"/>
              </a:rPr>
              <a:t>6 · GTC DC and our map</a:t>
            </a:r>
            <a:endParaRPr lang="en-US" sz="1200" dirty="0"/>
          </a:p>
        </p:txBody>
      </p:sp>
      <p:sp>
        <p:nvSpPr>
          <p:cNvPr id="25" name="Text 23"/>
          <p:cNvSpPr/>
          <p:nvPr/>
        </p:nvSpPr>
        <p:spPr>
          <a:xfrm>
            <a:off x="8149134" y="3687862"/>
            <a:ext cx="3130753"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Request sessions for AA, E2B and Daytona; add hyperscaler sandboxes, CoreWeave, Baseten, Docker, Modal to our row</a:t>
            </a:r>
            <a:endParaRPr lang="en-US" sz="1200" dirty="0"/>
          </a:p>
        </p:txBody>
      </p:sp>
      <p:sp>
        <p:nvSpPr>
          <p:cNvPr id="26" name="Text 24"/>
          <p:cNvSpPr/>
          <p:nvPr/>
        </p:nvSpPr>
        <p:spPr>
          <a:xfrm>
            <a:off x="8149134" y="4409132"/>
            <a:ext cx="313075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Why now: session slots and hardware need October requests</a:t>
            </a:r>
            <a:endParaRPr lang="en-US" sz="1200" dirty="0"/>
          </a:p>
        </p:txBody>
      </p:sp>
      <p:sp>
        <p:nvSpPr>
          <p:cNvPr id="27" name="Text 25"/>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6 · Where to invest</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Appendix: scoring method</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12230"/>
          <a:ext cx="6210300" cy="2697063"/>
        </p:xfrm>
        <a:graphic>
          <a:graphicData uri="http://schemas.openxmlformats.org/drawingml/2006/table">
            <a:tbl>
              <a:tblPr/>
              <a:tblGrid>
                <a:gridCol w="2608326"/>
                <a:gridCol w="3601974"/>
              </a:tblGrid>
              <a:tr h="317450">
                <a:tc>
                  <a:txBody>
                    <a:bodyPr/>
                    <a:lstStyle/>
                    <a:p>
                      <a:pPr indent="0" marL="0">
                        <a:lnSpc>
                          <a:spcPts val="1680"/>
                        </a:lnSpc>
                        <a:buNone/>
                      </a:pPr>
                      <a:r>
                        <a:rPr lang="en-US" sz="1200" b="1" dirty="0">
                          <a:solidFill>
                            <a:srgbClr val="18202A"/>
                          </a:solidFill>
                          <a:latin typeface="IBM Plex Sans" pitchFamily="34" charset="0"/>
                          <a:ea typeface="IBM Plex Sans" pitchFamily="34" charset="-122"/>
                          <a:cs typeface="IBM Plex Sans" pitchFamily="34" charset="-120"/>
                        </a:rPr>
                        <a:t>Criterion and weight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b="1" dirty="0">
                          <a:solidFill>
                            <a:srgbClr val="18202A"/>
                          </a:solidFill>
                          <a:latin typeface="IBM Plex Sans" pitchFamily="34" charset="0"/>
                          <a:ea typeface="IBM Plex Sans" pitchFamily="34" charset="-122"/>
                          <a:cs typeface="IBM Plex Sans" pitchFamily="34" charset="-120"/>
                        </a:rPr>
                        <a:t>What earns a 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r>
              <a:tr h="515541">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 NVIDIA pull-through, 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Sells or runs NVIDIA GPUs for agents or RL, with its own CPU fleet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B. OpenShell fit, 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OpenShell ships in the product or a preview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515541">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C. Reach, 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1B+ sandboxes, $1B+ ARR or 10M+ monthly downloads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515541">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D. Readiness and timing, 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Moved toward OpenShell and faces a near-term decision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515541">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E. Execution risk, 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Public or late-stage and well capitalized (higher is safer)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graphicFrame>
        <p:nvGraphicFramePr>
          <p:cNvPr id="4" name="Table 1"/>
          <p:cNvGraphicFramePr>
            <a:graphicFrameLocks noGrp="1"/>
          </p:cNvGraphicFramePr>
          <p:nvPr>
            <p:extLst>
              <p:ext uri="{D42A27DB-BD31-4B8C-83A1-F6EECF244321}">
                <p14:modId xmlns:p14="http://schemas.microsoft.com/office/powerpoint/2010/main" val="1579011935"/>
              </p:ext>
            </p:extLst>
          </p:nvPr>
        </p:nvGraphicFramePr>
        <p:xfrm>
          <a:off x="7251700" y="1412230"/>
          <a:ext cx="4127500" cy="3372594"/>
        </p:xfrm>
        <a:graphic>
          <a:graphicData uri="http://schemas.openxmlformats.org/drawingml/2006/table">
            <a:tbl>
              <a:tblPr/>
              <a:tblGrid>
                <a:gridCol w="1651000"/>
                <a:gridCol w="371475"/>
                <a:gridCol w="371475"/>
                <a:gridCol w="371475"/>
                <a:gridCol w="371475"/>
                <a:gridCol w="371475"/>
                <a:gridCol w="619125"/>
              </a:tblGrid>
              <a:tr h="317450">
                <a:tc>
                  <a:txBody>
                    <a:bodyPr/>
                    <a:lstStyle/>
                    <a:p>
                      <a:pPr indent="0" marL="0">
                        <a:lnSpc>
                          <a:spcPts val="1680"/>
                        </a:lnSpc>
                        <a:buNone/>
                      </a:pPr>
                      <a:r>
                        <a:rPr lang="en-US" sz="1200" b="1" dirty="0">
                          <a:solidFill>
                            <a:srgbClr val="18202A"/>
                          </a:solidFill>
                          <a:latin typeface="IBM Plex Sans" pitchFamily="34" charset="0"/>
                          <a:ea typeface="IBM Plex Sans" pitchFamily="34" charset="-122"/>
                          <a:cs typeface="IBM Plex Sans" pitchFamily="34" charset="-120"/>
                        </a:rPr>
                        <a:t>Company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algn="ctr" indent="0" marL="0">
                        <a:lnSpc>
                          <a:spcPts val="1680"/>
                        </a:lnSpc>
                        <a:buNone/>
                      </a:pPr>
                      <a:r>
                        <a:rPr lang="en-US" sz="1200" b="1" dirty="0">
                          <a:solidFill>
                            <a:srgbClr val="18202A"/>
                          </a:solidFill>
                          <a:latin typeface="IBM Plex Sans" pitchFamily="34" charset="0"/>
                          <a:ea typeface="IBM Plex Sans" pitchFamily="34" charset="-122"/>
                          <a:cs typeface="IBM Plex Sans" pitchFamily="34" charset="-120"/>
                        </a:rPr>
                        <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algn="ctr" indent="0" marL="0">
                        <a:lnSpc>
                          <a:spcPts val="1680"/>
                        </a:lnSpc>
                        <a:buNone/>
                      </a:pPr>
                      <a:r>
                        <a:rPr lang="en-US" sz="1200" b="1" dirty="0">
                          <a:solidFill>
                            <a:srgbClr val="18202A"/>
                          </a:solidFill>
                          <a:latin typeface="IBM Plex Sans" pitchFamily="34" charset="0"/>
                          <a:ea typeface="IBM Plex Sans" pitchFamily="34" charset="-122"/>
                          <a:cs typeface="IBM Plex Sans" pitchFamily="34" charset="-120"/>
                        </a:rPr>
                        <a:t>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algn="ctr" indent="0" marL="0">
                        <a:lnSpc>
                          <a:spcPts val="1680"/>
                        </a:lnSpc>
                        <a:buNone/>
                      </a:pPr>
                      <a:r>
                        <a:rPr lang="en-US" sz="1200" b="1" dirty="0">
                          <a:solidFill>
                            <a:srgbClr val="18202A"/>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algn="ctr" indent="0" marL="0">
                        <a:lnSpc>
                          <a:spcPts val="1680"/>
                        </a:lnSpc>
                        <a:buNone/>
                      </a:pPr>
                      <a:r>
                        <a:rPr lang="en-US" sz="1200" b="1" dirty="0">
                          <a:solidFill>
                            <a:srgbClr val="18202A"/>
                          </a:solidFill>
                          <a:latin typeface="IBM Plex Sans" pitchFamily="34" charset="0"/>
                          <a:ea typeface="IBM Plex Sans" pitchFamily="34" charset="-122"/>
                          <a:cs typeface="IBM Plex Sans" pitchFamily="34" charset="-120"/>
                        </a:rPr>
                        <a:t>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algn="ctr" indent="0" marL="0">
                        <a:lnSpc>
                          <a:spcPts val="1680"/>
                        </a:lnSpc>
                        <a:buNone/>
                      </a:pPr>
                      <a:r>
                        <a:rPr lang="en-US" sz="1200" b="1" dirty="0">
                          <a:solidFill>
                            <a:srgbClr val="18202A"/>
                          </a:solidFill>
                          <a:latin typeface="IBM Plex Sans" pitchFamily="34" charset="0"/>
                          <a:ea typeface="IBM Plex Sans" pitchFamily="34" charset="-122"/>
                          <a:cs typeface="IBM Plex Sans" pitchFamily="34" charset="-120"/>
                        </a:rPr>
                        <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algn="r" indent="0" marL="0">
                        <a:lnSpc>
                          <a:spcPts val="1680"/>
                        </a:lnSpc>
                        <a:buNone/>
                      </a:pPr>
                      <a:r>
                        <a:rPr lang="en-US" sz="1200" b="1" dirty="0">
                          <a:solidFill>
                            <a:srgbClr val="18202A"/>
                          </a:solidFill>
                          <a:latin typeface="IBM Plex Sans" pitchFamily="34" charset="0"/>
                          <a:ea typeface="IBM Plex Sans" pitchFamily="34" charset="-122"/>
                          <a:cs typeface="IBM Plex Sans" pitchFamily="34" charset="-120"/>
                        </a:rPr>
                        <a:t>Score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r>
              <a:tr h="515541">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Automation Anywhere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4.30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E2B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3.95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Daytona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3.95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UiPath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3.90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Vercel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3.60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Kore.ai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3.55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Uniphore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3.45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Runloop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2.55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Cua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ct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1.90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sp>
        <p:nvSpPr>
          <p:cNvPr id="5" name="Text 1"/>
          <p:cNvSpPr/>
          <p:nvPr/>
        </p:nvSpPr>
        <p:spPr>
          <a:xfrm>
            <a:off x="812800" y="4962624"/>
            <a:ext cx="1088339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Sensitivity: with equal weights, an OpenShell-first weighting (fit 40%) or a revenue-first weighting (pull-through 45%), the same four companies lead; only their order changes. Scores are our judgment from sourced facts and should be recalibrated with internal data on GPU use and account ownership.</a:t>
            </a:r>
            <a:endParaRPr lang="en-US" sz="1200" dirty="0"/>
          </a:p>
        </p:txBody>
      </p:sp>
      <p:sp>
        <p:nvSpPr>
          <p:cNvPr id="6" name="Text 2"/>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Appendix</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Appendix: the wider sandbox landscape</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12230"/>
          <a:ext cx="10553700" cy="3491954"/>
        </p:xfrm>
        <a:graphic>
          <a:graphicData uri="http://schemas.openxmlformats.org/drawingml/2006/table">
            <a:tbl>
              <a:tblPr/>
              <a:tblGrid>
                <a:gridCol w="2743962"/>
                <a:gridCol w="1688592"/>
                <a:gridCol w="1794129"/>
                <a:gridCol w="1794129"/>
                <a:gridCol w="2532888"/>
              </a:tblGrid>
              <a:tr h="317450">
                <a:tc>
                  <a:txBody>
                    <a:bodyPr/>
                    <a:lstStyle/>
                    <a:p>
                      <a:pPr indent="0" marL="0">
                        <a:lnSpc>
                          <a:spcPts val="1680"/>
                        </a:lnSpc>
                        <a:buNone/>
                      </a:pPr>
                      <a:r>
                        <a:rPr lang="en-US" sz="1200" b="1" dirty="0">
                          <a:solidFill>
                            <a:srgbClr val="18202A"/>
                          </a:solidFill>
                          <a:latin typeface="IBM Plex Sans" pitchFamily="34" charset="0"/>
                          <a:ea typeface="IBM Plex Sans" pitchFamily="34" charset="-122"/>
                          <a:cs typeface="IBM Plex Sans" pitchFamily="34" charset="-120"/>
                        </a:rPr>
                        <a:t>Offering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b="1" dirty="0">
                          <a:solidFill>
                            <a:srgbClr val="18202A"/>
                          </a:solidFill>
                          <a:latin typeface="IBM Plex Sans" pitchFamily="34" charset="0"/>
                          <a:ea typeface="IBM Plex Sans" pitchFamily="34" charset="-122"/>
                          <a:cs typeface="IBM Plex Sans" pitchFamily="34" charset="-120"/>
                        </a:rPr>
                        <a:t>Isolation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b="1" dirty="0">
                          <a:solidFill>
                            <a:srgbClr val="18202A"/>
                          </a:solidFill>
                          <a:latin typeface="IBM Plex Sans" pitchFamily="34" charset="0"/>
                          <a:ea typeface="IBM Plex Sans" pitchFamily="34" charset="-122"/>
                          <a:cs typeface="IBM Plex Sans" pitchFamily="34" charset="-120"/>
                        </a:rPr>
                        <a:t>GPUs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b="1" dirty="0">
                          <a:solidFill>
                            <a:srgbClr val="18202A"/>
                          </a:solidFill>
                          <a:latin typeface="IBM Plex Sans" pitchFamily="34" charset="0"/>
                          <a:ea typeface="IBM Plex Sans" pitchFamily="34" charset="-122"/>
                          <a:cs typeface="IBM Plex Sans" pitchFamily="34" charset="-120"/>
                        </a:rPr>
                        <a:t>CPU list price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c>
                  <a:txBody>
                    <a:bodyPr/>
                    <a:lstStyle/>
                    <a:p>
                      <a:pPr indent="0" marL="0">
                        <a:lnSpc>
                          <a:spcPts val="1680"/>
                        </a:lnSpc>
                        <a:buNone/>
                      </a:pPr>
                      <a:r>
                        <a:rPr lang="en-US" sz="1200" b="1" dirty="0">
                          <a:solidFill>
                            <a:srgbClr val="18202A"/>
                          </a:solidFill>
                          <a:latin typeface="IBM Plex Sans" pitchFamily="34" charset="0"/>
                          <a:ea typeface="IBM Plex Sans" pitchFamily="34" charset="-122"/>
                          <a:cs typeface="IBM Plex Sans" pitchFamily="34" charset="-120"/>
                        </a:rPr>
                        <a:t>Where NVIDIA shows up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9B7"/>
                      </a:solidFill>
                      <a:prstDash val="solid"/>
                      <a:round/>
                      <a:headEnd type="none" w="med" len="med"/>
                      <a:tailEnd type="none" w="med" len="med"/>
                    </a:lnL>
                    <a:lnR w="12700" cap="flat" cmpd="sng" algn="ctr">
                      <a:solidFill>
                        <a:srgbClr val="B9B9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9B9B7"/>
                      </a:solidFill>
                      <a:prstDash val="solid"/>
                      <a:round/>
                      <a:headEnd type="none" w="med" len="med"/>
                      <a:tailEnd type="none" w="med" len="med"/>
                    </a:lnB>
                    <a:solidFill>
                      <a:srgbClr val="E8E8E5"/>
                    </a:solidFill>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AWS AgentCore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microVM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Instances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$0.09 to $0.13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NVIDIA G-family GPUs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9B9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Google GKE Agent Sandbox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gVisor; Kata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Via gVisor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GKE compute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NeMo Gym in agent-sandbox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Azure Container Apps Sandboxes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Hyper-V microVM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Not documented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Not captured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None found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Modal Sandboxes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gVisor or VM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NVIDIA T4 to B300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$0.071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NVIDIA GPU catalog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CoreWeave Sandboxes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Isolated VM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CPU and GPU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Undisclosed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Vera racks; safety partner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Baseten and Blaxel Carbon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microVM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Not stated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Not published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OpenShell template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Cloudflare Sandbox SDK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microVM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$0.072, active CPU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None found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Docker Cloud Sandboxes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microVM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From $0.07 an hour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Competing policy spec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Northflank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Kata or gVisor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L4 to H100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$0.0167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NVIDIA GPUs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317450">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Anthropic Managed Agents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Not detailed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Not stated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$0.08 a session-hour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8202A"/>
                          </a:solidFill>
                          <a:latin typeface="IBM Plex Sans" pitchFamily="34" charset="0"/>
                          <a:ea typeface="IBM Plex Sans" pitchFamily="34" charset="-122"/>
                          <a:cs typeface="IBM Plex Sans" pitchFamily="34" charset="-120"/>
                        </a:rPr>
                        <a:t>Reported OpenShell tie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sp>
        <p:nvSpPr>
          <p:cNvPr id="4" name="Text 1"/>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IBM Plex Sans" pitchFamily="34" charset="0"/>
                <a:ea typeface="IBM Plex Sans" pitchFamily="34" charset="-122"/>
                <a:cs typeface="IBM Plex Sans" pitchFamily="34" charset="-120"/>
              </a:rPr>
              <a:t>Prices are per vCPU-hour unless stated. Modal's $355M Series C (May 2026) and Baseten's purchase of Blaxel (Sep 2026) show where capital is going.</a:t>
            </a:r>
            <a:endParaRPr lang="en-US" sz="1200" dirty="0"/>
          </a:p>
        </p:txBody>
      </p:sp>
      <p:sp>
        <p:nvSpPr>
          <p:cNvPr id="5" name="Text 2"/>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Appendix</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202A"/>
                </a:solidFill>
                <a:latin typeface="IBM Plex Sans" pitchFamily="34" charset="0"/>
                <a:ea typeface="IBM Plex Sans" pitchFamily="34" charset="-122"/>
                <a:cs typeface="IBM Plex Sans" pitchFamily="34" charset="-120"/>
              </a:rPr>
              <a:t>Appendix: sources and fact-check notes</a:t>
            </a:r>
            <a:endParaRPr lang="en-US" sz="2800" dirty="0"/>
          </a:p>
        </p:txBody>
      </p:sp>
      <p:sp>
        <p:nvSpPr>
          <p:cNvPr id="3" name="Shape 1"/>
          <p:cNvSpPr/>
          <p:nvPr/>
        </p:nvSpPr>
        <p:spPr>
          <a:xfrm>
            <a:off x="819150" y="1405880"/>
            <a:ext cx="6591300" cy="3766393"/>
          </a:xfrm>
          <a:prstGeom prst="roundRect">
            <a:avLst>
              <a:gd name="adj" fmla="val 1855"/>
            </a:avLst>
          </a:prstGeom>
          <a:solidFill>
            <a:srgbClr val="FFFFFF"/>
          </a:solidFill>
          <a:ln w="12700">
            <a:solidFill>
              <a:srgbClr val="CDD2D8"/>
            </a:solidFill>
            <a:prstDash val="solid"/>
          </a:ln>
        </p:spPr>
      </p:sp>
      <p:sp>
        <p:nvSpPr>
          <p:cNvPr id="4" name="Text 2"/>
          <p:cNvSpPr/>
          <p:nvPr/>
        </p:nvSpPr>
        <p:spPr>
          <a:xfrm>
            <a:off x="1003300" y="1564630"/>
            <a:ext cx="640969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Key sources</a:t>
            </a:r>
            <a:endParaRPr lang="en-US" sz="1400" dirty="0"/>
          </a:p>
        </p:txBody>
      </p:sp>
      <p:sp>
        <p:nvSpPr>
          <p:cNvPr id="5" name="Text 3"/>
          <p:cNvSpPr/>
          <p:nvPr/>
        </p:nvSpPr>
        <p:spPr>
          <a:xfrm>
            <a:off x="1003300" y="1828750"/>
            <a:ext cx="6409690" cy="223490"/>
          </a:xfrm>
          <a:prstGeom prst="rect">
            <a:avLst/>
          </a:prstGeom>
          <a:noFill/>
          <a:ln/>
        </p:spPr>
        <p:txBody>
          <a:bodyPr wrap="square" lIns="0" tIns="0" rIns="0" bIns="0" rtlCol="0" anchor="t">
            <a:normAutofit/>
          </a:bodyPr>
          <a:lstStyle/>
          <a:p>
            <a:pPr algn="l" indent="0" marL="0">
              <a:lnSpc>
                <a:spcPts val="1560"/>
              </a:lnSpc>
              <a:buNone/>
            </a:pPr>
            <a:r>
              <a:rPr lang="en-US" sz="1200" u="sng" dirty="0">
                <a:solidFill>
                  <a:srgbClr val="18202A"/>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NVIDIA Open Agent Safety Platform release, Sep 28, 2026</a:t>
            </a:r>
            <a:endParaRPr lang="en-US" sz="1200" dirty="0"/>
          </a:p>
        </p:txBody>
      </p:sp>
      <p:sp>
        <p:nvSpPr>
          <p:cNvPr id="6" name="Text 4"/>
          <p:cNvSpPr/>
          <p:nvPr/>
        </p:nvSpPr>
        <p:spPr>
          <a:xfrm>
            <a:off x="1003300" y="2077641"/>
            <a:ext cx="6409690" cy="223490"/>
          </a:xfrm>
          <a:prstGeom prst="rect">
            <a:avLst/>
          </a:prstGeom>
          <a:noFill/>
          <a:ln/>
        </p:spPr>
        <p:txBody>
          <a:bodyPr wrap="square" lIns="0" tIns="0" rIns="0" bIns="0" rtlCol="0" anchor="t">
            <a:normAutofit/>
          </a:bodyPr>
          <a:lstStyle/>
          <a:p>
            <a:pPr algn="l" indent="0" marL="0">
              <a:lnSpc>
                <a:spcPts val="1560"/>
              </a:lnSpc>
              <a:buNone/>
            </a:pPr>
            <a:r>
              <a:rPr lang="en-US" sz="1200" u="sng" dirty="0">
                <a:solidFill>
                  <a:srgbClr val="18202A"/>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OpenShell repository, releases and telemetry reports</a:t>
            </a:r>
            <a:endParaRPr lang="en-US" sz="1200" dirty="0"/>
          </a:p>
        </p:txBody>
      </p:sp>
      <p:sp>
        <p:nvSpPr>
          <p:cNvPr id="7" name="Text 5"/>
          <p:cNvSpPr/>
          <p:nvPr/>
        </p:nvSpPr>
        <p:spPr>
          <a:xfrm>
            <a:off x="1003300" y="2326531"/>
            <a:ext cx="6409690" cy="223490"/>
          </a:xfrm>
          <a:prstGeom prst="rect">
            <a:avLst/>
          </a:prstGeom>
          <a:noFill/>
          <a:ln/>
        </p:spPr>
        <p:txBody>
          <a:bodyPr wrap="square" lIns="0" tIns="0" rIns="0" bIns="0" rtlCol="0" anchor="t">
            <a:normAutofit/>
          </a:bodyPr>
          <a:lstStyle/>
          <a:p>
            <a:pPr algn="l" indent="0" marL="0">
              <a:lnSpc>
                <a:spcPts val="1560"/>
              </a:lnSpc>
              <a:buNone/>
            </a:pPr>
            <a:r>
              <a:rPr lang="en-US" sz="1200" u="sng" dirty="0">
                <a:solidFill>
                  <a:srgbClr val="18202A"/>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OpenShell 0.1.0 upgrade guide</a:t>
            </a:r>
            <a:endParaRPr lang="en-US" sz="1200" dirty="0"/>
          </a:p>
        </p:txBody>
      </p:sp>
      <p:sp>
        <p:nvSpPr>
          <p:cNvPr id="8" name="Text 6"/>
          <p:cNvSpPr/>
          <p:nvPr/>
        </p:nvSpPr>
        <p:spPr>
          <a:xfrm>
            <a:off x="1003300" y="2575421"/>
            <a:ext cx="6409690" cy="223490"/>
          </a:xfrm>
          <a:prstGeom prst="rect">
            <a:avLst/>
          </a:prstGeom>
          <a:noFill/>
          <a:ln/>
        </p:spPr>
        <p:txBody>
          <a:bodyPr wrap="square" lIns="0" tIns="0" rIns="0" bIns="0" rtlCol="0" anchor="t">
            <a:normAutofit/>
          </a:bodyPr>
          <a:lstStyle/>
          <a:p>
            <a:pPr algn="l" indent="0" marL="0">
              <a:lnSpc>
                <a:spcPts val="1560"/>
              </a:lnSpc>
              <a:buNone/>
            </a:pPr>
            <a:r>
              <a:rPr lang="en-US" sz="1200" u="sng" dirty="0">
                <a:solidFill>
                  <a:srgbClr val="18202A"/>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NVIDIA blog on CoreWeave Vera sandbox results, Sep 30, 2026</a:t>
            </a:r>
            <a:endParaRPr lang="en-US" sz="1200" dirty="0"/>
          </a:p>
        </p:txBody>
      </p:sp>
      <p:sp>
        <p:nvSpPr>
          <p:cNvPr id="9" name="Text 7"/>
          <p:cNvSpPr/>
          <p:nvPr/>
        </p:nvSpPr>
        <p:spPr>
          <a:xfrm>
            <a:off x="1003300" y="2824311"/>
            <a:ext cx="6409690" cy="223490"/>
          </a:xfrm>
          <a:prstGeom prst="rect">
            <a:avLst/>
          </a:prstGeom>
          <a:noFill/>
          <a:ln/>
        </p:spPr>
        <p:txBody>
          <a:bodyPr wrap="square" lIns="0" tIns="0" rIns="0" bIns="0" rtlCol="0" anchor="t">
            <a:normAutofit/>
          </a:bodyPr>
          <a:lstStyle/>
          <a:p>
            <a:pPr algn="l" indent="0" marL="0">
              <a:lnSpc>
                <a:spcPts val="1560"/>
              </a:lnSpc>
              <a:buNone/>
            </a:pPr>
            <a:r>
              <a:rPr lang="en-US" sz="1200" u="sng" dirty="0">
                <a:solidFill>
                  <a:srgbClr val="18202A"/>
                </a:solidFill>
                <a:latin typeface="IBM Plex Sans" pitchFamily="34" charset="0"/>
                <a:ea typeface="IBM Plex Sans" pitchFamily="34" charset="-122"/>
                <a:cs typeface="IBM Plex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Automation Anywhere EnterpriseClaw release, May 19, 2026</a:t>
            </a:r>
            <a:endParaRPr lang="en-US" sz="1200" dirty="0"/>
          </a:p>
        </p:txBody>
      </p:sp>
      <p:sp>
        <p:nvSpPr>
          <p:cNvPr id="10" name="Text 8"/>
          <p:cNvSpPr/>
          <p:nvPr/>
        </p:nvSpPr>
        <p:spPr>
          <a:xfrm>
            <a:off x="1003300" y="3073202"/>
            <a:ext cx="6409690" cy="223490"/>
          </a:xfrm>
          <a:prstGeom prst="rect">
            <a:avLst/>
          </a:prstGeom>
          <a:noFill/>
          <a:ln/>
        </p:spPr>
        <p:txBody>
          <a:bodyPr wrap="square" lIns="0" tIns="0" rIns="0" bIns="0" rtlCol="0" anchor="t">
            <a:normAutofit/>
          </a:bodyPr>
          <a:lstStyle/>
          <a:p>
            <a:pPr algn="l" indent="0" marL="0">
              <a:lnSpc>
                <a:spcPts val="1560"/>
              </a:lnSpc>
              <a:buNone/>
            </a:pPr>
            <a:r>
              <a:rPr lang="en-US" sz="1200" u="sng" dirty="0">
                <a:solidFill>
                  <a:srgbClr val="18202A"/>
                </a:solidFill>
                <a:latin typeface="IBM Plex Sans" pitchFamily="34" charset="0"/>
                <a:ea typeface="IBM Plex Sans" pitchFamily="34" charset="-122"/>
                <a:cs typeface="IBM Plex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UiPath second quarter fiscal 2027 results, Sep 3, 2026</a:t>
            </a:r>
            <a:endParaRPr lang="en-US" sz="1200" dirty="0"/>
          </a:p>
        </p:txBody>
      </p:sp>
      <p:sp>
        <p:nvSpPr>
          <p:cNvPr id="11" name="Text 9"/>
          <p:cNvSpPr/>
          <p:nvPr/>
        </p:nvSpPr>
        <p:spPr>
          <a:xfrm>
            <a:off x="1003300" y="3322092"/>
            <a:ext cx="6409690" cy="223490"/>
          </a:xfrm>
          <a:prstGeom prst="rect">
            <a:avLst/>
          </a:prstGeom>
          <a:noFill/>
          <a:ln/>
        </p:spPr>
        <p:txBody>
          <a:bodyPr wrap="square" lIns="0" tIns="0" rIns="0" bIns="0" rtlCol="0" anchor="t">
            <a:normAutofit/>
          </a:bodyPr>
          <a:lstStyle/>
          <a:p>
            <a:pPr algn="l" indent="0" marL="0">
              <a:lnSpc>
                <a:spcPts val="1560"/>
              </a:lnSpc>
              <a:buNone/>
            </a:pPr>
            <a:r>
              <a:rPr lang="en-US" sz="1200" u="sng" dirty="0">
                <a:solidFill>
                  <a:srgbClr val="18202A"/>
                </a:solidFill>
                <a:latin typeface="IBM Plex Sans" pitchFamily="34" charset="0"/>
                <a:ea typeface="IBM Plex Sans" pitchFamily="34" charset="-122"/>
                <a:cs typeface="IBM Plex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Kore.ai code tools documentation</a:t>
            </a:r>
            <a:endParaRPr lang="en-US" sz="1200" dirty="0"/>
          </a:p>
        </p:txBody>
      </p:sp>
      <p:sp>
        <p:nvSpPr>
          <p:cNvPr id="12" name="Text 10"/>
          <p:cNvSpPr/>
          <p:nvPr/>
        </p:nvSpPr>
        <p:spPr>
          <a:xfrm>
            <a:off x="1003300" y="3570982"/>
            <a:ext cx="6409690" cy="223490"/>
          </a:xfrm>
          <a:prstGeom prst="rect">
            <a:avLst/>
          </a:prstGeom>
          <a:noFill/>
          <a:ln/>
        </p:spPr>
        <p:txBody>
          <a:bodyPr wrap="square" lIns="0" tIns="0" rIns="0" bIns="0" rtlCol="0" anchor="t">
            <a:normAutofit/>
          </a:bodyPr>
          <a:lstStyle/>
          <a:p>
            <a:pPr algn="l" indent="0" marL="0">
              <a:lnSpc>
                <a:spcPts val="1560"/>
              </a:lnSpc>
              <a:buNone/>
            </a:pPr>
            <a:r>
              <a:rPr lang="en-US" sz="1200" u="sng" dirty="0">
                <a:solidFill>
                  <a:srgbClr val="18202A"/>
                </a:solidFill>
                <a:latin typeface="IBM Plex Sans" pitchFamily="34" charset="0"/>
                <a:ea typeface="IBM Plex Sans" pitchFamily="34" charset="-122"/>
                <a:cs typeface="IBM Plex Sans" pitchFamily="34" charset="-120"/>
                <a:hlinkClick r:id="rId8" invalidUrl="" action="" tgtFrame="" tooltip="" history="1" highlightClick="0" endSnd="0">
                  <a:extLst>
                    <a:ext uri="{A12FA001-AC4F-418D-AE19-62706E023703}">
                      <ahyp:hlinkClr xmlns:ahyp="http://schemas.microsoft.com/office/drawing/2018/hyperlinkcolor" val="tx"/>
                    </a:ext>
                  </a:extLst>
                </a:hlinkClick>
              </a:rPr>
              <a:t>Uniphore Nemotron 3.5 Lightning benchmark, Aug 11, 2026</a:t>
            </a:r>
            <a:endParaRPr lang="en-US" sz="1200" dirty="0"/>
          </a:p>
        </p:txBody>
      </p:sp>
      <p:sp>
        <p:nvSpPr>
          <p:cNvPr id="13" name="Text 11"/>
          <p:cNvSpPr/>
          <p:nvPr/>
        </p:nvSpPr>
        <p:spPr>
          <a:xfrm>
            <a:off x="1003300" y="3819872"/>
            <a:ext cx="6409690" cy="223490"/>
          </a:xfrm>
          <a:prstGeom prst="rect">
            <a:avLst/>
          </a:prstGeom>
          <a:noFill/>
          <a:ln/>
        </p:spPr>
        <p:txBody>
          <a:bodyPr wrap="square" lIns="0" tIns="0" rIns="0" bIns="0" rtlCol="0" anchor="t">
            <a:normAutofit/>
          </a:bodyPr>
          <a:lstStyle/>
          <a:p>
            <a:pPr algn="l" indent="0" marL="0">
              <a:lnSpc>
                <a:spcPts val="1560"/>
              </a:lnSpc>
              <a:buNone/>
            </a:pPr>
            <a:r>
              <a:rPr lang="en-US" sz="1200" u="sng" dirty="0">
                <a:solidFill>
                  <a:srgbClr val="18202A"/>
                </a:solidFill>
                <a:latin typeface="IBM Plex Sans" pitchFamily="34" charset="0"/>
                <a:ea typeface="IBM Plex Sans" pitchFamily="34" charset="-122"/>
                <a:cs typeface="IBM Plex Sans" pitchFamily="34" charset="-120"/>
                <a:hlinkClick r:id="rId9" invalidUrl="" action="" tgtFrame="" tooltip="" history="1" highlightClick="0" endSnd="0">
                  <a:extLst>
                    <a:ext uri="{A12FA001-AC4F-418D-AE19-62706E023703}">
                      <ahyp:hlinkClr xmlns:ahyp="http://schemas.microsoft.com/office/drawing/2018/hyperlinkcolor" val="tx"/>
                    </a:ext>
                  </a:extLst>
                </a:hlinkClick>
              </a:rPr>
              <a:t>E2B openshell-e2b repository</a:t>
            </a:r>
            <a:endParaRPr lang="en-US" sz="1200" dirty="0"/>
          </a:p>
        </p:txBody>
      </p:sp>
      <p:sp>
        <p:nvSpPr>
          <p:cNvPr id="14" name="Text 12"/>
          <p:cNvSpPr/>
          <p:nvPr/>
        </p:nvSpPr>
        <p:spPr>
          <a:xfrm>
            <a:off x="1003300" y="4068763"/>
            <a:ext cx="6409690" cy="223490"/>
          </a:xfrm>
          <a:prstGeom prst="rect">
            <a:avLst/>
          </a:prstGeom>
          <a:noFill/>
          <a:ln/>
        </p:spPr>
        <p:txBody>
          <a:bodyPr wrap="square" lIns="0" tIns="0" rIns="0" bIns="0" rtlCol="0" anchor="t">
            <a:normAutofit/>
          </a:bodyPr>
          <a:lstStyle/>
          <a:p>
            <a:pPr algn="l" indent="0" marL="0">
              <a:lnSpc>
                <a:spcPts val="1560"/>
              </a:lnSpc>
              <a:buNone/>
            </a:pPr>
            <a:r>
              <a:rPr lang="en-US" sz="1200" u="sng" dirty="0">
                <a:solidFill>
                  <a:srgbClr val="18202A"/>
                </a:solidFill>
                <a:latin typeface="IBM Plex Sans" pitchFamily="34" charset="0"/>
                <a:ea typeface="IBM Plex Sans" pitchFamily="34" charset="-122"/>
                <a:cs typeface="IBM Plex San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Daytona closed-source announcement, Jun 11, 2026</a:t>
            </a:r>
            <a:endParaRPr lang="en-US" sz="1200" dirty="0"/>
          </a:p>
        </p:txBody>
      </p:sp>
      <p:sp>
        <p:nvSpPr>
          <p:cNvPr id="15" name="Text 13"/>
          <p:cNvSpPr/>
          <p:nvPr/>
        </p:nvSpPr>
        <p:spPr>
          <a:xfrm>
            <a:off x="1003300" y="4317653"/>
            <a:ext cx="6409690" cy="223490"/>
          </a:xfrm>
          <a:prstGeom prst="rect">
            <a:avLst/>
          </a:prstGeom>
          <a:noFill/>
          <a:ln/>
        </p:spPr>
        <p:txBody>
          <a:bodyPr wrap="square" lIns="0" tIns="0" rIns="0" bIns="0" rtlCol="0" anchor="t">
            <a:normAutofit/>
          </a:bodyPr>
          <a:lstStyle/>
          <a:p>
            <a:pPr algn="l" indent="0" marL="0">
              <a:lnSpc>
                <a:spcPts val="1560"/>
              </a:lnSpc>
              <a:buNone/>
            </a:pPr>
            <a:r>
              <a:rPr lang="en-US" sz="1200" u="sng" dirty="0">
                <a:solidFill>
                  <a:srgbClr val="18202A"/>
                </a:solidFill>
                <a:latin typeface="IBM Plex Sans" pitchFamily="34" charset="0"/>
                <a:ea typeface="IBM Plex Sans" pitchFamily="34" charset="-122"/>
                <a:cs typeface="IBM Plex San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Vercel AI Gateway production index, Sep 2026</a:t>
            </a:r>
            <a:endParaRPr lang="en-US" sz="1200" dirty="0"/>
          </a:p>
        </p:txBody>
      </p:sp>
      <p:sp>
        <p:nvSpPr>
          <p:cNvPr id="16" name="Text 14"/>
          <p:cNvSpPr/>
          <p:nvPr/>
        </p:nvSpPr>
        <p:spPr>
          <a:xfrm>
            <a:off x="1003300" y="4566543"/>
            <a:ext cx="6409690" cy="223490"/>
          </a:xfrm>
          <a:prstGeom prst="rect">
            <a:avLst/>
          </a:prstGeom>
          <a:noFill/>
          <a:ln/>
        </p:spPr>
        <p:txBody>
          <a:bodyPr wrap="square" lIns="0" tIns="0" rIns="0" bIns="0" rtlCol="0" anchor="t">
            <a:normAutofit/>
          </a:bodyPr>
          <a:lstStyle/>
          <a:p>
            <a:pPr algn="l" indent="0" marL="0">
              <a:lnSpc>
                <a:spcPts val="1560"/>
              </a:lnSpc>
              <a:buNone/>
            </a:pPr>
            <a:r>
              <a:rPr lang="en-US" sz="1200" u="sng" dirty="0">
                <a:solidFill>
                  <a:srgbClr val="18202A"/>
                </a:solidFill>
                <a:latin typeface="IBM Plex Sans" pitchFamily="34" charset="0"/>
                <a:ea typeface="IBM Plex Sans" pitchFamily="34" charset="-122"/>
                <a:cs typeface="IBM Plex Sans" pitchFamily="34" charset="-120"/>
                <a:hlinkClick r:id="rId12" invalidUrl="" action="" tgtFrame="" tooltip="" history="1" highlightClick="0" endSnd="0">
                  <a:extLst>
                    <a:ext uri="{A12FA001-AC4F-418D-AE19-62706E023703}">
                      <ahyp:hlinkClr xmlns:ahyp="http://schemas.microsoft.com/office/drawing/2018/hyperlinkcolor" val="tx"/>
                    </a:ext>
                  </a:extLst>
                </a:hlinkClick>
              </a:rPr>
              <a:t>Modal Series C announcement, May 21, 2026</a:t>
            </a:r>
            <a:endParaRPr lang="en-US" sz="1200" dirty="0"/>
          </a:p>
        </p:txBody>
      </p:sp>
      <p:sp>
        <p:nvSpPr>
          <p:cNvPr id="17" name="Text 15"/>
          <p:cNvSpPr/>
          <p:nvPr/>
        </p:nvSpPr>
        <p:spPr>
          <a:xfrm>
            <a:off x="1003300" y="4815433"/>
            <a:ext cx="6409690" cy="223490"/>
          </a:xfrm>
          <a:prstGeom prst="rect">
            <a:avLst/>
          </a:prstGeom>
          <a:noFill/>
          <a:ln/>
        </p:spPr>
        <p:txBody>
          <a:bodyPr wrap="square" lIns="0" tIns="0" rIns="0" bIns="0" rtlCol="0" anchor="t">
            <a:normAutofit/>
          </a:bodyPr>
          <a:lstStyle/>
          <a:p>
            <a:pPr algn="l" indent="0" marL="0">
              <a:lnSpc>
                <a:spcPts val="1560"/>
              </a:lnSpc>
              <a:buNone/>
            </a:pPr>
            <a:r>
              <a:rPr lang="en-US" sz="1200" u="sng" dirty="0">
                <a:solidFill>
                  <a:srgbClr val="18202A"/>
                </a:solidFill>
                <a:latin typeface="IBM Plex Sans" pitchFamily="34" charset="0"/>
                <a:ea typeface="IBM Plex Sans" pitchFamily="34" charset="-122"/>
                <a:cs typeface="IBM Plex Sans" pitchFamily="34" charset="-120"/>
                <a:hlinkClick r:id="rId13" invalidUrl="" action="" tgtFrame="" tooltip="" history="1" highlightClick="0" endSnd="0">
                  <a:extLst>
                    <a:ext uri="{A12FA001-AC4F-418D-AE19-62706E023703}">
                      <ahyp:hlinkClr xmlns:ahyp="http://schemas.microsoft.com/office/drawing/2018/hyperlinkcolor" val="tx"/>
                    </a:ext>
                  </a:extLst>
                </a:hlinkClick>
              </a:rPr>
              <a:t>Latent Space interview with Daytona's CEO, May 2026</a:t>
            </a:r>
            <a:endParaRPr lang="en-US" sz="1200" dirty="0"/>
          </a:p>
        </p:txBody>
      </p:sp>
      <p:sp>
        <p:nvSpPr>
          <p:cNvPr id="18" name="Shape 16"/>
          <p:cNvSpPr/>
          <p:nvPr/>
        </p:nvSpPr>
        <p:spPr>
          <a:xfrm>
            <a:off x="7575550" y="1405880"/>
            <a:ext cx="3797300" cy="3766393"/>
          </a:xfrm>
          <a:prstGeom prst="roundRect">
            <a:avLst>
              <a:gd name="adj" fmla="val 1855"/>
            </a:avLst>
          </a:prstGeom>
          <a:solidFill>
            <a:srgbClr val="FFFFFF"/>
          </a:solidFill>
          <a:ln w="12700">
            <a:solidFill>
              <a:srgbClr val="CDD2D8"/>
            </a:solidFill>
            <a:prstDash val="solid"/>
          </a:ln>
        </p:spPr>
      </p:sp>
      <p:sp>
        <p:nvSpPr>
          <p:cNvPr id="19" name="Text 17"/>
          <p:cNvSpPr/>
          <p:nvPr/>
        </p:nvSpPr>
        <p:spPr>
          <a:xfrm>
            <a:off x="7759700" y="1564630"/>
            <a:ext cx="35318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8202A"/>
                </a:solidFill>
                <a:latin typeface="IBM Plex Sans" pitchFamily="34" charset="0"/>
                <a:ea typeface="IBM Plex Sans" pitchFamily="34" charset="-122"/>
                <a:cs typeface="IBM Plex Sans" pitchFamily="34" charset="-120"/>
              </a:rPr>
              <a:t>Corrected in the fact-check</a:t>
            </a:r>
            <a:endParaRPr lang="en-US" sz="1400" dirty="0"/>
          </a:p>
        </p:txBody>
      </p:sp>
      <p:sp>
        <p:nvSpPr>
          <p:cNvPr id="20" name="Text 18"/>
          <p:cNvSpPr/>
          <p:nvPr/>
        </p:nvSpPr>
        <p:spPr>
          <a:xfrm>
            <a:off x="7759700" y="1841450"/>
            <a:ext cx="353187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Uniphore agreed to buy Autonom8; no close was found</a:t>
            </a:r>
            <a:endParaRPr lang="en-US" sz="1200" dirty="0"/>
          </a:p>
        </p:txBody>
      </p:sp>
      <p:sp>
        <p:nvSpPr>
          <p:cNvPr id="21" name="Text 19"/>
          <p:cNvSpPr/>
          <p:nvPr/>
        </p:nvSpPr>
        <p:spPr>
          <a:xfrm>
            <a:off x="7759700" y="2301131"/>
            <a:ext cx="353187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AA's 70% AI share covers six quarters of new and upsell bookings</a:t>
            </a:r>
            <a:endParaRPr lang="en-US" sz="1200" dirty="0"/>
          </a:p>
        </p:txBody>
      </p:sp>
      <p:sp>
        <p:nvSpPr>
          <p:cNvPr id="22" name="Text 20"/>
          <p:cNvSpPr/>
          <p:nvPr/>
        </p:nvSpPr>
        <p:spPr>
          <a:xfrm>
            <a:off x="7759700" y="2760811"/>
            <a:ext cx="353187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Vercel Sandbox egress is open by default; the firewall is opt-in</a:t>
            </a:r>
            <a:endParaRPr lang="en-US" sz="1200" dirty="0"/>
          </a:p>
        </p:txBody>
      </p:sp>
      <p:sp>
        <p:nvSpPr>
          <p:cNvPr id="23" name="Text 21"/>
          <p:cNvSpPr/>
          <p:nvPr/>
        </p:nvSpPr>
        <p:spPr>
          <a:xfrm>
            <a:off x="7759700" y="3220492"/>
            <a:ext cx="353187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Microsoft's million sandboxes a day is company-wide</a:t>
            </a:r>
            <a:endParaRPr lang="en-US" sz="1200" dirty="0"/>
          </a:p>
        </p:txBody>
      </p:sp>
      <p:sp>
        <p:nvSpPr>
          <p:cNvPr id="24" name="Text 22"/>
          <p:cNvSpPr/>
          <p:nvPr/>
        </p:nvSpPr>
        <p:spPr>
          <a:xfrm>
            <a:off x="7759700" y="3680172"/>
            <a:ext cx="353187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NeMo Gym added E2B in v0.6.0, not v0.5.0</a:t>
            </a:r>
            <a:endParaRPr lang="en-US" sz="1200" dirty="0"/>
          </a:p>
        </p:txBody>
      </p:sp>
      <p:sp>
        <p:nvSpPr>
          <p:cNvPr id="25" name="Text 23"/>
          <p:cNvSpPr/>
          <p:nvPr/>
        </p:nvSpPr>
        <p:spPr>
          <a:xfrm>
            <a:off x="7759700" y="3941763"/>
            <a:ext cx="353187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Baseten's $13B valuation is reported, not announced</a:t>
            </a:r>
            <a:endParaRPr lang="en-US" sz="1200" dirty="0"/>
          </a:p>
        </p:txBody>
      </p:sp>
      <p:sp>
        <p:nvSpPr>
          <p:cNvPr id="26" name="Text 24"/>
          <p:cNvSpPr/>
          <p:nvPr/>
        </p:nvSpPr>
        <p:spPr>
          <a:xfrm>
            <a:off x="7759700" y="4401443"/>
            <a:ext cx="353187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8202A"/>
                </a:solidFill>
                <a:latin typeface="IBM Plex Sans" pitchFamily="34" charset="0"/>
                <a:ea typeface="IBM Plex Sans" pitchFamily="34" charset="-122"/>
                <a:cs typeface="IBM Plex Sans" pitchFamily="34" charset="-120"/>
              </a:rPr>
              <a:t>RFC 0016 names no partner drivers yet</a:t>
            </a:r>
            <a:endParaRPr lang="en-US" sz="1200" dirty="0"/>
          </a:p>
        </p:txBody>
      </p:sp>
      <p:sp>
        <p:nvSpPr>
          <p:cNvPr id="27" name="Text 25"/>
          <p:cNvSpPr/>
          <p:nvPr/>
        </p:nvSpPr>
        <p:spPr>
          <a:xfrm>
            <a:off x="812800" y="5356423"/>
            <a:ext cx="1088339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IBM Plex Sans" pitchFamily="34" charset="0"/>
                <a:ea typeface="IBM Plex Sans" pitchFamily="34" charset="-122"/>
                <a:cs typeface="IBM Plex Sans" pitchFamily="34" charset="-120"/>
              </a:rPr>
              <a:t>The full report carries 289 sources and lists every conflict between them. File: Agent runtimes and OpenShell fit.md</a:t>
            </a:r>
            <a:endParaRPr lang="en-US" sz="1200" dirty="0"/>
          </a:p>
        </p:txBody>
      </p:sp>
      <p:sp>
        <p:nvSpPr>
          <p:cNvPr id="28" name="Text 26"/>
          <p:cNvSpPr/>
          <p:nvPr/>
        </p:nvSpPr>
        <p:spPr>
          <a:xfrm>
            <a:off x="6408420" y="406400"/>
            <a:ext cx="4970780" cy="223490"/>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4B5563"/>
                </a:solidFill>
                <a:latin typeface="IBM Plex Mono" pitchFamily="49" charset="0"/>
                <a:ea typeface="IBM Plex Mono" pitchFamily="49" charset="-122"/>
                <a:cs typeface="IBM Plex Mono" pitchFamily="49" charset="-120"/>
              </a:rPr>
              <a:t>Appendix</a:t>
            </a:r>
            <a:endParaRPr lang="en-US" sz="1200" dirty="0"/>
          </a:p>
        </p:txBody>
      </p:sp>
    </p:spTree>
  </p:cSld>
  <p:clrMapOvr>
    <a:masterClrMapping/>
  </p:clrMapOvr>
</p:sld>
</file>

<file path=ppt/theme/theme1.xml><?xml version="1.0" encoding="utf-8"?>
<a:theme xmlns:a="http://schemas.openxmlformats.org/drawingml/2006/main" name="Agent Runtimes and OpenShell">
  <a:themeElements>
    <a:clrScheme name="Agent Runtimes and OpenShell">
      <a:dk1>
        <a:srgbClr val="18202A"/>
      </a:dk1>
      <a:lt1>
        <a:srgbClr val="FAFAF7"/>
      </a:lt1>
      <a:dk2>
        <a:srgbClr val="51575D"/>
      </a:dk2>
      <a:lt2>
        <a:srgbClr val="E3E4E3"/>
      </a:lt2>
      <a:accent1>
        <a:srgbClr val="4A7A12"/>
      </a:accent1>
      <a:accent2>
        <a:srgbClr val="4B5563"/>
      </a:accent2>
      <a:accent3>
        <a:srgbClr val="B8BFC7"/>
      </a:accent3>
      <a:accent4>
        <a:srgbClr val="6B7480"/>
      </a:accent4>
      <a:accent5>
        <a:srgbClr val="8C96A1"/>
      </a:accent5>
      <a:accent6>
        <a:srgbClr val="9AA0A6"/>
      </a:accent6>
      <a:hlink>
        <a:srgbClr val="0563C1"/>
      </a:hlink>
      <a:folHlink>
        <a:srgbClr val="954F72"/>
      </a:folHlink>
    </a:clrScheme>
    <a:fontScheme name="Agent Runtimes and OpenShell">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Runtimes and OpenShell</dc:title>
  <dc:subject/>
  <dc:creator/>
  <cp:lastModifiedBy/>
  <cp:revision>1</cp:revision>
  <dcterms:created xsi:type="dcterms:W3CDTF">2026-10-02T15:15:10Z</dcterms:created>
  <dcterms:modified xsi:type="dcterms:W3CDTF">2026-10-02T15:15:10Z</dcterms:modified>
</cp:coreProperties>
</file>